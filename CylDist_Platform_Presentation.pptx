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Relationship Id="rId1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c"/>
          <p:cNvSpPr/>
          <p:nvPr/>
        </p:nvSpPr>
        <p:spPr>
          <a:xfrm>
            <a:off x="10515600" y="-1828800"/>
            <a:ext cx="4114800" cy="41148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c"/>
          <p:cNvSpPr/>
          <p:nvPr/>
        </p:nvSpPr>
        <p:spPr>
          <a:xfrm>
            <a:off x="10972800" y="-1371600"/>
            <a:ext cx="2926080" cy="29260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c"/>
          <p:cNvSpPr/>
          <p:nvPr/>
        </p:nvSpPr>
        <p:spPr>
          <a:xfrm>
            <a:off x="-914400" y="5029200"/>
            <a:ext cx="2560320" cy="2560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c"/>
          <p:cNvSpPr/>
          <p:nvPr/>
        </p:nvSpPr>
        <p:spPr>
          <a:xfrm>
            <a:off x="0" y="5486400"/>
            <a:ext cx="1280160" cy="12801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ps"/>
          <p:cNvSpPr/>
          <p:nvPr/>
        </p:nvSpPr>
        <p:spPr>
          <a:xfrm>
            <a:off x="6858000" y="365760"/>
            <a:ext cx="548640" cy="457200"/>
          </a:xfrm>
          <a:prstGeom prst="hexagon">
            <a:avLst/>
          </a:prstGeom>
          <a:solidFill>
            <a:srgbClr val="1A28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ps"/>
          <p:cNvSpPr/>
          <p:nvPr/>
        </p:nvSpPr>
        <p:spPr>
          <a:xfrm>
            <a:off x="7589520" y="822960"/>
            <a:ext cx="548640" cy="457200"/>
          </a:xfrm>
          <a:prstGeom prst="hexagon">
            <a:avLst/>
          </a:prstGeom>
          <a:solidFill>
            <a:srgbClr val="1A28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ps"/>
          <p:cNvSpPr/>
          <p:nvPr/>
        </p:nvSpPr>
        <p:spPr>
          <a:xfrm>
            <a:off x="6858000" y="1280160"/>
            <a:ext cx="548640" cy="457200"/>
          </a:xfrm>
          <a:prstGeom prst="hexagon">
            <a:avLst/>
          </a:prstGeom>
          <a:solidFill>
            <a:srgbClr val="1A28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ps"/>
          <p:cNvSpPr/>
          <p:nvPr/>
        </p:nvSpPr>
        <p:spPr>
          <a:xfrm>
            <a:off x="8321040" y="365760"/>
            <a:ext cx="548640" cy="457200"/>
          </a:xfrm>
          <a:prstGeom prst="hexagon">
            <a:avLst/>
          </a:prstGeom>
          <a:solidFill>
            <a:srgbClr val="1A28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ps"/>
          <p:cNvSpPr/>
          <p:nvPr/>
        </p:nvSpPr>
        <p:spPr>
          <a:xfrm>
            <a:off x="8321040" y="1280160"/>
            <a:ext cx="548640" cy="457200"/>
          </a:xfrm>
          <a:prstGeom prst="hexagon">
            <a:avLst/>
          </a:prstGeom>
          <a:solidFill>
            <a:srgbClr val="1A28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shd"/>
          <p:cNvSpPr/>
          <p:nvPr/>
        </p:nvSpPr>
        <p:spPr>
          <a:xfrm>
            <a:off x="8503920" y="5639280"/>
            <a:ext cx="2194560" cy="60000"/>
          </a:xfrm>
          <a:prstGeom prst="ellipse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ps"/>
          <p:cNvSpPr/>
          <p:nvPr/>
        </p:nvSpPr>
        <p:spPr>
          <a:xfrm>
            <a:off x="8503920" y="2304288"/>
            <a:ext cx="2194560" cy="3108960"/>
          </a:xfrm>
          <a:prstGeom prst="can">
            <a:avLst/>
          </a:prstGeom>
          <a:gradFill flip="none" rotWithShape="1">
            <a:gsLst>
              <a:gs pos="0">
                <a:srgbClr val="F97316"/>
              </a:gs>
              <a:gs pos="100000">
                <a:srgbClr val="C2410C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113" name="ps"/>
          <p:cNvSpPr/>
          <p:nvPr/>
        </p:nvSpPr>
        <p:spPr>
          <a:xfrm>
            <a:off x="9052560" y="2011680"/>
            <a:ext cx="1097280" cy="292608"/>
          </a:xfrm>
          <a:prstGeom prst="can">
            <a:avLst/>
          </a:prstGeom>
          <a:solidFill>
            <a:srgbClr val="5A6680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114" name="ps"/>
          <p:cNvSpPr/>
          <p:nvPr/>
        </p:nvSpPr>
        <p:spPr>
          <a:xfrm>
            <a:off x="9326880" y="1828800"/>
            <a:ext cx="548640" cy="2194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ps"/>
          <p:cNvSpPr/>
          <p:nvPr/>
        </p:nvSpPr>
        <p:spPr>
          <a:xfrm>
            <a:off x="9571200" y="1719072"/>
            <a:ext cx="60000" cy="6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ps"/>
          <p:cNvSpPr/>
          <p:nvPr/>
        </p:nvSpPr>
        <p:spPr>
          <a:xfrm>
            <a:off x="8613648" y="4023360"/>
            <a:ext cx="19751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t"/>
          <p:cNvSpPr txBox="1"/>
          <p:nvPr/>
        </p:nvSpPr>
        <p:spPr>
          <a:xfrm>
            <a:off x="8613648" y="4059936"/>
            <a:ext cx="1975104" cy="438912"/>
          </a:xfrm>
          <a:prstGeom prst="rect">
            <a:avLst/>
          </a:prstGeom>
          <a:noFill/>
        </p:spPr>
        <p:txBody>
          <a:bodyPr wrap="square" anchor="ctr" rtlCol="0"/>
          <a:lstStyle/>
          <a:p>
            <a:pPr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/>
              </a:rPr>
              <a:t>LPG</a:t>
            </a:r>
          </a:p>
        </p:txBody>
      </p:sp>
      <p:sp>
        <p:nvSpPr>
          <p:cNvPr id="118" name="c"/>
          <p:cNvSpPr/>
          <p:nvPr/>
        </p:nvSpPr>
        <p:spPr>
          <a:xfrm>
            <a:off x="7772400" y="2286000"/>
            <a:ext cx="228600" cy="2286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c"/>
          <p:cNvSpPr/>
          <p:nvPr/>
        </p:nvSpPr>
        <p:spPr>
          <a:xfrm>
            <a:off x="7315200" y="3657600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c"/>
          <p:cNvSpPr/>
          <p:nvPr/>
        </p:nvSpPr>
        <p:spPr>
          <a:xfrm>
            <a:off x="8229600" y="548640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c"/>
          <p:cNvSpPr/>
          <p:nvPr/>
        </p:nvSpPr>
        <p:spPr>
          <a:xfrm>
            <a:off x="11430000" y="320040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c"/>
          <p:cNvSpPr/>
          <p:nvPr/>
        </p:nvSpPr>
        <p:spPr>
          <a:xfrm>
            <a:off x="11430000" y="4572000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s"/>
          <p:cNvSpPr/>
          <p:nvPr/>
        </p:nvSpPr>
        <p:spPr>
          <a:xfrm>
            <a:off x="548640" y="4572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BACKEND API  |  v1.0</a:t>
            </a:r>
          </a:p>
        </p:txBody>
      </p:sp>
      <p:sp>
        <p:nvSpPr>
          <p:cNvPr id="124" name="r"/>
          <p:cNvSpPr/>
          <p:nvPr/>
        </p:nvSpPr>
        <p:spPr>
          <a:xfrm>
            <a:off x="548640" y="1188720"/>
            <a:ext cx="73152" cy="2103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t"/>
          <p:cNvSpPr txBox="1"/>
          <p:nvPr/>
        </p:nvSpPr>
        <p:spPr>
          <a:xfrm>
            <a:off x="777240" y="1097280"/>
            <a:ext cx="7315200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/>
              </a:rPr>
              <a:t>CYLINDER</a:t>
            </a:r>
          </a:p>
        </p:txBody>
      </p:sp>
      <p:sp>
        <p:nvSpPr>
          <p:cNvPr id="126" name="t"/>
          <p:cNvSpPr txBox="1"/>
          <p:nvPr/>
        </p:nvSpPr>
        <p:spPr>
          <a:xfrm>
            <a:off x="777240" y="1874519"/>
            <a:ext cx="7315200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6000" b="1" dirty="0">
                <a:solidFill>
                  <a:srgbClr val="F97316"/>
                </a:solidFill>
                <a:latin typeface="Calibri"/>
              </a:rPr>
              <a:t>DISTRIBUTION</a:t>
            </a:r>
          </a:p>
        </p:txBody>
      </p:sp>
      <p:sp>
        <p:nvSpPr>
          <p:cNvPr id="127" name="t"/>
          <p:cNvSpPr txBox="1"/>
          <p:nvPr/>
        </p:nvSpPr>
        <p:spPr>
          <a:xfrm>
            <a:off x="777240" y="2651760"/>
            <a:ext cx="7315200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/>
              </a:rPr>
              <a:t>PLATFORM.</a:t>
            </a:r>
          </a:p>
        </p:txBody>
      </p:sp>
      <p:sp>
        <p:nvSpPr>
          <p:cNvPr id="128" name="r"/>
          <p:cNvSpPr/>
          <p:nvPr/>
        </p:nvSpPr>
        <p:spPr>
          <a:xfrm>
            <a:off x="777240" y="3520440"/>
            <a:ext cx="4114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t"/>
          <p:cNvSpPr txBox="1"/>
          <p:nvPr/>
        </p:nvSpPr>
        <p:spPr>
          <a:xfrm>
            <a:off x="777240" y="3611880"/>
            <a:ext cx="73152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dirty="0">
                <a:solidFill>
                  <a:srgbClr val="94A3B8"/>
                </a:solidFill>
                <a:latin typeface="Calibri"/>
              </a:rPr>
              <a:t>Production-Grade LPG Delivery Backend</a:t>
            </a:r>
          </a:p>
        </p:txBody>
      </p:sp>
      <p:sp>
        <p:nvSpPr>
          <p:cNvPr id="130" name="s"/>
          <p:cNvSpPr/>
          <p:nvPr/>
        </p:nvSpPr>
        <p:spPr>
          <a:xfrm>
            <a:off x="777240" y="4297680"/>
            <a:ext cx="6858000" cy="1828800"/>
          </a:xfrm>
          <a:prstGeom prst="roundRect">
            <a:avLst>
              <a:gd name="adj" fmla="val 8000"/>
            </a:avLst>
          </a:prstGeom>
          <a:solidFill>
            <a:srgbClr val="17264C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t" rtlCol="0" lIns="91440" tIns="91440" rIns="91440" bIns="91440"/>
          <a:lstStyle/>
          <a:p/>
        </p:txBody>
      </p:sp>
      <p:sp>
        <p:nvSpPr>
          <p:cNvPr id="131" name="r"/>
          <p:cNvSpPr/>
          <p:nvPr/>
        </p:nvSpPr>
        <p:spPr>
          <a:xfrm>
            <a:off x="777240" y="4297680"/>
            <a:ext cx="73152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t"/>
          <p:cNvSpPr txBox="1"/>
          <p:nvPr/>
        </p:nvSpPr>
        <p:spPr>
          <a:xfrm>
            <a:off x="1005840" y="4434840"/>
            <a:ext cx="6400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800" b="1" dirty="0">
                <a:solidFill>
                  <a:srgbClr val="FBBF24"/>
                </a:solidFill>
                <a:latin typeface="Calibri"/>
              </a:rPr>
              <a:t>TEAM CYLDIST</a:t>
            </a:r>
          </a:p>
        </p:txBody>
      </p:sp>
      <p:sp>
        <p:nvSpPr>
          <p:cNvPr id="133" name="t"/>
          <p:cNvSpPr txBox="1"/>
          <p:nvPr/>
        </p:nvSpPr>
        <p:spPr>
          <a:xfrm>
            <a:off x="1005840" y="4800600"/>
            <a:ext cx="6400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Department of Computer Engineering</a:t>
            </a:r>
          </a:p>
        </p:txBody>
      </p:sp>
      <p:sp>
        <p:nvSpPr>
          <p:cNvPr id="134" name="t"/>
          <p:cNvSpPr txBox="1"/>
          <p:nvPr/>
        </p:nvSpPr>
        <p:spPr>
          <a:xfrm>
            <a:off x="1005840" y="5212080"/>
            <a:ext cx="320040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Member 1  -  Lead Developer</a:t>
            </a:r>
          </a:p>
        </p:txBody>
      </p:sp>
      <p:sp>
        <p:nvSpPr>
          <p:cNvPr id="135" name="t"/>
          <p:cNvSpPr txBox="1"/>
          <p:nvPr/>
        </p:nvSpPr>
        <p:spPr>
          <a:xfrm>
            <a:off x="1005840" y="5486400"/>
            <a:ext cx="320040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Member 2  -  Backend Engineer</a:t>
            </a:r>
          </a:p>
        </p:txBody>
      </p:sp>
      <p:sp>
        <p:nvSpPr>
          <p:cNvPr id="136" name="t"/>
          <p:cNvSpPr txBox="1"/>
          <p:nvPr/>
        </p:nvSpPr>
        <p:spPr>
          <a:xfrm>
            <a:off x="4206240" y="5212080"/>
            <a:ext cx="320040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Member 3  -  DevOps &amp; DB</a:t>
            </a:r>
          </a:p>
        </p:txBody>
      </p:sp>
      <p:sp>
        <p:nvSpPr>
          <p:cNvPr id="137" name="t"/>
          <p:cNvSpPr txBox="1"/>
          <p:nvPr/>
        </p:nvSpPr>
        <p:spPr>
          <a:xfrm>
            <a:off x="4206240" y="5486400"/>
            <a:ext cx="320040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Member 4  -  Frontend &amp; QA</a:t>
            </a:r>
          </a:p>
        </p:txBody>
      </p:sp>
      <p:sp>
        <p:nvSpPr>
          <p:cNvPr id="138" name="t"/>
          <p:cNvSpPr txBox="1"/>
          <p:nvPr/>
        </p:nvSpPr>
        <p:spPr>
          <a:xfrm>
            <a:off x="1005840" y="5806440"/>
            <a:ext cx="640080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[Your College Name]  |  Academic Year 2025-26</a:t>
            </a:r>
          </a:p>
        </p:txBody>
      </p:sp>
      <p:sp>
        <p:nvSpPr>
          <p:cNvPr id="139" name="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t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01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c"/>
          <p:cNvSpPr/>
          <p:nvPr/>
        </p:nvSpPr>
        <p:spPr>
          <a:xfrm>
            <a:off x="-548640" y="5943600"/>
            <a:ext cx="2011680" cy="20116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c"/>
          <p:cNvSpPr/>
          <p:nvPr/>
        </p:nvSpPr>
        <p:spPr>
          <a:xfrm>
            <a:off x="-731520" y="5760720"/>
            <a:ext cx="1188720" cy="11887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shd"/>
          <p:cNvSpPr/>
          <p:nvPr/>
        </p:nvSpPr>
        <p:spPr>
          <a:xfrm>
            <a:off x="3108960" y="3170400"/>
            <a:ext cx="548640" cy="60000"/>
          </a:xfrm>
          <a:prstGeom prst="ellipse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ps"/>
          <p:cNvSpPr/>
          <p:nvPr/>
        </p:nvSpPr>
        <p:spPr>
          <a:xfrm>
            <a:off x="3108960" y="2022653"/>
            <a:ext cx="548640" cy="1088136"/>
          </a:xfrm>
          <a:prstGeom prst="can">
            <a:avLst/>
          </a:prstGeom>
          <a:gradFill flip="none" rotWithShape="1">
            <a:gsLst>
              <a:gs pos="0">
                <a:srgbClr val="F97316"/>
              </a:gs>
              <a:gs pos="100000">
                <a:srgbClr val="C2410C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148" name="ps"/>
          <p:cNvSpPr/>
          <p:nvPr/>
        </p:nvSpPr>
        <p:spPr>
          <a:xfrm>
            <a:off x="3246120" y="1920240"/>
            <a:ext cx="274320" cy="102412"/>
          </a:xfrm>
          <a:prstGeom prst="can">
            <a:avLst/>
          </a:prstGeom>
          <a:solidFill>
            <a:srgbClr val="5A6680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149" name="ps"/>
          <p:cNvSpPr/>
          <p:nvPr/>
        </p:nvSpPr>
        <p:spPr>
          <a:xfrm>
            <a:off x="3314700" y="1856232"/>
            <a:ext cx="137160" cy="7680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ps"/>
          <p:cNvSpPr/>
          <p:nvPr/>
        </p:nvSpPr>
        <p:spPr>
          <a:xfrm>
            <a:off x="3353280" y="1817828"/>
            <a:ext cx="60000" cy="6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t"/>
          <p:cNvSpPr txBox="1"/>
          <p:nvPr/>
        </p:nvSpPr>
        <p:spPr>
          <a:xfrm>
            <a:off x="457200" y="365760"/>
            <a:ext cx="1828800" cy="1371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7200" b="1" dirty="0">
                <a:solidFill>
                  <a:srgbClr val="F97316"/>
                </a:solidFill>
                <a:latin typeface="Calibri"/>
              </a:rPr>
              <a:t>02</a:t>
            </a:r>
          </a:p>
        </p:txBody>
      </p:sp>
      <p:sp>
        <p:nvSpPr>
          <p:cNvPr id="152" name="r"/>
          <p:cNvSpPr/>
          <p:nvPr/>
        </p:nvSpPr>
        <p:spPr>
          <a:xfrm>
            <a:off x="457200" y="1463040"/>
            <a:ext cx="146304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t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BBF24"/>
                </a:solidFill>
                <a:latin typeface="Calibri"/>
              </a:rPr>
              <a:t>INTRODUCTION</a:t>
            </a:r>
          </a:p>
        </p:txBody>
      </p:sp>
      <p:sp>
        <p:nvSpPr>
          <p:cNvPr id="154" name="t"/>
          <p:cNvSpPr txBox="1"/>
          <p:nvPr/>
        </p:nvSpPr>
        <p:spPr>
          <a:xfrm>
            <a:off x="457200" y="2103120"/>
            <a:ext cx="3657600" cy="6400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Digital LPG</a:t>
            </a:r>
          </a:p>
        </p:txBody>
      </p:sp>
      <p:sp>
        <p:nvSpPr>
          <p:cNvPr id="155" name="t"/>
          <p:cNvSpPr txBox="1"/>
          <p:nvPr/>
        </p:nvSpPr>
        <p:spPr>
          <a:xfrm>
            <a:off x="457200" y="2606040"/>
            <a:ext cx="3657600" cy="6400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Distribution</a:t>
            </a:r>
          </a:p>
        </p:txBody>
      </p:sp>
      <p:sp>
        <p:nvSpPr>
          <p:cNvPr id="156" name="t"/>
          <p:cNvSpPr txBox="1"/>
          <p:nvPr/>
        </p:nvSpPr>
        <p:spPr>
          <a:xfrm>
            <a:off x="457200" y="3108960"/>
            <a:ext cx="3657600" cy="6400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3200" b="1" dirty="0">
                <a:solidFill>
                  <a:srgbClr val="FBBF24"/>
                </a:solidFill>
                <a:latin typeface="Calibri"/>
              </a:rPr>
              <a:t>Reimagined.</a:t>
            </a:r>
          </a:p>
        </p:txBody>
      </p:sp>
      <p:sp>
        <p:nvSpPr>
          <p:cNvPr id="157" name="t"/>
          <p:cNvSpPr txBox="1"/>
          <p:nvPr/>
        </p:nvSpPr>
        <p:spPr>
          <a:xfrm>
            <a:off x="457200" y="3840480"/>
            <a:ext cx="3657600" cy="8229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A production-grade backend that</a:t>
            </a:r>
          </a:p>
          <a:p>
            <a:pPr algn="l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transforms how LPG cylinders are</a:t>
            </a:r>
          </a:p>
          <a:p>
            <a:pPr algn="l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booked, tracked, and delivered.</a:t>
            </a:r>
          </a:p>
        </p:txBody>
      </p:sp>
      <p:sp>
        <p:nvSpPr>
          <p:cNvPr id="158" name="s"/>
          <p:cNvSpPr/>
          <p:nvPr/>
        </p:nvSpPr>
        <p:spPr>
          <a:xfrm>
            <a:off x="457200" y="48463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17264C"/>
          </a:solidFill>
          <a:ln>
            <a:noFill/>
          </a:ln>
        </p:spPr>
        <p:txBody>
          <a:bodyPr wrap="square" anchor="t" rtlCol="0" lIns="91440" tIns="91440" rIns="91440" bIns="91440"/>
          <a:lstStyle/>
          <a:p/>
        </p:txBody>
      </p:sp>
      <p:sp>
        <p:nvSpPr>
          <p:cNvPr id="159" name="t"/>
          <p:cNvSpPr txBox="1"/>
          <p:nvPr/>
        </p:nvSpPr>
        <p:spPr>
          <a:xfrm>
            <a:off x="640080" y="4983480"/>
            <a:ext cx="2743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PROJECT IMPACT</a:t>
            </a:r>
          </a:p>
        </p:txBody>
      </p:sp>
      <p:sp>
        <p:nvSpPr>
          <p:cNvPr id="160" name="t"/>
          <p:cNvSpPr txBox="1"/>
          <p:nvPr/>
        </p:nvSpPr>
        <p:spPr>
          <a:xfrm>
            <a:off x="640080" y="53492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BBF24"/>
                </a:solidFill>
                <a:latin typeface="Calibri"/>
              </a:rPr>
              <a:t>3+</a:t>
            </a:r>
          </a:p>
        </p:txBody>
      </p:sp>
      <p:sp>
        <p:nvSpPr>
          <p:cNvPr id="161" name="t"/>
          <p:cNvSpPr txBox="1"/>
          <p:nvPr/>
        </p:nvSpPr>
        <p:spPr>
          <a:xfrm>
            <a:off x="640080" y="5715000"/>
            <a:ext cx="1371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User Roles</a:t>
            </a:r>
          </a:p>
        </p:txBody>
      </p:sp>
      <p:sp>
        <p:nvSpPr>
          <p:cNvPr id="162" name="t"/>
          <p:cNvSpPr txBox="1"/>
          <p:nvPr/>
        </p:nvSpPr>
        <p:spPr>
          <a:xfrm>
            <a:off x="2103120" y="53492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BBF24"/>
                </a:solidFill>
                <a:latin typeface="Calibri"/>
              </a:rPr>
              <a:t>30+</a:t>
            </a:r>
          </a:p>
        </p:txBody>
      </p:sp>
      <p:sp>
        <p:nvSpPr>
          <p:cNvPr id="163" name="t"/>
          <p:cNvSpPr txBox="1"/>
          <p:nvPr/>
        </p:nvSpPr>
        <p:spPr>
          <a:xfrm>
            <a:off x="2103120" y="5715000"/>
            <a:ext cx="1371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API Endpoints</a:t>
            </a:r>
          </a:p>
        </p:txBody>
      </p:sp>
      <p:sp>
        <p:nvSpPr>
          <p:cNvPr id="164" name="t"/>
          <p:cNvSpPr txBox="1"/>
          <p:nvPr/>
        </p:nvSpPr>
        <p:spPr>
          <a:xfrm>
            <a:off x="640080" y="594360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BBF24"/>
                </a:solidFill>
                <a:latin typeface="Calibri"/>
              </a:rPr>
              <a:t>10+</a:t>
            </a:r>
          </a:p>
        </p:txBody>
      </p:sp>
      <p:sp>
        <p:nvSpPr>
          <p:cNvPr id="165" name="t"/>
          <p:cNvSpPr txBox="1"/>
          <p:nvPr/>
        </p:nvSpPr>
        <p:spPr>
          <a:xfrm>
            <a:off x="640080" y="6309360"/>
            <a:ext cx="1371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Core Features</a:t>
            </a:r>
          </a:p>
        </p:txBody>
      </p:sp>
      <p:sp>
        <p:nvSpPr>
          <p:cNvPr id="166" name="t"/>
          <p:cNvSpPr txBox="1"/>
          <p:nvPr/>
        </p:nvSpPr>
        <p:spPr>
          <a:xfrm>
            <a:off x="2103120" y="594360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BBF24"/>
                </a:solidFill>
                <a:latin typeface="Calibri"/>
              </a:rPr>
              <a:t>2</a:t>
            </a:r>
          </a:p>
        </p:txBody>
      </p:sp>
      <p:sp>
        <p:nvSpPr>
          <p:cNvPr id="167" name="t"/>
          <p:cNvSpPr txBox="1"/>
          <p:nvPr/>
        </p:nvSpPr>
        <p:spPr>
          <a:xfrm>
            <a:off x="2103120" y="6309360"/>
            <a:ext cx="1371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Databases</a:t>
            </a:r>
          </a:p>
        </p:txBody>
      </p:sp>
      <p:sp>
        <p:nvSpPr>
          <p:cNvPr id="168" name="t"/>
          <p:cNvSpPr txBox="1"/>
          <p:nvPr/>
        </p:nvSpPr>
        <p:spPr>
          <a:xfrm>
            <a:off x="4572000" y="502920"/>
            <a:ext cx="6400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97316"/>
                </a:solidFill>
                <a:latin typeface="Calibri"/>
              </a:rPr>
              <a:t>KEY OBJECTIVES</a:t>
            </a:r>
          </a:p>
        </p:txBody>
      </p:sp>
      <p:sp>
        <p:nvSpPr>
          <p:cNvPr id="169" name="r"/>
          <p:cNvSpPr/>
          <p:nvPr/>
        </p:nvSpPr>
        <p:spPr>
          <a:xfrm>
            <a:off x="4572000" y="868680"/>
            <a:ext cx="731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t"/>
          <p:cNvSpPr txBox="1"/>
          <p:nvPr/>
        </p:nvSpPr>
        <p:spPr>
          <a:xfrm>
            <a:off x="4572000" y="1005840"/>
            <a:ext cx="6400800" cy="6400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800" b="1" dirty="0">
                <a:solidFill>
                  <a:srgbClr val="0B1739"/>
                </a:solidFill>
                <a:latin typeface="Calibri"/>
              </a:rPr>
              <a:t>Goals &amp; Mission</a:t>
            </a:r>
          </a:p>
        </p:txBody>
      </p:sp>
      <p:sp>
        <p:nvSpPr>
          <p:cNvPr id="171" name="s"/>
          <p:cNvSpPr/>
          <p:nvPr/>
        </p:nvSpPr>
        <p:spPr>
          <a:xfrm>
            <a:off x="4572000" y="1920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172" name="r"/>
          <p:cNvSpPr/>
          <p:nvPr/>
        </p:nvSpPr>
        <p:spPr>
          <a:xfrm>
            <a:off x="4572000" y="1920240"/>
            <a:ext cx="32004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c"/>
          <p:cNvSpPr/>
          <p:nvPr/>
        </p:nvSpPr>
        <p:spPr>
          <a:xfrm>
            <a:off x="4754880" y="22860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t"/>
          <p:cNvSpPr txBox="1"/>
          <p:nvPr/>
        </p:nvSpPr>
        <p:spPr>
          <a:xfrm>
            <a:off x="4754880" y="2377440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5" name="t"/>
          <p:cNvSpPr txBox="1"/>
          <p:nvPr/>
        </p:nvSpPr>
        <p:spPr>
          <a:xfrm>
            <a:off x="5349240" y="2331720"/>
            <a:ext cx="2286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0B1739"/>
                </a:solidFill>
                <a:latin typeface="Calibri"/>
              </a:rPr>
              <a:t>DIGITIZE</a:t>
            </a:r>
          </a:p>
        </p:txBody>
      </p:sp>
      <p:sp>
        <p:nvSpPr>
          <p:cNvPr id="176" name="r"/>
          <p:cNvSpPr/>
          <p:nvPr/>
        </p:nvSpPr>
        <p:spPr>
          <a:xfrm>
            <a:off x="5349240" y="2697480"/>
            <a:ext cx="457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t"/>
          <p:cNvSpPr txBox="1"/>
          <p:nvPr/>
        </p:nvSpPr>
        <p:spPr>
          <a:xfrm>
            <a:off x="4800600" y="2880360"/>
            <a:ext cx="29260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Replace manual booking</a:t>
            </a:r>
          </a:p>
        </p:txBody>
      </p:sp>
      <p:sp>
        <p:nvSpPr>
          <p:cNvPr id="178" name="t"/>
          <p:cNvSpPr txBox="1"/>
          <p:nvPr/>
        </p:nvSpPr>
        <p:spPr>
          <a:xfrm>
            <a:off x="4800600" y="3154680"/>
            <a:ext cx="29260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with online + WhatsApp</a:t>
            </a:r>
          </a:p>
        </p:txBody>
      </p:sp>
      <p:sp>
        <p:nvSpPr>
          <p:cNvPr id="179" name="s"/>
          <p:cNvSpPr/>
          <p:nvPr/>
        </p:nvSpPr>
        <p:spPr>
          <a:xfrm>
            <a:off x="7955280" y="1920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180" name="r"/>
          <p:cNvSpPr/>
          <p:nvPr/>
        </p:nvSpPr>
        <p:spPr>
          <a:xfrm>
            <a:off x="7955280" y="192024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c"/>
          <p:cNvSpPr/>
          <p:nvPr/>
        </p:nvSpPr>
        <p:spPr>
          <a:xfrm>
            <a:off x="8138160" y="22860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t"/>
          <p:cNvSpPr txBox="1"/>
          <p:nvPr/>
        </p:nvSpPr>
        <p:spPr>
          <a:xfrm>
            <a:off x="8138160" y="2377440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3" name="t"/>
          <p:cNvSpPr txBox="1"/>
          <p:nvPr/>
        </p:nvSpPr>
        <p:spPr>
          <a:xfrm>
            <a:off x="8732520" y="2331720"/>
            <a:ext cx="2286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0B1739"/>
                </a:solidFill>
                <a:latin typeface="Calibri"/>
              </a:rPr>
              <a:t>TRACK</a:t>
            </a:r>
          </a:p>
        </p:txBody>
      </p:sp>
      <p:sp>
        <p:nvSpPr>
          <p:cNvPr id="184" name="r"/>
          <p:cNvSpPr/>
          <p:nvPr/>
        </p:nvSpPr>
        <p:spPr>
          <a:xfrm>
            <a:off x="8732520" y="2697480"/>
            <a:ext cx="4572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t"/>
          <p:cNvSpPr txBox="1"/>
          <p:nvPr/>
        </p:nvSpPr>
        <p:spPr>
          <a:xfrm>
            <a:off x="8183880" y="2880360"/>
            <a:ext cx="29260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Real-time GPS tracking</a:t>
            </a:r>
          </a:p>
        </p:txBody>
      </p:sp>
      <p:sp>
        <p:nvSpPr>
          <p:cNvPr id="186" name="t"/>
          <p:cNvSpPr txBox="1"/>
          <p:nvPr/>
        </p:nvSpPr>
        <p:spPr>
          <a:xfrm>
            <a:off x="8183880" y="3154680"/>
            <a:ext cx="29260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&amp; live customer chat</a:t>
            </a:r>
          </a:p>
        </p:txBody>
      </p:sp>
      <p:sp>
        <p:nvSpPr>
          <p:cNvPr id="187" name="s"/>
          <p:cNvSpPr/>
          <p:nvPr/>
        </p:nvSpPr>
        <p:spPr>
          <a:xfrm>
            <a:off x="4572000" y="37490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188" name="r"/>
          <p:cNvSpPr/>
          <p:nvPr/>
        </p:nvSpPr>
        <p:spPr>
          <a:xfrm>
            <a:off x="4572000" y="374904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c"/>
          <p:cNvSpPr/>
          <p:nvPr/>
        </p:nvSpPr>
        <p:spPr>
          <a:xfrm>
            <a:off x="4754880" y="41148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t"/>
          <p:cNvSpPr txBox="1"/>
          <p:nvPr/>
        </p:nvSpPr>
        <p:spPr>
          <a:xfrm>
            <a:off x="4754880" y="4206240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1" name="t"/>
          <p:cNvSpPr txBox="1"/>
          <p:nvPr/>
        </p:nvSpPr>
        <p:spPr>
          <a:xfrm>
            <a:off x="5349240" y="4160520"/>
            <a:ext cx="2286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0B1739"/>
                </a:solidFill>
                <a:latin typeface="Calibri"/>
              </a:rPr>
              <a:t>SECURE</a:t>
            </a:r>
          </a:p>
        </p:txBody>
      </p:sp>
      <p:sp>
        <p:nvSpPr>
          <p:cNvPr id="192" name="r"/>
          <p:cNvSpPr/>
          <p:nvPr/>
        </p:nvSpPr>
        <p:spPr>
          <a:xfrm>
            <a:off x="5349240" y="4526280"/>
            <a:ext cx="457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t"/>
          <p:cNvSpPr txBox="1"/>
          <p:nvPr/>
        </p:nvSpPr>
        <p:spPr>
          <a:xfrm>
            <a:off x="4800600" y="4709160"/>
            <a:ext cx="29260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JWT + RBAC + bcrypt</a:t>
            </a:r>
          </a:p>
        </p:txBody>
      </p:sp>
      <p:sp>
        <p:nvSpPr>
          <p:cNvPr id="194" name="t"/>
          <p:cNvSpPr txBox="1"/>
          <p:nvPr/>
        </p:nvSpPr>
        <p:spPr>
          <a:xfrm>
            <a:off x="4800600" y="4983480"/>
            <a:ext cx="29260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production security</a:t>
            </a:r>
          </a:p>
        </p:txBody>
      </p:sp>
      <p:sp>
        <p:nvSpPr>
          <p:cNvPr id="195" name="s"/>
          <p:cNvSpPr/>
          <p:nvPr/>
        </p:nvSpPr>
        <p:spPr>
          <a:xfrm>
            <a:off x="7955280" y="37490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196" name="r"/>
          <p:cNvSpPr/>
          <p:nvPr/>
        </p:nvSpPr>
        <p:spPr>
          <a:xfrm>
            <a:off x="7955280" y="374904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c"/>
          <p:cNvSpPr/>
          <p:nvPr/>
        </p:nvSpPr>
        <p:spPr>
          <a:xfrm>
            <a:off x="8138160" y="41148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t"/>
          <p:cNvSpPr txBox="1"/>
          <p:nvPr/>
        </p:nvSpPr>
        <p:spPr>
          <a:xfrm>
            <a:off x="8138160" y="4206240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9" name="t"/>
          <p:cNvSpPr txBox="1"/>
          <p:nvPr/>
        </p:nvSpPr>
        <p:spPr>
          <a:xfrm>
            <a:off x="8732520" y="4160520"/>
            <a:ext cx="2286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0B1739"/>
                </a:solidFill>
                <a:latin typeface="Calibri"/>
              </a:rPr>
              <a:t>SCALE</a:t>
            </a:r>
          </a:p>
        </p:txBody>
      </p:sp>
      <p:sp>
        <p:nvSpPr>
          <p:cNvPr id="200" name="r"/>
          <p:cNvSpPr/>
          <p:nvPr/>
        </p:nvSpPr>
        <p:spPr>
          <a:xfrm>
            <a:off x="8732520" y="4526280"/>
            <a:ext cx="457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t"/>
          <p:cNvSpPr txBox="1"/>
          <p:nvPr/>
        </p:nvSpPr>
        <p:spPr>
          <a:xfrm>
            <a:off x="8183880" y="4709160"/>
            <a:ext cx="29260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Docker + Kubernetes</a:t>
            </a:r>
          </a:p>
        </p:txBody>
      </p:sp>
      <p:sp>
        <p:nvSpPr>
          <p:cNvPr id="202" name="t"/>
          <p:cNvSpPr txBox="1"/>
          <p:nvPr/>
        </p:nvSpPr>
        <p:spPr>
          <a:xfrm>
            <a:off x="8183880" y="4983480"/>
            <a:ext cx="29260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ready deployment</a:t>
            </a:r>
          </a:p>
        </p:txBody>
      </p:sp>
      <p:sp>
        <p:nvSpPr>
          <p:cNvPr id="203" name="s"/>
          <p:cNvSpPr/>
          <p:nvPr/>
        </p:nvSpPr>
        <p:spPr>
          <a:xfrm>
            <a:off x="4572000" y="5532120"/>
            <a:ext cx="6858000" cy="96012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204" name="r"/>
          <p:cNvSpPr/>
          <p:nvPr/>
        </p:nvSpPr>
        <p:spPr>
          <a:xfrm>
            <a:off x="4572000" y="5532120"/>
            <a:ext cx="68580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c"/>
          <p:cNvSpPr/>
          <p:nvPr/>
        </p:nvSpPr>
        <p:spPr>
          <a:xfrm>
            <a:off x="4709160" y="57607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t"/>
          <p:cNvSpPr txBox="1"/>
          <p:nvPr/>
        </p:nvSpPr>
        <p:spPr>
          <a:xfrm>
            <a:off x="4709160" y="585216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207" name="t"/>
          <p:cNvSpPr txBox="1"/>
          <p:nvPr/>
        </p:nvSpPr>
        <p:spPr>
          <a:xfrm>
            <a:off x="5349240" y="5696712"/>
            <a:ext cx="4572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CRISIS ENGINE</a:t>
            </a:r>
          </a:p>
        </p:txBody>
      </p:sp>
      <p:sp>
        <p:nvSpPr>
          <p:cNvPr id="208" name="t"/>
          <p:cNvSpPr txBox="1"/>
          <p:nvPr/>
        </p:nvSpPr>
        <p:spPr>
          <a:xfrm>
            <a:off x="5349240" y="5989320"/>
            <a:ext cx="5943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D0D0"/>
                </a:solidFill>
                <a:latin typeface="Calibri"/>
              </a:rPr>
              <a:t>Emergency-aware allocation w/ Priority Score formula  |  Heuristic Engine</a:t>
            </a:r>
          </a:p>
        </p:txBody>
      </p:sp>
      <p:sp>
        <p:nvSpPr>
          <p:cNvPr id="209" name="s"/>
          <p:cNvSpPr/>
          <p:nvPr/>
        </p:nvSpPr>
        <p:spPr>
          <a:xfrm>
            <a:off x="5349240" y="6245352"/>
            <a:ext cx="1371600" cy="201168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BBF24"/>
                </a:solidFill>
                <a:latin typeface="Calibri"/>
              </a:rPr>
              <a:t>HOSPITAL +150</a:t>
            </a:r>
          </a:p>
        </p:txBody>
      </p:sp>
      <p:sp>
        <p:nvSpPr>
          <p:cNvPr id="210" name="s"/>
          <p:cNvSpPr/>
          <p:nvPr/>
        </p:nvSpPr>
        <p:spPr>
          <a:xfrm>
            <a:off x="6812280" y="6245352"/>
            <a:ext cx="1371600" cy="201168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FE5E5"/>
                </a:solidFill>
                <a:latin typeface="Calibri"/>
              </a:rPr>
              <a:t>DOMESTIC +75</a:t>
            </a:r>
          </a:p>
        </p:txBody>
      </p:sp>
      <p:sp>
        <p:nvSpPr>
          <p:cNvPr id="211" name="s"/>
          <p:cNvSpPr/>
          <p:nvPr/>
        </p:nvSpPr>
        <p:spPr>
          <a:xfrm>
            <a:off x="8275320" y="6245352"/>
            <a:ext cx="1371600" cy="201168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FE5E5"/>
                </a:solidFill>
                <a:latin typeface="Calibri"/>
              </a:rPr>
              <a:t>HOTEL 70% cap</a:t>
            </a:r>
          </a:p>
        </p:txBody>
      </p:sp>
      <p:sp>
        <p:nvSpPr>
          <p:cNvPr id="212" name="s"/>
          <p:cNvSpPr/>
          <p:nvPr/>
        </p:nvSpPr>
        <p:spPr>
          <a:xfrm>
            <a:off x="9738360" y="6245352"/>
            <a:ext cx="1371600" cy="201168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FE5E5"/>
                </a:solidFill>
                <a:latin typeface="Calibri"/>
              </a:rPr>
              <a:t>HOARDING -200</a:t>
            </a:r>
          </a:p>
        </p:txBody>
      </p:sp>
      <p:sp>
        <p:nvSpPr>
          <p:cNvPr id="213" name="t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02</a:t>
            </a:r>
          </a:p>
        </p:txBody>
      </p:sp>
    </p:spTree>
  </p:cSld>
  <p:transition spd="med">
    <p:push dir="l"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"/>
          <p:cNvSpPr/>
          <p:nvPr/>
        </p:nvSpPr>
        <p:spPr>
          <a:xfrm>
            <a:off x="0" y="1371600"/>
            <a:ext cx="12192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t"/>
          <p:cNvSpPr txBox="1"/>
          <p:nvPr/>
        </p:nvSpPr>
        <p:spPr>
          <a:xfrm>
            <a:off x="457200" y="274320"/>
            <a:ext cx="1828800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6400" b="1" dirty="0">
                <a:solidFill>
                  <a:srgbClr val="F97316"/>
                </a:solidFill>
                <a:latin typeface="Calibri"/>
              </a:rPr>
              <a:t>03</a:t>
            </a:r>
          </a:p>
        </p:txBody>
      </p:sp>
      <p:sp>
        <p:nvSpPr>
          <p:cNvPr id="218" name="t"/>
          <p:cNvSpPr txBox="1"/>
          <p:nvPr/>
        </p:nvSpPr>
        <p:spPr>
          <a:xfrm>
            <a:off x="1691640" y="365760"/>
            <a:ext cx="7315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BBF24"/>
                </a:solidFill>
                <a:latin typeface="Calibri"/>
              </a:rPr>
              <a:t>THE CHALLENGE</a:t>
            </a:r>
          </a:p>
        </p:txBody>
      </p:sp>
      <p:sp>
        <p:nvSpPr>
          <p:cNvPr id="219" name="t"/>
          <p:cNvSpPr txBox="1"/>
          <p:nvPr/>
        </p:nvSpPr>
        <p:spPr>
          <a:xfrm>
            <a:off x="1691640" y="777240"/>
            <a:ext cx="914400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Problem  vs  Solution</a:t>
            </a:r>
          </a:p>
        </p:txBody>
      </p:sp>
      <p:sp>
        <p:nvSpPr>
          <p:cNvPr id="220" name="s"/>
          <p:cNvSpPr/>
          <p:nvPr/>
        </p:nvSpPr>
        <p:spPr>
          <a:xfrm>
            <a:off x="457200" y="1691640"/>
            <a:ext cx="5029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221" name="r"/>
          <p:cNvSpPr/>
          <p:nvPr/>
        </p:nvSpPr>
        <p:spPr>
          <a:xfrm>
            <a:off x="457200" y="169164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"/>
          <p:cNvSpPr/>
          <p:nvPr/>
        </p:nvSpPr>
        <p:spPr>
          <a:xfrm>
            <a:off x="457200" y="2194560"/>
            <a:ext cx="502920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c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t"/>
          <p:cNvSpPr txBox="1"/>
          <p:nvPr/>
        </p:nvSpPr>
        <p:spPr>
          <a:xfrm>
            <a:off x="640080" y="1874519"/>
            <a:ext cx="50292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/>
              </a:rPr>
              <a:t>X</a:t>
            </a:r>
          </a:p>
        </p:txBody>
      </p:sp>
      <p:sp>
        <p:nvSpPr>
          <p:cNvPr id="225" name="t"/>
          <p:cNvSpPr txBox="1"/>
          <p:nvPr/>
        </p:nvSpPr>
        <p:spPr>
          <a:xfrm>
            <a:off x="1280160" y="1828800"/>
            <a:ext cx="3657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TRADITIONAL SYSTEM</a:t>
            </a:r>
          </a:p>
        </p:txBody>
      </p:sp>
      <p:sp>
        <p:nvSpPr>
          <p:cNvPr id="226" name="t"/>
          <p:cNvSpPr txBox="1"/>
          <p:nvPr/>
        </p:nvSpPr>
        <p:spPr>
          <a:xfrm>
            <a:off x="1280160" y="2148840"/>
            <a:ext cx="3657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D0D0"/>
                </a:solidFill>
                <a:latin typeface="Calibri"/>
              </a:rPr>
              <a:t>Outdated  -  Manual  -  Inefficient</a:t>
            </a:r>
          </a:p>
        </p:txBody>
      </p:sp>
      <p:sp>
        <p:nvSpPr>
          <p:cNvPr id="227" name="c"/>
          <p:cNvSpPr/>
          <p:nvPr/>
        </p:nvSpPr>
        <p:spPr>
          <a:xfrm>
            <a:off x="777240" y="278892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t"/>
          <p:cNvSpPr txBox="1"/>
          <p:nvPr/>
        </p:nvSpPr>
        <p:spPr>
          <a:xfrm>
            <a:off x="777240" y="28072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29" name="t"/>
          <p:cNvSpPr txBox="1"/>
          <p:nvPr/>
        </p:nvSpPr>
        <p:spPr>
          <a:xfrm>
            <a:off x="1097280" y="27432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Manual booking via phone calls</a:t>
            </a:r>
          </a:p>
        </p:txBody>
      </p:sp>
      <p:sp>
        <p:nvSpPr>
          <p:cNvPr id="230" name="c"/>
          <p:cNvSpPr/>
          <p:nvPr/>
        </p:nvSpPr>
        <p:spPr>
          <a:xfrm>
            <a:off x="777240" y="324612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t"/>
          <p:cNvSpPr txBox="1"/>
          <p:nvPr/>
        </p:nvSpPr>
        <p:spPr>
          <a:xfrm>
            <a:off x="777240" y="32644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32" name="t"/>
          <p:cNvSpPr txBox="1"/>
          <p:nvPr/>
        </p:nvSpPr>
        <p:spPr>
          <a:xfrm>
            <a:off x="1097280" y="32004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No real-time delivery tracking</a:t>
            </a:r>
          </a:p>
        </p:txBody>
      </p:sp>
      <p:sp>
        <p:nvSpPr>
          <p:cNvPr id="233" name="c"/>
          <p:cNvSpPr/>
          <p:nvPr/>
        </p:nvSpPr>
        <p:spPr>
          <a:xfrm>
            <a:off x="777240" y="370332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t"/>
          <p:cNvSpPr txBox="1"/>
          <p:nvPr/>
        </p:nvSpPr>
        <p:spPr>
          <a:xfrm>
            <a:off x="777240" y="37216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35" name="t"/>
          <p:cNvSpPr txBox="1"/>
          <p:nvPr/>
        </p:nvSpPr>
        <p:spPr>
          <a:xfrm>
            <a:off x="1097280" y="36576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Opaque inventory management</a:t>
            </a:r>
          </a:p>
        </p:txBody>
      </p:sp>
      <p:sp>
        <p:nvSpPr>
          <p:cNvPr id="236" name="c"/>
          <p:cNvSpPr/>
          <p:nvPr/>
        </p:nvSpPr>
        <p:spPr>
          <a:xfrm>
            <a:off x="777240" y="416052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t"/>
          <p:cNvSpPr txBox="1"/>
          <p:nvPr/>
        </p:nvSpPr>
        <p:spPr>
          <a:xfrm>
            <a:off x="777240" y="41788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38" name="t"/>
          <p:cNvSpPr txBox="1"/>
          <p:nvPr/>
        </p:nvSpPr>
        <p:spPr>
          <a:xfrm>
            <a:off x="1097280" y="41148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Zero priority for emergencies</a:t>
            </a:r>
          </a:p>
        </p:txBody>
      </p:sp>
      <p:sp>
        <p:nvSpPr>
          <p:cNvPr id="239" name="c"/>
          <p:cNvSpPr/>
          <p:nvPr/>
        </p:nvSpPr>
        <p:spPr>
          <a:xfrm>
            <a:off x="777240" y="461772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t"/>
          <p:cNvSpPr txBox="1"/>
          <p:nvPr/>
        </p:nvSpPr>
        <p:spPr>
          <a:xfrm>
            <a:off x="777240" y="46360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41" name="t"/>
          <p:cNvSpPr txBox="1"/>
          <p:nvPr/>
        </p:nvSpPr>
        <p:spPr>
          <a:xfrm>
            <a:off x="1097280" y="45720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Paper-based record keeping</a:t>
            </a:r>
          </a:p>
        </p:txBody>
      </p:sp>
      <p:sp>
        <p:nvSpPr>
          <p:cNvPr id="242" name="c"/>
          <p:cNvSpPr/>
          <p:nvPr/>
        </p:nvSpPr>
        <p:spPr>
          <a:xfrm>
            <a:off x="777240" y="507492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t"/>
          <p:cNvSpPr txBox="1"/>
          <p:nvPr/>
        </p:nvSpPr>
        <p:spPr>
          <a:xfrm>
            <a:off x="777240" y="50932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44" name="t"/>
          <p:cNvSpPr txBox="1"/>
          <p:nvPr/>
        </p:nvSpPr>
        <p:spPr>
          <a:xfrm>
            <a:off x="1097280" y="50292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No customer communication</a:t>
            </a:r>
          </a:p>
        </p:txBody>
      </p:sp>
      <p:sp>
        <p:nvSpPr>
          <p:cNvPr id="245" name="c"/>
          <p:cNvSpPr/>
          <p:nvPr/>
        </p:nvSpPr>
        <p:spPr>
          <a:xfrm>
            <a:off x="777240" y="553212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t"/>
          <p:cNvSpPr txBox="1"/>
          <p:nvPr/>
        </p:nvSpPr>
        <p:spPr>
          <a:xfrm>
            <a:off x="777240" y="55504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47" name="t"/>
          <p:cNvSpPr txBox="1"/>
          <p:nvPr/>
        </p:nvSpPr>
        <p:spPr>
          <a:xfrm>
            <a:off x="1097280" y="54864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Inefficient route planning</a:t>
            </a:r>
          </a:p>
        </p:txBody>
      </p:sp>
      <p:sp>
        <p:nvSpPr>
          <p:cNvPr id="248" name="c"/>
          <p:cNvSpPr/>
          <p:nvPr/>
        </p:nvSpPr>
        <p:spPr>
          <a:xfrm>
            <a:off x="5577840" y="3657600"/>
            <a:ext cx="640080" cy="640080"/>
          </a:xfrm>
          <a:prstGeom prst="ellipse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a"/>
          <p:cNvSpPr/>
          <p:nvPr/>
        </p:nvSpPr>
        <p:spPr>
          <a:xfrm>
            <a:off x="5669280" y="3840480"/>
            <a:ext cx="45720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s"/>
          <p:cNvSpPr/>
          <p:nvPr/>
        </p:nvSpPr>
        <p:spPr>
          <a:xfrm>
            <a:off x="6400800" y="1691640"/>
            <a:ext cx="5029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251" name="r"/>
          <p:cNvSpPr/>
          <p:nvPr/>
        </p:nvSpPr>
        <p:spPr>
          <a:xfrm>
            <a:off x="6400800" y="169164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r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c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t"/>
          <p:cNvSpPr txBox="1"/>
          <p:nvPr/>
        </p:nvSpPr>
        <p:spPr>
          <a:xfrm>
            <a:off x="6583680" y="1874519"/>
            <a:ext cx="50292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/>
              </a:rPr>
              <a:t>v</a:t>
            </a:r>
          </a:p>
        </p:txBody>
      </p:sp>
      <p:sp>
        <p:nvSpPr>
          <p:cNvPr id="255" name="t"/>
          <p:cNvSpPr txBox="1"/>
          <p:nvPr/>
        </p:nvSpPr>
        <p:spPr>
          <a:xfrm>
            <a:off x="7223760" y="18288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OUR DIGITAL SOLUTION</a:t>
            </a:r>
          </a:p>
        </p:txBody>
      </p:sp>
      <p:sp>
        <p:nvSpPr>
          <p:cNvPr id="256" name="t"/>
          <p:cNvSpPr txBox="1"/>
          <p:nvPr/>
        </p:nvSpPr>
        <p:spPr>
          <a:xfrm>
            <a:off x="7223760" y="2148840"/>
            <a:ext cx="41148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D0FFD0"/>
                </a:solidFill>
                <a:latin typeface="Calibri"/>
              </a:rPr>
              <a:t>Modern  -  Automated  -  Scalable</a:t>
            </a:r>
          </a:p>
        </p:txBody>
      </p:sp>
      <p:sp>
        <p:nvSpPr>
          <p:cNvPr id="257" name="c"/>
          <p:cNvSpPr/>
          <p:nvPr/>
        </p:nvSpPr>
        <p:spPr>
          <a:xfrm>
            <a:off x="6720840" y="27889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" name="t"/>
          <p:cNvSpPr txBox="1"/>
          <p:nvPr/>
        </p:nvSpPr>
        <p:spPr>
          <a:xfrm>
            <a:off x="6720840" y="28072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59" name="t"/>
          <p:cNvSpPr txBox="1"/>
          <p:nvPr/>
        </p:nvSpPr>
        <p:spPr>
          <a:xfrm>
            <a:off x="7040880" y="27432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Online + WhatsApp booking</a:t>
            </a:r>
          </a:p>
        </p:txBody>
      </p:sp>
      <p:sp>
        <p:nvSpPr>
          <p:cNvPr id="260" name="c"/>
          <p:cNvSpPr/>
          <p:nvPr/>
        </p:nvSpPr>
        <p:spPr>
          <a:xfrm>
            <a:off x="6720840" y="32461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t"/>
          <p:cNvSpPr txBox="1"/>
          <p:nvPr/>
        </p:nvSpPr>
        <p:spPr>
          <a:xfrm>
            <a:off x="6720840" y="32644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62" name="t"/>
          <p:cNvSpPr txBox="1"/>
          <p:nvPr/>
        </p:nvSpPr>
        <p:spPr>
          <a:xfrm>
            <a:off x="7040880" y="32004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Live GPS delivery tracking</a:t>
            </a:r>
          </a:p>
        </p:txBody>
      </p:sp>
      <p:sp>
        <p:nvSpPr>
          <p:cNvPr id="263" name="c"/>
          <p:cNvSpPr/>
          <p:nvPr/>
        </p:nvSpPr>
        <p:spPr>
          <a:xfrm>
            <a:off x="6720840" y="37033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4" name="t"/>
          <p:cNvSpPr txBox="1"/>
          <p:nvPr/>
        </p:nvSpPr>
        <p:spPr>
          <a:xfrm>
            <a:off x="6720840" y="37216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65" name="t"/>
          <p:cNvSpPr txBox="1"/>
          <p:nvPr/>
        </p:nvSpPr>
        <p:spPr>
          <a:xfrm>
            <a:off x="7040880" y="36576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Automated inventory engine</a:t>
            </a:r>
          </a:p>
        </p:txBody>
      </p:sp>
      <p:sp>
        <p:nvSpPr>
          <p:cNvPr id="266" name="c"/>
          <p:cNvSpPr/>
          <p:nvPr/>
        </p:nvSpPr>
        <p:spPr>
          <a:xfrm>
            <a:off x="6720840" y="41605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7" name="t"/>
          <p:cNvSpPr txBox="1"/>
          <p:nvPr/>
        </p:nvSpPr>
        <p:spPr>
          <a:xfrm>
            <a:off x="6720840" y="41788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68" name="t"/>
          <p:cNvSpPr txBox="1"/>
          <p:nvPr/>
        </p:nvSpPr>
        <p:spPr>
          <a:xfrm>
            <a:off x="7040880" y="41148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Crisis prioritization system</a:t>
            </a:r>
          </a:p>
        </p:txBody>
      </p:sp>
      <p:sp>
        <p:nvSpPr>
          <p:cNvPr id="269" name="c"/>
          <p:cNvSpPr/>
          <p:nvPr/>
        </p:nvSpPr>
        <p:spPr>
          <a:xfrm>
            <a:off x="6720840" y="46177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0" name="t"/>
          <p:cNvSpPr txBox="1"/>
          <p:nvPr/>
        </p:nvSpPr>
        <p:spPr>
          <a:xfrm>
            <a:off x="6720840" y="46360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71" name="t"/>
          <p:cNvSpPr txBox="1"/>
          <p:nvPr/>
        </p:nvSpPr>
        <p:spPr>
          <a:xfrm>
            <a:off x="7040880" y="45720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Digital order management</a:t>
            </a:r>
          </a:p>
        </p:txBody>
      </p:sp>
      <p:sp>
        <p:nvSpPr>
          <p:cNvPr id="272" name="c"/>
          <p:cNvSpPr/>
          <p:nvPr/>
        </p:nvSpPr>
        <p:spPr>
          <a:xfrm>
            <a:off x="6720840" y="50749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3" name="t"/>
          <p:cNvSpPr txBox="1"/>
          <p:nvPr/>
        </p:nvSpPr>
        <p:spPr>
          <a:xfrm>
            <a:off x="6720840" y="50932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74" name="t"/>
          <p:cNvSpPr txBox="1"/>
          <p:nvPr/>
        </p:nvSpPr>
        <p:spPr>
          <a:xfrm>
            <a:off x="7040880" y="50292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Real-time agent-customer chat</a:t>
            </a:r>
          </a:p>
        </p:txBody>
      </p:sp>
      <p:sp>
        <p:nvSpPr>
          <p:cNvPr id="275" name="c"/>
          <p:cNvSpPr/>
          <p:nvPr/>
        </p:nvSpPr>
        <p:spPr>
          <a:xfrm>
            <a:off x="6720840" y="55321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6" name="t"/>
          <p:cNvSpPr txBox="1"/>
          <p:nvPr/>
        </p:nvSpPr>
        <p:spPr>
          <a:xfrm>
            <a:off x="6720840" y="5550408"/>
            <a:ext cx="182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77" name="t"/>
          <p:cNvSpPr txBox="1"/>
          <p:nvPr/>
        </p:nvSpPr>
        <p:spPr>
          <a:xfrm>
            <a:off x="7040880" y="5486400"/>
            <a:ext cx="41148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Smart route optimization</a:t>
            </a:r>
          </a:p>
        </p:txBody>
      </p:sp>
      <p:sp>
        <p:nvSpPr>
          <p:cNvPr id="278" name="r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60E26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" name="t"/>
          <p:cNvSpPr txBox="1"/>
          <p:nvPr/>
        </p:nvSpPr>
        <p:spPr>
          <a:xfrm>
            <a:off x="457200" y="6519672"/>
            <a:ext cx="18288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IMPACT</a:t>
            </a:r>
          </a:p>
        </p:txBody>
      </p:sp>
      <p:sp>
        <p:nvSpPr>
          <p:cNvPr id="280" name="t"/>
          <p:cNvSpPr txBox="1"/>
          <p:nvPr/>
        </p:nvSpPr>
        <p:spPr>
          <a:xfrm>
            <a:off x="1463040" y="6519672"/>
            <a:ext cx="9144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100% digital workflow  |  Real-time visibility  |  Emergency-aware  |  Cloud scalable</a:t>
            </a:r>
          </a:p>
        </p:txBody>
      </p:sp>
      <p:sp>
        <p:nvSpPr>
          <p:cNvPr id="281" name="t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03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r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" name="r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t"/>
          <p:cNvSpPr txBox="1"/>
          <p:nvPr/>
        </p:nvSpPr>
        <p:spPr>
          <a:xfrm>
            <a:off x="457200" y="228600"/>
            <a:ext cx="1828800" cy="7315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4400" b="1" dirty="0">
                <a:solidFill>
                  <a:srgbClr val="F97316"/>
                </a:solidFill>
                <a:latin typeface="Calibri"/>
              </a:rPr>
              <a:t>04</a:t>
            </a:r>
          </a:p>
        </p:txBody>
      </p:sp>
      <p:sp>
        <p:nvSpPr>
          <p:cNvPr id="286" name="t"/>
          <p:cNvSpPr txBox="1"/>
          <p:nvPr/>
        </p:nvSpPr>
        <p:spPr>
          <a:xfrm>
            <a:off x="1371600" y="274320"/>
            <a:ext cx="7315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SYSTEM DESIGN</a:t>
            </a:r>
          </a:p>
        </p:txBody>
      </p:sp>
      <p:sp>
        <p:nvSpPr>
          <p:cNvPr id="287" name="t"/>
          <p:cNvSpPr txBox="1"/>
          <p:nvPr/>
        </p:nvSpPr>
        <p:spPr>
          <a:xfrm>
            <a:off x="1371600" y="640080"/>
            <a:ext cx="91440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Architecture &amp; Workflow</a:t>
            </a:r>
          </a:p>
        </p:txBody>
      </p:sp>
      <p:sp>
        <p:nvSpPr>
          <p:cNvPr id="288" name="t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ARCHITECTURE FLOW</a:t>
            </a:r>
          </a:p>
        </p:txBody>
      </p:sp>
      <p:sp>
        <p:nvSpPr>
          <p:cNvPr id="289" name="ps"/>
          <p:cNvSpPr/>
          <p:nvPr/>
        </p:nvSpPr>
        <p:spPr>
          <a:xfrm>
            <a:off x="662940" y="17830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bdy"/>
          <p:cNvSpPr/>
          <p:nvPr/>
        </p:nvSpPr>
        <p:spPr>
          <a:xfrm>
            <a:off x="518922" y="2164560"/>
            <a:ext cx="699516" cy="45262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" name="t"/>
          <p:cNvSpPr txBox="1"/>
          <p:nvPr/>
        </p:nvSpPr>
        <p:spPr>
          <a:xfrm>
            <a:off x="457200" y="2656040"/>
            <a:ext cx="822960" cy="250000"/>
          </a:xfrm>
          <a:prstGeom prst="rect">
            <a:avLst/>
          </a:prstGeom>
          <a:noFill/>
        </p:spPr>
        <p:txBody>
          <a:bodyPr wrap="square" anchor="ctr" rtlCol="0"/>
          <a:lstStyle/>
          <a:p>
            <a:pPr algn="ctr">
              <a:buNone/>
            </a:pPr>
            <a:r>
              <a:rPr lang="en-US" sz="1000" b="1" dirty="0">
                <a:solidFill>
                  <a:srgbClr val="0B1739"/>
                </a:solidFill>
                <a:latin typeface="Calibri"/>
              </a:rPr>
              <a:t>CUSTOMER</a:t>
            </a:r>
          </a:p>
        </p:txBody>
      </p:sp>
      <p:sp>
        <p:nvSpPr>
          <p:cNvPr id="292" name="ps"/>
          <p:cNvSpPr/>
          <p:nvPr/>
        </p:nvSpPr>
        <p:spPr>
          <a:xfrm>
            <a:off x="1988820" y="178308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" name="bdy"/>
          <p:cNvSpPr/>
          <p:nvPr/>
        </p:nvSpPr>
        <p:spPr>
          <a:xfrm>
            <a:off x="1844802" y="2164560"/>
            <a:ext cx="699516" cy="452628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" name="t"/>
          <p:cNvSpPr txBox="1"/>
          <p:nvPr/>
        </p:nvSpPr>
        <p:spPr>
          <a:xfrm>
            <a:off x="1783080" y="2656040"/>
            <a:ext cx="822960" cy="250000"/>
          </a:xfrm>
          <a:prstGeom prst="rect">
            <a:avLst/>
          </a:prstGeom>
          <a:noFill/>
        </p:spPr>
        <p:txBody>
          <a:bodyPr wrap="square" anchor="ctr" rtlCol="0"/>
          <a:lstStyle/>
          <a:p>
            <a:pPr algn="ctr">
              <a:buNone/>
            </a:pPr>
            <a:r>
              <a:rPr lang="en-US" sz="1000" b="1" dirty="0">
                <a:solidFill>
                  <a:srgbClr val="0B1739"/>
                </a:solidFill>
                <a:latin typeface="Calibri"/>
              </a:rPr>
              <a:t>ADMIN</a:t>
            </a:r>
          </a:p>
        </p:txBody>
      </p:sp>
      <p:sp>
        <p:nvSpPr>
          <p:cNvPr id="295" name="ps"/>
          <p:cNvSpPr/>
          <p:nvPr/>
        </p:nvSpPr>
        <p:spPr>
          <a:xfrm>
            <a:off x="3314700" y="17830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" name="bdy"/>
          <p:cNvSpPr/>
          <p:nvPr/>
        </p:nvSpPr>
        <p:spPr>
          <a:xfrm>
            <a:off x="3170682" y="2164560"/>
            <a:ext cx="699516" cy="45262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t"/>
          <p:cNvSpPr txBox="1"/>
          <p:nvPr/>
        </p:nvSpPr>
        <p:spPr>
          <a:xfrm>
            <a:off x="3108960" y="2656040"/>
            <a:ext cx="822960" cy="250000"/>
          </a:xfrm>
          <a:prstGeom prst="rect">
            <a:avLst/>
          </a:prstGeom>
          <a:noFill/>
        </p:spPr>
        <p:txBody>
          <a:bodyPr wrap="square" anchor="ctr" rtlCol="0"/>
          <a:lstStyle/>
          <a:p>
            <a:pPr algn="ctr">
              <a:buNone/>
            </a:pPr>
            <a:r>
              <a:rPr lang="en-US" sz="1000" b="1" dirty="0">
                <a:solidFill>
                  <a:srgbClr val="0B1739"/>
                </a:solidFill>
                <a:latin typeface="Calibri"/>
              </a:rPr>
              <a:t>AGENT</a:t>
            </a:r>
          </a:p>
        </p:txBody>
      </p:sp>
      <p:cxnSp>
        <p:nvCxnSpPr>
          <p:cNvPr id="298" name="ln"/>
          <p:cNvCxnSpPr/>
          <p:nvPr/>
        </p:nvCxnSpPr>
        <p:spPr>
          <a:xfrm flipH="0" flipV="0">
            <a:off x="868680" y="2743200"/>
            <a:ext cx="1325880" cy="64008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cxnSp>
        <p:nvCxnSpPr>
          <p:cNvPr id="299" name="ln"/>
          <p:cNvCxnSpPr/>
          <p:nvPr/>
        </p:nvCxnSpPr>
        <p:spPr>
          <a:xfrm flipH="0" flipV="0">
            <a:off x="2194560" y="2743200"/>
            <a:ext cx="1" cy="64008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cxnSp>
        <p:nvCxnSpPr>
          <p:cNvPr id="300" name="ln"/>
          <p:cNvCxnSpPr/>
          <p:nvPr/>
        </p:nvCxnSpPr>
        <p:spPr>
          <a:xfrm flipH="1" flipV="0">
            <a:off x="2194560" y="2743200"/>
            <a:ext cx="1325880" cy="64008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sp>
        <p:nvSpPr>
          <p:cNvPr id="301" name="ps"/>
          <p:cNvSpPr/>
          <p:nvPr/>
        </p:nvSpPr>
        <p:spPr>
          <a:xfrm>
            <a:off x="457200" y="3383280"/>
            <a:ext cx="4297680" cy="914400"/>
          </a:xfrm>
          <a:prstGeom prst="roundRect">
            <a:avLst/>
          </a:prstGeom>
          <a:solidFill>
            <a:srgbClr val="2A3F6A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302" name="ps"/>
          <p:cNvSpPr/>
          <p:nvPr/>
        </p:nvSpPr>
        <p:spPr>
          <a:xfrm>
            <a:off x="487200" y="3413280"/>
            <a:ext cx="4237680" cy="278133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ps"/>
          <p:cNvSpPr/>
          <p:nvPr/>
        </p:nvSpPr>
        <p:spPr>
          <a:xfrm>
            <a:off x="517200" y="3505991"/>
            <a:ext cx="30000" cy="3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ps"/>
          <p:cNvSpPr/>
          <p:nvPr/>
        </p:nvSpPr>
        <p:spPr>
          <a:xfrm>
            <a:off x="567200" y="3505991"/>
            <a:ext cx="30000" cy="300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ps"/>
          <p:cNvSpPr/>
          <p:nvPr/>
        </p:nvSpPr>
        <p:spPr>
          <a:xfrm>
            <a:off x="617200" y="3505991"/>
            <a:ext cx="30000" cy="30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ps"/>
          <p:cNvSpPr/>
          <p:nvPr/>
        </p:nvSpPr>
        <p:spPr>
          <a:xfrm>
            <a:off x="707200" y="3547346"/>
            <a:ext cx="3977680" cy="10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ps"/>
          <p:cNvSpPr/>
          <p:nvPr/>
        </p:nvSpPr>
        <p:spPr>
          <a:xfrm>
            <a:off x="487200" y="3701413"/>
            <a:ext cx="4237680" cy="278133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" name="ps"/>
          <p:cNvSpPr/>
          <p:nvPr/>
        </p:nvSpPr>
        <p:spPr>
          <a:xfrm>
            <a:off x="517200" y="3794124"/>
            <a:ext cx="30000" cy="3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" name="ps"/>
          <p:cNvSpPr/>
          <p:nvPr/>
        </p:nvSpPr>
        <p:spPr>
          <a:xfrm>
            <a:off x="567200" y="3794124"/>
            <a:ext cx="30000" cy="300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ps"/>
          <p:cNvSpPr/>
          <p:nvPr/>
        </p:nvSpPr>
        <p:spPr>
          <a:xfrm>
            <a:off x="617200" y="3794124"/>
            <a:ext cx="30000" cy="30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ps"/>
          <p:cNvSpPr/>
          <p:nvPr/>
        </p:nvSpPr>
        <p:spPr>
          <a:xfrm>
            <a:off x="707200" y="3835479"/>
            <a:ext cx="3977680" cy="10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ps"/>
          <p:cNvSpPr/>
          <p:nvPr/>
        </p:nvSpPr>
        <p:spPr>
          <a:xfrm>
            <a:off x="487200" y="3989546"/>
            <a:ext cx="4237680" cy="278133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ps"/>
          <p:cNvSpPr/>
          <p:nvPr/>
        </p:nvSpPr>
        <p:spPr>
          <a:xfrm>
            <a:off x="517200" y="4082257"/>
            <a:ext cx="30000" cy="3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ps"/>
          <p:cNvSpPr/>
          <p:nvPr/>
        </p:nvSpPr>
        <p:spPr>
          <a:xfrm>
            <a:off x="567200" y="4082257"/>
            <a:ext cx="30000" cy="300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ps"/>
          <p:cNvSpPr/>
          <p:nvPr/>
        </p:nvSpPr>
        <p:spPr>
          <a:xfrm>
            <a:off x="617200" y="4082257"/>
            <a:ext cx="30000" cy="30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" name="ps"/>
          <p:cNvSpPr/>
          <p:nvPr/>
        </p:nvSpPr>
        <p:spPr>
          <a:xfrm>
            <a:off x="707200" y="4123612"/>
            <a:ext cx="3977680" cy="10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" name="t"/>
          <p:cNvSpPr txBox="1"/>
          <p:nvPr/>
        </p:nvSpPr>
        <p:spPr>
          <a:xfrm>
            <a:off x="457200" y="3429000"/>
            <a:ext cx="42976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EXPRESS.JS API SERVER</a:t>
            </a:r>
          </a:p>
        </p:txBody>
      </p:sp>
      <p:cxnSp>
        <p:nvCxnSpPr>
          <p:cNvPr id="318" name="ln"/>
          <p:cNvCxnSpPr/>
          <p:nvPr/>
        </p:nvCxnSpPr>
        <p:spPr>
          <a:xfrm flipH="0" flipV="0">
            <a:off x="1554480" y="4343400"/>
            <a:ext cx="1" cy="41148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cxnSp>
        <p:nvCxnSpPr>
          <p:cNvPr id="319" name="ln"/>
          <p:cNvCxnSpPr/>
          <p:nvPr/>
        </p:nvCxnSpPr>
        <p:spPr>
          <a:xfrm flipH="0" flipV="0">
            <a:off x="3657600" y="4343400"/>
            <a:ext cx="1" cy="41148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sp>
        <p:nvSpPr>
          <p:cNvPr id="320" name="da"/>
          <p:cNvSpPr/>
          <p:nvPr/>
        </p:nvSpPr>
        <p:spPr>
          <a:xfrm>
            <a:off x="1417320" y="4663440"/>
            <a:ext cx="274320" cy="18288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da"/>
          <p:cNvSpPr/>
          <p:nvPr/>
        </p:nvSpPr>
        <p:spPr>
          <a:xfrm>
            <a:off x="3520440" y="4663440"/>
            <a:ext cx="274320" cy="18288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" name="ps"/>
          <p:cNvSpPr/>
          <p:nvPr/>
        </p:nvSpPr>
        <p:spPr>
          <a:xfrm>
            <a:off x="640080" y="4846320"/>
            <a:ext cx="1645920" cy="1280160"/>
          </a:xfrm>
          <a:prstGeom prst="can">
            <a:avLst/>
          </a:prstGeom>
          <a:solidFill>
            <a:srgbClr val="10B981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323" name="t"/>
          <p:cNvSpPr txBox="1"/>
          <p:nvPr/>
        </p:nvSpPr>
        <p:spPr>
          <a:xfrm>
            <a:off x="640080" y="5286400"/>
            <a:ext cx="1645920" cy="300000"/>
          </a:xfrm>
          <a:prstGeom prst="rect">
            <a:avLst/>
          </a:prstGeom>
          <a:noFill/>
        </p:spPr>
        <p:txBody>
          <a:bodyPr wrap="square" anchor="ctr" rtlCol="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324" name="ps"/>
          <p:cNvSpPr/>
          <p:nvPr/>
        </p:nvSpPr>
        <p:spPr>
          <a:xfrm>
            <a:off x="2834640" y="4846320"/>
            <a:ext cx="1645920" cy="1280160"/>
          </a:xfrm>
          <a:prstGeom prst="can">
            <a:avLst/>
          </a:prstGeom>
          <a:solidFill>
            <a:srgbClr val="EF4444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325" name="t"/>
          <p:cNvSpPr txBox="1"/>
          <p:nvPr/>
        </p:nvSpPr>
        <p:spPr>
          <a:xfrm>
            <a:off x="2834640" y="5286400"/>
            <a:ext cx="1645920" cy="300000"/>
          </a:xfrm>
          <a:prstGeom prst="rect">
            <a:avLst/>
          </a:prstGeom>
          <a:noFill/>
        </p:spPr>
        <p:txBody>
          <a:bodyPr wrap="square" anchor="ctr" rtlCol="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326" name="t"/>
          <p:cNvSpPr txBox="1"/>
          <p:nvPr/>
        </p:nvSpPr>
        <p:spPr>
          <a:xfrm>
            <a:off x="457200" y="6217920"/>
            <a:ext cx="20116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Primary DB</a:t>
            </a:r>
          </a:p>
        </p:txBody>
      </p:sp>
      <p:sp>
        <p:nvSpPr>
          <p:cNvPr id="327" name="t"/>
          <p:cNvSpPr txBox="1"/>
          <p:nvPr/>
        </p:nvSpPr>
        <p:spPr>
          <a:xfrm>
            <a:off x="2697480" y="6217920"/>
            <a:ext cx="20116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Cache &amp; RT</a:t>
            </a:r>
          </a:p>
        </p:txBody>
      </p:sp>
      <p:sp>
        <p:nvSpPr>
          <p:cNvPr id="328" name="ps"/>
          <p:cNvSpPr/>
          <p:nvPr/>
        </p:nvSpPr>
        <p:spPr>
          <a:xfrm>
            <a:off x="548640" y="6483096"/>
            <a:ext cx="950976" cy="256031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329" name="ps"/>
          <p:cNvSpPr/>
          <p:nvPr/>
        </p:nvSpPr>
        <p:spPr>
          <a:xfrm>
            <a:off x="628640" y="6501384"/>
            <a:ext cx="30000" cy="230427"/>
          </a:xfrm>
          <a:prstGeom prst="rect">
            <a:avLst/>
          </a:prstGeom>
          <a:solidFill>
            <a:srgbClr val="C75C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0" name="ps"/>
          <p:cNvSpPr/>
          <p:nvPr/>
        </p:nvSpPr>
        <p:spPr>
          <a:xfrm>
            <a:off x="1389616" y="6501384"/>
            <a:ext cx="30000" cy="230427"/>
          </a:xfrm>
          <a:prstGeom prst="rect">
            <a:avLst/>
          </a:prstGeom>
          <a:solidFill>
            <a:srgbClr val="C75C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1" name="ps"/>
          <p:cNvSpPr/>
          <p:nvPr/>
        </p:nvSpPr>
        <p:spPr>
          <a:xfrm>
            <a:off x="1499616" y="6556248"/>
            <a:ext cx="512063" cy="182880"/>
          </a:xfrm>
          <a:prstGeom prst="roundRect">
            <a:avLst/>
          </a:prstGeom>
          <a:solidFill>
            <a:srgbClr val="0B1739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332" name="ps"/>
          <p:cNvSpPr/>
          <p:nvPr/>
        </p:nvSpPr>
        <p:spPr>
          <a:xfrm>
            <a:off x="1529616" y="6574535"/>
            <a:ext cx="358444" cy="1005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33" name="ps"/>
          <p:cNvSpPr/>
          <p:nvPr/>
        </p:nvSpPr>
        <p:spPr>
          <a:xfrm>
            <a:off x="691286" y="6731812"/>
            <a:ext cx="80467" cy="80467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4" name="ps"/>
          <p:cNvSpPr/>
          <p:nvPr/>
        </p:nvSpPr>
        <p:spPr>
          <a:xfrm>
            <a:off x="1214323" y="6731812"/>
            <a:ext cx="80467" cy="80467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ps"/>
          <p:cNvSpPr/>
          <p:nvPr/>
        </p:nvSpPr>
        <p:spPr>
          <a:xfrm>
            <a:off x="1755647" y="6731812"/>
            <a:ext cx="80467" cy="80467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" name="ps"/>
          <p:cNvSpPr/>
          <p:nvPr/>
        </p:nvSpPr>
        <p:spPr>
          <a:xfrm>
            <a:off x="715426" y="6755952"/>
            <a:ext cx="32186" cy="32186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" name="ps"/>
          <p:cNvSpPr/>
          <p:nvPr/>
        </p:nvSpPr>
        <p:spPr>
          <a:xfrm>
            <a:off x="1238463" y="6755952"/>
            <a:ext cx="32186" cy="32186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" name="ps"/>
          <p:cNvSpPr/>
          <p:nvPr/>
        </p:nvSpPr>
        <p:spPr>
          <a:xfrm>
            <a:off x="1779787" y="6755952"/>
            <a:ext cx="32186" cy="32186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" name="s"/>
          <p:cNvSpPr/>
          <p:nvPr/>
        </p:nvSpPr>
        <p:spPr>
          <a:xfrm>
            <a:off x="5120640" y="1371600"/>
            <a:ext cx="64008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t" rtlCol="0" lIns="91440" tIns="91440" rIns="91440" bIns="91440"/>
          <a:lstStyle/>
          <a:p/>
        </p:txBody>
      </p:sp>
      <p:sp>
        <p:nvSpPr>
          <p:cNvPr id="340" name="r"/>
          <p:cNvSpPr/>
          <p:nvPr/>
        </p:nvSpPr>
        <p:spPr>
          <a:xfrm>
            <a:off x="5120640" y="1371600"/>
            <a:ext cx="6400800" cy="640080"/>
          </a:xfrm>
          <a:prstGeom prst="roundRect">
            <a:avLst>
              <a:gd name="adj" fmla="val 8000"/>
            </a:avLst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" name="r"/>
          <p:cNvSpPr/>
          <p:nvPr/>
        </p:nvSpPr>
        <p:spPr>
          <a:xfrm>
            <a:off x="5120640" y="1828800"/>
            <a:ext cx="6400800" cy="18288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" name="t"/>
          <p:cNvSpPr txBox="1"/>
          <p:nvPr/>
        </p:nvSpPr>
        <p:spPr>
          <a:xfrm>
            <a:off x="5349240" y="1508760"/>
            <a:ext cx="5943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97316"/>
                </a:solidFill>
                <a:latin typeface="Calibri"/>
              </a:rPr>
              <a:t>ORDER LIFECYCLE FLOW</a:t>
            </a:r>
          </a:p>
        </p:txBody>
      </p:sp>
      <p:sp>
        <p:nvSpPr>
          <p:cNvPr id="343" name="ps"/>
          <p:cNvSpPr/>
          <p:nvPr/>
        </p:nvSpPr>
        <p:spPr>
          <a:xfrm>
            <a:off x="10927080" y="146304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344" name="ps"/>
          <p:cNvSpPr/>
          <p:nvPr/>
        </p:nvSpPr>
        <p:spPr>
          <a:xfrm>
            <a:off x="11018520" y="1778800"/>
            <a:ext cx="182880" cy="146304"/>
          </a:xfrm>
          <a:prstGeom prst="triangl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" name="ps"/>
          <p:cNvSpPr/>
          <p:nvPr/>
        </p:nvSpPr>
        <p:spPr>
          <a:xfrm>
            <a:off x="11036808" y="157276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" name="c"/>
          <p:cNvSpPr/>
          <p:nvPr/>
        </p:nvSpPr>
        <p:spPr>
          <a:xfrm>
            <a:off x="5440680" y="21945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" name="t"/>
          <p:cNvSpPr txBox="1"/>
          <p:nvPr/>
        </p:nvSpPr>
        <p:spPr>
          <a:xfrm>
            <a:off x="5440680" y="2240280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48" name="t"/>
          <p:cNvSpPr txBox="1"/>
          <p:nvPr/>
        </p:nvSpPr>
        <p:spPr>
          <a:xfrm>
            <a:off x="6126480" y="2286000"/>
            <a:ext cx="53035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0B1739"/>
                </a:solidFill>
                <a:latin typeface="Calibri"/>
              </a:rPr>
              <a:t>Customer places order</a:t>
            </a:r>
          </a:p>
        </p:txBody>
      </p:sp>
      <p:cxnSp>
        <p:nvCxnSpPr>
          <p:cNvPr id="349" name="ln"/>
          <p:cNvCxnSpPr/>
          <p:nvPr/>
        </p:nvCxnSpPr>
        <p:spPr>
          <a:xfrm flipH="0" flipV="0">
            <a:off x="5669280" y="2651760"/>
            <a:ext cx="1" cy="109728"/>
          </a:xfrm>
          <a:prstGeom prst="line">
            <a:avLst/>
          </a:prstGeom>
          <a:ln w="20000">
            <a:solidFill>
              <a:srgbClr val="3B82F6"/>
            </a:solidFill>
          </a:ln>
        </p:spPr>
      </p:cxnSp>
      <p:sp>
        <p:nvSpPr>
          <p:cNvPr id="350" name="c"/>
          <p:cNvSpPr/>
          <p:nvPr/>
        </p:nvSpPr>
        <p:spPr>
          <a:xfrm>
            <a:off x="5440680" y="276148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" name="t"/>
          <p:cNvSpPr txBox="1"/>
          <p:nvPr/>
        </p:nvSpPr>
        <p:spPr>
          <a:xfrm>
            <a:off x="5440680" y="2807208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52" name="t"/>
          <p:cNvSpPr txBox="1"/>
          <p:nvPr/>
        </p:nvSpPr>
        <p:spPr>
          <a:xfrm>
            <a:off x="6126480" y="2852928"/>
            <a:ext cx="53035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0B1739"/>
                </a:solidFill>
                <a:latin typeface="Calibri"/>
              </a:rPr>
              <a:t>Admin assigns agent</a:t>
            </a:r>
          </a:p>
        </p:txBody>
      </p:sp>
      <p:cxnSp>
        <p:nvCxnSpPr>
          <p:cNvPr id="353" name="ln"/>
          <p:cNvCxnSpPr/>
          <p:nvPr/>
        </p:nvCxnSpPr>
        <p:spPr>
          <a:xfrm flipH="0" flipV="0">
            <a:off x="5669280" y="3218688"/>
            <a:ext cx="1" cy="109728"/>
          </a:xfrm>
          <a:prstGeom prst="line">
            <a:avLst/>
          </a:prstGeom>
          <a:ln w="20000">
            <a:solidFill>
              <a:srgbClr val="F97316"/>
            </a:solidFill>
          </a:ln>
        </p:spPr>
      </p:cxnSp>
      <p:sp>
        <p:nvSpPr>
          <p:cNvPr id="354" name="c"/>
          <p:cNvSpPr/>
          <p:nvPr/>
        </p:nvSpPr>
        <p:spPr>
          <a:xfrm>
            <a:off x="5440680" y="3328416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" name="t"/>
          <p:cNvSpPr txBox="1"/>
          <p:nvPr/>
        </p:nvSpPr>
        <p:spPr>
          <a:xfrm>
            <a:off x="5440680" y="3374136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56" name="t"/>
          <p:cNvSpPr txBox="1"/>
          <p:nvPr/>
        </p:nvSpPr>
        <p:spPr>
          <a:xfrm>
            <a:off x="6126480" y="3419856"/>
            <a:ext cx="53035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0B1739"/>
                </a:solidFill>
                <a:latin typeface="Calibri"/>
              </a:rPr>
              <a:t>Agent picks cylinder</a:t>
            </a:r>
          </a:p>
        </p:txBody>
      </p:sp>
      <p:cxnSp>
        <p:nvCxnSpPr>
          <p:cNvPr id="357" name="ln"/>
          <p:cNvCxnSpPr/>
          <p:nvPr/>
        </p:nvCxnSpPr>
        <p:spPr>
          <a:xfrm flipH="0" flipV="0">
            <a:off x="5669280" y="3785616"/>
            <a:ext cx="1" cy="109728"/>
          </a:xfrm>
          <a:prstGeom prst="line">
            <a:avLst/>
          </a:prstGeom>
          <a:ln w="20000">
            <a:solidFill>
              <a:srgbClr val="8B5CF6"/>
            </a:solidFill>
          </a:ln>
        </p:spPr>
      </p:cxnSp>
      <p:sp>
        <p:nvSpPr>
          <p:cNvPr id="358" name="c"/>
          <p:cNvSpPr/>
          <p:nvPr/>
        </p:nvSpPr>
        <p:spPr>
          <a:xfrm>
            <a:off x="5440680" y="3895344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" name="t"/>
          <p:cNvSpPr txBox="1"/>
          <p:nvPr/>
        </p:nvSpPr>
        <p:spPr>
          <a:xfrm>
            <a:off x="5440680" y="3941064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0" name="t"/>
          <p:cNvSpPr txBox="1"/>
          <p:nvPr/>
        </p:nvSpPr>
        <p:spPr>
          <a:xfrm>
            <a:off x="6126480" y="3986784"/>
            <a:ext cx="53035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0B1739"/>
                </a:solidFill>
                <a:latin typeface="Calibri"/>
              </a:rPr>
              <a:t>GPS tracking begins</a:t>
            </a:r>
          </a:p>
        </p:txBody>
      </p:sp>
      <p:cxnSp>
        <p:nvCxnSpPr>
          <p:cNvPr id="361" name="ln"/>
          <p:cNvCxnSpPr/>
          <p:nvPr/>
        </p:nvCxnSpPr>
        <p:spPr>
          <a:xfrm flipH="0" flipV="0">
            <a:off x="5669280" y="4352544"/>
            <a:ext cx="1" cy="109728"/>
          </a:xfrm>
          <a:prstGeom prst="line">
            <a:avLst/>
          </a:prstGeom>
          <a:ln w="20000">
            <a:solidFill>
              <a:srgbClr val="FBBF24"/>
            </a:solidFill>
          </a:ln>
        </p:spPr>
      </p:cxnSp>
      <p:sp>
        <p:nvSpPr>
          <p:cNvPr id="362" name="c"/>
          <p:cNvSpPr/>
          <p:nvPr/>
        </p:nvSpPr>
        <p:spPr>
          <a:xfrm>
            <a:off x="5440680" y="4462272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" name="t"/>
          <p:cNvSpPr txBox="1"/>
          <p:nvPr/>
        </p:nvSpPr>
        <p:spPr>
          <a:xfrm>
            <a:off x="5440680" y="4507992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64" name="t"/>
          <p:cNvSpPr txBox="1"/>
          <p:nvPr/>
        </p:nvSpPr>
        <p:spPr>
          <a:xfrm>
            <a:off x="6126480" y="4553712"/>
            <a:ext cx="53035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0B1739"/>
                </a:solidFill>
                <a:latin typeface="Calibri"/>
              </a:rPr>
              <a:t>Live chat enabled</a:t>
            </a:r>
          </a:p>
        </p:txBody>
      </p:sp>
      <p:cxnSp>
        <p:nvCxnSpPr>
          <p:cNvPr id="365" name="ln"/>
          <p:cNvCxnSpPr/>
          <p:nvPr/>
        </p:nvCxnSpPr>
        <p:spPr>
          <a:xfrm flipH="0" flipV="0">
            <a:off x="5669280" y="4919472"/>
            <a:ext cx="1" cy="109728"/>
          </a:xfrm>
          <a:prstGeom prst="line">
            <a:avLst/>
          </a:prstGeom>
          <a:ln w="20000">
            <a:solidFill>
              <a:srgbClr val="14B8A6"/>
            </a:solidFill>
          </a:ln>
        </p:spPr>
      </p:cxnSp>
      <p:sp>
        <p:nvSpPr>
          <p:cNvPr id="366" name="c"/>
          <p:cNvSpPr/>
          <p:nvPr/>
        </p:nvSpPr>
        <p:spPr>
          <a:xfrm>
            <a:off x="5440680" y="50292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" name="t"/>
          <p:cNvSpPr txBox="1"/>
          <p:nvPr/>
        </p:nvSpPr>
        <p:spPr>
          <a:xfrm>
            <a:off x="5440680" y="5074920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8" name="t"/>
          <p:cNvSpPr txBox="1"/>
          <p:nvPr/>
        </p:nvSpPr>
        <p:spPr>
          <a:xfrm>
            <a:off x="6126480" y="5120640"/>
            <a:ext cx="53035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0B1739"/>
                </a:solidFill>
                <a:latin typeface="Calibri"/>
              </a:rPr>
              <a:t>Delivery + OTP verify</a:t>
            </a:r>
          </a:p>
        </p:txBody>
      </p:sp>
      <p:cxnSp>
        <p:nvCxnSpPr>
          <p:cNvPr id="369" name="ln"/>
          <p:cNvCxnSpPr/>
          <p:nvPr/>
        </p:nvCxnSpPr>
        <p:spPr>
          <a:xfrm flipH="0" flipV="0">
            <a:off x="5669280" y="5486400"/>
            <a:ext cx="1" cy="109728"/>
          </a:xfrm>
          <a:prstGeom prst="line">
            <a:avLst/>
          </a:prstGeom>
          <a:ln w="20000">
            <a:solidFill>
              <a:srgbClr val="1E40AF"/>
            </a:solidFill>
          </a:ln>
        </p:spPr>
      </p:cxnSp>
      <p:sp>
        <p:nvSpPr>
          <p:cNvPr id="370" name="c"/>
          <p:cNvSpPr/>
          <p:nvPr/>
        </p:nvSpPr>
        <p:spPr>
          <a:xfrm>
            <a:off x="5440680" y="559612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" name="t"/>
          <p:cNvSpPr txBox="1"/>
          <p:nvPr/>
        </p:nvSpPr>
        <p:spPr>
          <a:xfrm>
            <a:off x="5440680" y="5641848"/>
            <a:ext cx="457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72" name="t"/>
          <p:cNvSpPr txBox="1"/>
          <p:nvPr/>
        </p:nvSpPr>
        <p:spPr>
          <a:xfrm>
            <a:off x="6126480" y="5687568"/>
            <a:ext cx="53035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0B1739"/>
                </a:solidFill>
                <a:latin typeface="Calibri"/>
              </a:rPr>
              <a:t>Order completed!</a:t>
            </a:r>
          </a:p>
        </p:txBody>
      </p:sp>
      <p:sp>
        <p:nvSpPr>
          <p:cNvPr id="373" name="t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04</a:t>
            </a:r>
          </a:p>
        </p:txBody>
      </p:sp>
    </p:spTree>
  </p:cSld>
  <p:transition spd="med">
    <p:wipe dir="l"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5" name="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376" name="r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377" name="t"/>
          <p:cNvSpPr txBox="1"/>
          <p:nvPr/>
        </p:nvSpPr>
        <p:spPr>
          <a:xfrm>
            <a:off x="457200" y="164592"/>
            <a:ext cx="1828800" cy="7315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4400" b="1" dirty="0">
                <a:solidFill>
                  <a:srgbClr val="F97316"/>
                </a:solidFill>
                <a:latin typeface="Calibri"/>
              </a:rPr>
              <a:t>05</a:t>
            </a:r>
          </a:p>
        </p:txBody>
      </p:sp>
      <p:sp>
        <p:nvSpPr>
          <p:cNvPr id="378" name="t"/>
          <p:cNvSpPr txBox="1"/>
          <p:nvPr/>
        </p:nvSpPr>
        <p:spPr>
          <a:xfrm>
            <a:off x="1371600" y="201168"/>
            <a:ext cx="100584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CRISIS PRIORITIZATION ENGINE</a:t>
            </a:r>
          </a:p>
        </p:txBody>
      </p:sp>
      <p:sp>
        <p:nvSpPr>
          <p:cNvPr id="379" name="t"/>
          <p:cNvSpPr txBox="1"/>
          <p:nvPr/>
        </p:nvSpPr>
        <p:spPr>
          <a:xfrm>
            <a:off x="1371600" y="548640"/>
            <a:ext cx="100584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How Emergency Allocation Works</a:t>
            </a:r>
          </a:p>
        </p:txBody>
      </p:sp>
      <p:sp>
        <p:nvSpPr>
          <p:cNvPr id="380" name="t"/>
          <p:cNvSpPr txBox="1"/>
          <p:nvPr/>
        </p:nvSpPr>
        <p:spPr>
          <a:xfrm>
            <a:off x="457200" y="1051560"/>
            <a:ext cx="11430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During severe stock crises, FCFS is suspended. Orders enter a holding pool &amp; are allocated using a Heuristic Priority Score (P).</a:t>
            </a:r>
          </a:p>
        </p:txBody>
      </p:sp>
      <p:sp>
        <p:nvSpPr>
          <p:cNvPr id="381" name="s"/>
          <p:cNvSpPr/>
          <p:nvPr/>
        </p:nvSpPr>
        <p:spPr>
          <a:xfrm>
            <a:off x="457200" y="146304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0B1739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382" name="r"/>
          <p:cNvSpPr/>
          <p:nvPr/>
        </p:nvSpPr>
        <p:spPr>
          <a:xfrm>
            <a:off x="457200" y="1463040"/>
            <a:ext cx="91440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3" name="t"/>
          <p:cNvSpPr txBox="1"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PRIORITY SCORE FORMULA</a:t>
            </a:r>
          </a:p>
        </p:txBody>
      </p:sp>
      <p:sp>
        <p:nvSpPr>
          <p:cNvPr id="384" name="t"/>
          <p:cNvSpPr txBox="1"/>
          <p:nvPr/>
        </p:nvSpPr>
        <p:spPr>
          <a:xfrm>
            <a:off x="731520" y="1828800"/>
            <a:ext cx="10515600" cy="5029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P  =  (1.5  x  S_sector)  +  (1.0  x  S_urgency)  -  (1.0  x  S_hoarding)</a:t>
            </a:r>
          </a:p>
        </p:txBody>
      </p:sp>
      <p:sp>
        <p:nvSpPr>
          <p:cNvPr id="385" name="t"/>
          <p:cNvSpPr txBox="1"/>
          <p:nvPr/>
        </p:nvSpPr>
        <p:spPr>
          <a:xfrm>
            <a:off x="731520" y="2240280"/>
            <a:ext cx="10515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Higher P = higher priority. Orders sorted in a Max-Heap and allocated in descending P order.</a:t>
            </a:r>
          </a:p>
        </p:txBody>
      </p:sp>
      <p:sp>
        <p:nvSpPr>
          <p:cNvPr id="386" name="s"/>
          <p:cNvSpPr/>
          <p:nvPr/>
        </p:nvSpPr>
        <p:spPr>
          <a:xfrm>
            <a:off x="457200" y="260604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387" name="r"/>
          <p:cNvSpPr/>
          <p:nvPr/>
        </p:nvSpPr>
        <p:spPr>
          <a:xfrm>
            <a:off x="457200" y="2606040"/>
            <a:ext cx="370332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" name="t"/>
          <p:cNvSpPr txBox="1"/>
          <p:nvPr/>
        </p:nvSpPr>
        <p:spPr>
          <a:xfrm>
            <a:off x="640080" y="2770632"/>
            <a:ext cx="333756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1E40AF"/>
                </a:solidFill>
                <a:latin typeface="Calibri"/>
              </a:rPr>
              <a:t>S_sector</a:t>
            </a:r>
          </a:p>
        </p:txBody>
      </p:sp>
      <p:sp>
        <p:nvSpPr>
          <p:cNvPr id="389" name="t"/>
          <p:cNvSpPr txBox="1"/>
          <p:nvPr/>
        </p:nvSpPr>
        <p:spPr>
          <a:xfrm>
            <a:off x="640080" y="3108960"/>
            <a:ext cx="3337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0B1739"/>
                </a:solidFill>
                <a:latin typeface="Calibri"/>
              </a:rPr>
              <a:t>Sector Base Score</a:t>
            </a:r>
          </a:p>
        </p:txBody>
      </p:sp>
      <p:sp>
        <p:nvSpPr>
          <p:cNvPr id="390" name="r"/>
          <p:cNvSpPr/>
          <p:nvPr/>
        </p:nvSpPr>
        <p:spPr>
          <a:xfrm>
            <a:off x="640080" y="3429000"/>
            <a:ext cx="4572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" name="t"/>
          <p:cNvSpPr txBox="1"/>
          <p:nvPr/>
        </p:nvSpPr>
        <p:spPr>
          <a:xfrm>
            <a:off x="640080" y="3520440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Hospitals / Emergency:     100</a:t>
            </a:r>
          </a:p>
        </p:txBody>
      </p:sp>
      <p:sp>
        <p:nvSpPr>
          <p:cNvPr id="392" name="t"/>
          <p:cNvSpPr txBox="1"/>
          <p:nvPr/>
        </p:nvSpPr>
        <p:spPr>
          <a:xfrm>
            <a:off x="640080" y="3685032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Domestic Households:        50</a:t>
            </a:r>
          </a:p>
        </p:txBody>
      </p:sp>
      <p:sp>
        <p:nvSpPr>
          <p:cNvPr id="393" name="t"/>
          <p:cNvSpPr txBox="1"/>
          <p:nvPr/>
        </p:nvSpPr>
        <p:spPr>
          <a:xfrm>
            <a:off x="640080" y="3849624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Hostels / Institutional:        30</a:t>
            </a:r>
          </a:p>
        </p:txBody>
      </p:sp>
      <p:sp>
        <p:nvSpPr>
          <p:cNvPr id="394" name="t"/>
          <p:cNvSpPr txBox="1"/>
          <p:nvPr/>
        </p:nvSpPr>
        <p:spPr>
          <a:xfrm>
            <a:off x="640080" y="4014216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Commercial (Hotels):           10</a:t>
            </a:r>
          </a:p>
        </p:txBody>
      </p:sp>
      <p:sp>
        <p:nvSpPr>
          <p:cNvPr id="395" name="t"/>
          <p:cNvSpPr txBox="1"/>
          <p:nvPr/>
        </p:nvSpPr>
        <p:spPr>
          <a:xfrm>
            <a:off x="640080" y="4178808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396" name="t"/>
          <p:cNvSpPr txBox="1"/>
          <p:nvPr/>
        </p:nvSpPr>
        <p:spPr>
          <a:xfrm>
            <a:off x="640080" y="4343400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Multiplier:  W_sector = 1.5</a:t>
            </a:r>
          </a:p>
        </p:txBody>
      </p:sp>
      <p:sp>
        <p:nvSpPr>
          <p:cNvPr id="397" name="t"/>
          <p:cNvSpPr txBox="1"/>
          <p:nvPr/>
        </p:nvSpPr>
        <p:spPr>
          <a:xfrm>
            <a:off x="640080" y="4507992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Hospital order contributes 150 to P</a:t>
            </a:r>
          </a:p>
        </p:txBody>
      </p:sp>
      <p:sp>
        <p:nvSpPr>
          <p:cNvPr id="398" name="s"/>
          <p:cNvSpPr/>
          <p:nvPr/>
        </p:nvSpPr>
        <p:spPr>
          <a:xfrm>
            <a:off x="4251960" y="260604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399" name="r"/>
          <p:cNvSpPr/>
          <p:nvPr/>
        </p:nvSpPr>
        <p:spPr>
          <a:xfrm>
            <a:off x="4251960" y="2606040"/>
            <a:ext cx="370332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" name="t"/>
          <p:cNvSpPr txBox="1"/>
          <p:nvPr/>
        </p:nvSpPr>
        <p:spPr>
          <a:xfrm>
            <a:off x="4434840" y="2770632"/>
            <a:ext cx="333756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F97316"/>
                </a:solidFill>
                <a:latin typeface="Calibri"/>
              </a:rPr>
              <a:t>S_urgency</a:t>
            </a:r>
          </a:p>
        </p:txBody>
      </p:sp>
      <p:sp>
        <p:nvSpPr>
          <p:cNvPr id="401" name="t"/>
          <p:cNvSpPr txBox="1"/>
          <p:nvPr/>
        </p:nvSpPr>
        <p:spPr>
          <a:xfrm>
            <a:off x="4434840" y="3108960"/>
            <a:ext cx="3337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0B1739"/>
                </a:solidFill>
                <a:latin typeface="Calibri"/>
              </a:rPr>
              <a:t>Necessity Index</a:t>
            </a:r>
          </a:p>
        </p:txBody>
      </p:sp>
      <p:sp>
        <p:nvSpPr>
          <p:cNvPr id="402" name="r"/>
          <p:cNvSpPr/>
          <p:nvPr/>
        </p:nvSpPr>
        <p:spPr>
          <a:xfrm>
            <a:off x="4434840" y="3429000"/>
            <a:ext cx="4572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" name="t"/>
          <p:cNvSpPr txBox="1"/>
          <p:nvPr/>
        </p:nvSpPr>
        <p:spPr>
          <a:xfrm>
            <a:off x="4434840" y="3520440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(DaysSinceRefill / AvgCycle)</a:t>
            </a:r>
          </a:p>
        </p:txBody>
      </p:sp>
      <p:sp>
        <p:nvSpPr>
          <p:cNvPr id="404" name="t"/>
          <p:cNvSpPr txBox="1"/>
          <p:nvPr/>
        </p:nvSpPr>
        <p:spPr>
          <a:xfrm>
            <a:off x="4434840" y="3685032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x 100</a:t>
            </a:r>
          </a:p>
        </p:txBody>
      </p:sp>
      <p:sp>
        <p:nvSpPr>
          <p:cNvPr id="405" name="t"/>
          <p:cNvSpPr txBox="1"/>
          <p:nvPr/>
        </p:nvSpPr>
        <p:spPr>
          <a:xfrm>
            <a:off x="4434840" y="3849624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406" name="t"/>
          <p:cNvSpPr txBox="1"/>
          <p:nvPr/>
        </p:nvSpPr>
        <p:spPr>
          <a:xfrm>
            <a:off x="4434840" y="4014216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Capped at 200 max</a:t>
            </a:r>
          </a:p>
        </p:txBody>
      </p:sp>
      <p:sp>
        <p:nvSpPr>
          <p:cNvPr id="407" name="t"/>
          <p:cNvSpPr txBox="1"/>
          <p:nvPr/>
        </p:nvSpPr>
        <p:spPr>
          <a:xfrm>
            <a:off x="4434840" y="4178808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(prevents outlier anomalies)</a:t>
            </a:r>
          </a:p>
        </p:txBody>
      </p:sp>
      <p:sp>
        <p:nvSpPr>
          <p:cNvPr id="408" name="t"/>
          <p:cNvSpPr txBox="1"/>
          <p:nvPr/>
        </p:nvSpPr>
        <p:spPr>
          <a:xfrm>
            <a:off x="4434840" y="4343400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409" name="t"/>
          <p:cNvSpPr txBox="1"/>
          <p:nvPr/>
        </p:nvSpPr>
        <p:spPr>
          <a:xfrm>
            <a:off x="4434840" y="4507992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Multiplier:  W_urgency = 1.0</a:t>
            </a:r>
          </a:p>
        </p:txBody>
      </p:sp>
      <p:sp>
        <p:nvSpPr>
          <p:cNvPr id="410" name="s"/>
          <p:cNvSpPr/>
          <p:nvPr/>
        </p:nvSpPr>
        <p:spPr>
          <a:xfrm>
            <a:off x="8046720" y="260604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11" name="r"/>
          <p:cNvSpPr/>
          <p:nvPr/>
        </p:nvSpPr>
        <p:spPr>
          <a:xfrm>
            <a:off x="8046720" y="2606040"/>
            <a:ext cx="37033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" name="t"/>
          <p:cNvSpPr txBox="1"/>
          <p:nvPr/>
        </p:nvSpPr>
        <p:spPr>
          <a:xfrm>
            <a:off x="8229600" y="2770632"/>
            <a:ext cx="333756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EF4444"/>
                </a:solidFill>
                <a:latin typeface="Calibri"/>
              </a:rPr>
              <a:t>S_hoarding</a:t>
            </a:r>
          </a:p>
        </p:txBody>
      </p:sp>
      <p:sp>
        <p:nvSpPr>
          <p:cNvPr id="413" name="t"/>
          <p:cNvSpPr txBox="1"/>
          <p:nvPr/>
        </p:nvSpPr>
        <p:spPr>
          <a:xfrm>
            <a:off x="8229600" y="3108960"/>
            <a:ext cx="3337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0B1739"/>
                </a:solidFill>
                <a:latin typeface="Calibri"/>
              </a:rPr>
              <a:t>Hoarding Penalty Shield</a:t>
            </a:r>
          </a:p>
        </p:txBody>
      </p:sp>
      <p:sp>
        <p:nvSpPr>
          <p:cNvPr id="414" name="r"/>
          <p:cNvSpPr/>
          <p:nvPr/>
        </p:nvSpPr>
        <p:spPr>
          <a:xfrm>
            <a:off x="8229600" y="3429000"/>
            <a:ext cx="457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" name="t"/>
          <p:cNvSpPr txBox="1"/>
          <p:nvPr/>
        </p:nvSpPr>
        <p:spPr>
          <a:xfrm>
            <a:off x="8229600" y="3520440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-200 points if user refilled</a:t>
            </a:r>
          </a:p>
        </p:txBody>
      </p:sp>
      <p:sp>
        <p:nvSpPr>
          <p:cNvPr id="416" name="t"/>
          <p:cNvSpPr txBox="1"/>
          <p:nvPr/>
        </p:nvSpPr>
        <p:spPr>
          <a:xfrm>
            <a:off x="8229600" y="3685032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within 21 days, OR ordered</a:t>
            </a:r>
          </a:p>
        </p:txBody>
      </p:sp>
      <p:sp>
        <p:nvSpPr>
          <p:cNvPr id="417" name="t"/>
          <p:cNvSpPr txBox="1"/>
          <p:nvPr/>
        </p:nvSpPr>
        <p:spPr>
          <a:xfrm>
            <a:off x="8229600" y="3849624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more than 2 cylinders in 30d</a:t>
            </a:r>
          </a:p>
        </p:txBody>
      </p:sp>
      <p:sp>
        <p:nvSpPr>
          <p:cNvPr id="418" name="t"/>
          <p:cNvSpPr txBox="1"/>
          <p:nvPr/>
        </p:nvSpPr>
        <p:spPr>
          <a:xfrm>
            <a:off x="8229600" y="4014216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419" name="t"/>
          <p:cNvSpPr txBox="1"/>
          <p:nvPr/>
        </p:nvSpPr>
        <p:spPr>
          <a:xfrm>
            <a:off x="8229600" y="4178808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Hospitals: fully exempt</a:t>
            </a:r>
          </a:p>
        </p:txBody>
      </p:sp>
      <p:sp>
        <p:nvSpPr>
          <p:cNvPr id="420" name="t"/>
          <p:cNvSpPr txBox="1"/>
          <p:nvPr/>
        </p:nvSpPr>
        <p:spPr>
          <a:xfrm>
            <a:off x="8229600" y="4343400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421" name="t"/>
          <p:cNvSpPr txBox="1"/>
          <p:nvPr/>
        </p:nvSpPr>
        <p:spPr>
          <a:xfrm>
            <a:off x="8229600" y="4507992"/>
            <a:ext cx="333756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Multiplier:  W_hoarding = 1.0</a:t>
            </a:r>
          </a:p>
        </p:txBody>
      </p:sp>
      <p:sp>
        <p:nvSpPr>
          <p:cNvPr id="422" name="s"/>
          <p:cNvSpPr/>
          <p:nvPr/>
        </p:nvSpPr>
        <p:spPr>
          <a:xfrm>
            <a:off x="457200" y="4983480"/>
            <a:ext cx="3703320" cy="9144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23" name="t"/>
          <p:cNvSpPr txBox="1"/>
          <p:nvPr/>
        </p:nvSpPr>
        <p:spPr>
          <a:xfrm>
            <a:off x="685800" y="5093208"/>
            <a:ext cx="333756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HOSPITAL</a:t>
            </a:r>
          </a:p>
        </p:txBody>
      </p:sp>
      <p:sp>
        <p:nvSpPr>
          <p:cNvPr id="424" name="t"/>
          <p:cNvSpPr txBox="1"/>
          <p:nvPr/>
        </p:nvSpPr>
        <p:spPr>
          <a:xfrm>
            <a:off x="685800" y="5394960"/>
            <a:ext cx="333756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Exempt from cooldowns</a:t>
            </a:r>
          </a:p>
        </p:txBody>
      </p:sp>
      <p:sp>
        <p:nvSpPr>
          <p:cNvPr id="425" name="t"/>
          <p:cNvSpPr txBox="1"/>
          <p:nvPr/>
        </p:nvSpPr>
        <p:spPr>
          <a:xfrm>
            <a:off x="685800" y="5623560"/>
            <a:ext cx="333756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15% emergency reserve stock</a:t>
            </a:r>
          </a:p>
        </p:txBody>
      </p:sp>
      <p:sp>
        <p:nvSpPr>
          <p:cNvPr id="426" name="s"/>
          <p:cNvSpPr/>
          <p:nvPr/>
        </p:nvSpPr>
        <p:spPr>
          <a:xfrm>
            <a:off x="4251960" y="4983480"/>
            <a:ext cx="3703320" cy="9144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27" name="t"/>
          <p:cNvSpPr txBox="1"/>
          <p:nvPr/>
        </p:nvSpPr>
        <p:spPr>
          <a:xfrm>
            <a:off x="4480560" y="5093208"/>
            <a:ext cx="333756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DOMESTIC HOUSEHOLD</a:t>
            </a:r>
          </a:p>
        </p:txBody>
      </p:sp>
      <p:sp>
        <p:nvSpPr>
          <p:cNvPr id="428" name="t"/>
          <p:cNvSpPr txBox="1"/>
          <p:nvPr/>
        </p:nvSpPr>
        <p:spPr>
          <a:xfrm>
            <a:off x="4480560" y="5394960"/>
            <a:ext cx="333756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30-day lock period</a:t>
            </a:r>
          </a:p>
        </p:txBody>
      </p:sp>
      <p:sp>
        <p:nvSpPr>
          <p:cNvPr id="429" name="t"/>
          <p:cNvSpPr txBox="1"/>
          <p:nvPr/>
        </p:nvSpPr>
        <p:spPr>
          <a:xfrm>
            <a:off x="4480560" y="5623560"/>
            <a:ext cx="333756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Hard reject within 30 days</a:t>
            </a:r>
          </a:p>
        </p:txBody>
      </p:sp>
      <p:sp>
        <p:nvSpPr>
          <p:cNvPr id="430" name="s"/>
          <p:cNvSpPr/>
          <p:nvPr/>
        </p:nvSpPr>
        <p:spPr>
          <a:xfrm>
            <a:off x="8046720" y="4983480"/>
            <a:ext cx="3703320" cy="91440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31" name="t"/>
          <p:cNvSpPr txBox="1"/>
          <p:nvPr/>
        </p:nvSpPr>
        <p:spPr>
          <a:xfrm>
            <a:off x="8275320" y="5093208"/>
            <a:ext cx="333756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HOTEL / COMMERCIAL</a:t>
            </a:r>
          </a:p>
        </p:txBody>
      </p:sp>
      <p:sp>
        <p:nvSpPr>
          <p:cNvPr id="432" name="t"/>
          <p:cNvSpPr txBox="1"/>
          <p:nvPr/>
        </p:nvSpPr>
        <p:spPr>
          <a:xfrm>
            <a:off x="8275320" y="5394960"/>
            <a:ext cx="333756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7-day lock period</a:t>
            </a:r>
          </a:p>
        </p:txBody>
      </p:sp>
      <p:sp>
        <p:nvSpPr>
          <p:cNvPr id="433" name="t"/>
          <p:cNvSpPr txBox="1"/>
          <p:nvPr/>
        </p:nvSpPr>
        <p:spPr>
          <a:xfrm>
            <a:off x="8275320" y="5623560"/>
            <a:ext cx="333756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70% quantity cap applied</a:t>
            </a:r>
          </a:p>
        </p:txBody>
      </p:sp>
      <p:sp>
        <p:nvSpPr>
          <p:cNvPr id="434" name="s"/>
          <p:cNvSpPr/>
          <p:nvPr/>
        </p:nvSpPr>
        <p:spPr>
          <a:xfrm>
            <a:off x="457200" y="5989320"/>
            <a:ext cx="11338560" cy="502920"/>
          </a:xfrm>
          <a:prstGeom prst="roundRect">
            <a:avLst>
              <a:gd name="adj" fmla="val 6000"/>
            </a:avLst>
          </a:prstGeom>
          <a:solidFill>
            <a:srgbClr val="060E26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35" name="r"/>
          <p:cNvSpPr/>
          <p:nvPr/>
        </p:nvSpPr>
        <p:spPr>
          <a:xfrm>
            <a:off x="457200" y="5989320"/>
            <a:ext cx="113385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" name="t"/>
          <p:cNvSpPr txBox="1"/>
          <p:nvPr/>
        </p:nvSpPr>
        <p:spPr>
          <a:xfrm>
            <a:off x="502920" y="6153912"/>
            <a:ext cx="2194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alibri"/>
              </a:rPr>
              <a:t>Order Created</a:t>
            </a:r>
          </a:p>
        </p:txBody>
      </p:sp>
      <p:sp>
        <p:nvSpPr>
          <p:cNvPr id="437" name="t"/>
          <p:cNvSpPr txBox="1"/>
          <p:nvPr/>
        </p:nvSpPr>
        <p:spPr>
          <a:xfrm>
            <a:off x="2560320" y="6153912"/>
            <a:ext cx="27432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/>
              </a:rPr>
              <a:t>&gt;</a:t>
            </a:r>
          </a:p>
        </p:txBody>
      </p:sp>
      <p:sp>
        <p:nvSpPr>
          <p:cNvPr id="438" name="t"/>
          <p:cNvSpPr txBox="1"/>
          <p:nvPr/>
        </p:nvSpPr>
        <p:spPr>
          <a:xfrm>
            <a:off x="2697480" y="6153912"/>
            <a:ext cx="2194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Score Calculated</a:t>
            </a:r>
          </a:p>
        </p:txBody>
      </p:sp>
      <p:sp>
        <p:nvSpPr>
          <p:cNvPr id="439" name="t"/>
          <p:cNvSpPr txBox="1"/>
          <p:nvPr/>
        </p:nvSpPr>
        <p:spPr>
          <a:xfrm>
            <a:off x="4754880" y="6153912"/>
            <a:ext cx="27432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/>
              </a:rPr>
              <a:t>&gt;</a:t>
            </a:r>
          </a:p>
        </p:txBody>
      </p:sp>
      <p:sp>
        <p:nvSpPr>
          <p:cNvPr id="440" name="t"/>
          <p:cNvSpPr txBox="1"/>
          <p:nvPr/>
        </p:nvSpPr>
        <p:spPr>
          <a:xfrm>
            <a:off x="4892040" y="6153912"/>
            <a:ext cx="2194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Max-Heap Sort</a:t>
            </a:r>
          </a:p>
        </p:txBody>
      </p:sp>
      <p:sp>
        <p:nvSpPr>
          <p:cNvPr id="441" name="t"/>
          <p:cNvSpPr txBox="1"/>
          <p:nvPr/>
        </p:nvSpPr>
        <p:spPr>
          <a:xfrm>
            <a:off x="6949440" y="6153912"/>
            <a:ext cx="27432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/>
              </a:rPr>
              <a:t>&gt;</a:t>
            </a:r>
          </a:p>
        </p:txBody>
      </p:sp>
      <p:sp>
        <p:nvSpPr>
          <p:cNvPr id="442" name="t"/>
          <p:cNvSpPr txBox="1"/>
          <p:nvPr/>
        </p:nvSpPr>
        <p:spPr>
          <a:xfrm>
            <a:off x="7086600" y="6153912"/>
            <a:ext cx="2194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Batch Allocate</a:t>
            </a:r>
          </a:p>
        </p:txBody>
      </p:sp>
      <p:sp>
        <p:nvSpPr>
          <p:cNvPr id="443" name="t"/>
          <p:cNvSpPr txBox="1"/>
          <p:nvPr/>
        </p:nvSpPr>
        <p:spPr>
          <a:xfrm>
            <a:off x="9144000" y="6153912"/>
            <a:ext cx="27432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/>
              </a:rPr>
              <a:t>&gt;</a:t>
            </a:r>
          </a:p>
        </p:txBody>
      </p:sp>
      <p:sp>
        <p:nvSpPr>
          <p:cNvPr id="444" name="t"/>
          <p:cNvSpPr txBox="1"/>
          <p:nvPr/>
        </p:nvSpPr>
        <p:spPr>
          <a:xfrm>
            <a:off x="9281160" y="6153912"/>
            <a:ext cx="2194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Notify Customer</a:t>
            </a:r>
          </a:p>
        </p:txBody>
      </p:sp>
      <p:sp>
        <p:nvSpPr>
          <p:cNvPr id="445" name="t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05</a:t>
            </a:r>
          </a:p>
        </p:txBody>
      </p:sp>
    </p:spTree>
  </p:cSld>
  <p:transition spd="med">
    <p:zoom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" name="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" name="c"/>
          <p:cNvSpPr/>
          <p:nvPr/>
        </p:nvSpPr>
        <p:spPr>
          <a:xfrm>
            <a:off x="10058400" y="-457200"/>
            <a:ext cx="2286000" cy="2286000"/>
          </a:xfrm>
          <a:prstGeom prst="ellipse">
            <a:avLst/>
          </a:prstGeom>
          <a:solidFill>
            <a:srgbClr val="1726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" name="ps"/>
          <p:cNvSpPr/>
          <p:nvPr/>
        </p:nvSpPr>
        <p:spPr>
          <a:xfrm>
            <a:off x="10515600" y="274320"/>
            <a:ext cx="1371600" cy="822960"/>
          </a:xfrm>
          <a:prstGeom prst="cloud">
            <a:avLst/>
          </a:prstGeom>
          <a:solidFill>
            <a:srgbClr val="EA580C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450" name="t"/>
          <p:cNvSpPr txBox="1"/>
          <p:nvPr/>
        </p:nvSpPr>
        <p:spPr>
          <a:xfrm>
            <a:off x="365760" y="274320"/>
            <a:ext cx="1828800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5200" b="1" dirty="0">
                <a:solidFill>
                  <a:srgbClr val="F97316"/>
                </a:solidFill>
                <a:latin typeface="Calibri"/>
              </a:rPr>
              <a:t>06</a:t>
            </a:r>
          </a:p>
        </p:txBody>
      </p:sp>
      <p:sp>
        <p:nvSpPr>
          <p:cNvPr id="451" name="t"/>
          <p:cNvSpPr txBox="1"/>
          <p:nvPr/>
        </p:nvSpPr>
        <p:spPr>
          <a:xfrm>
            <a:off x="1371600" y="365760"/>
            <a:ext cx="73152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TECH STACK</a:t>
            </a:r>
          </a:p>
        </p:txBody>
      </p:sp>
      <p:sp>
        <p:nvSpPr>
          <p:cNvPr id="452" name="t"/>
          <p:cNvSpPr txBox="1"/>
          <p:nvPr/>
        </p:nvSpPr>
        <p:spPr>
          <a:xfrm>
            <a:off x="1371600" y="777240"/>
            <a:ext cx="914400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Modern Technologies</a:t>
            </a:r>
          </a:p>
        </p:txBody>
      </p:sp>
      <p:sp>
        <p:nvSpPr>
          <p:cNvPr id="453" name="t"/>
          <p:cNvSpPr txBox="1"/>
          <p:nvPr/>
        </p:nvSpPr>
        <p:spPr>
          <a:xfrm>
            <a:off x="1371600" y="1280160"/>
            <a:ext cx="100584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3D-illustrated tech stack for production scalability</a:t>
            </a:r>
          </a:p>
        </p:txBody>
      </p:sp>
      <p:sp>
        <p:nvSpPr>
          <p:cNvPr id="454" name="s"/>
          <p:cNvSpPr/>
          <p:nvPr/>
        </p:nvSpPr>
        <p:spPr>
          <a:xfrm>
            <a:off x="365760" y="1828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F1A33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55" name="r"/>
          <p:cNvSpPr/>
          <p:nvPr/>
        </p:nvSpPr>
        <p:spPr>
          <a:xfrm>
            <a:off x="365760" y="18288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" name="ps"/>
          <p:cNvSpPr/>
          <p:nvPr/>
        </p:nvSpPr>
        <p:spPr>
          <a:xfrm>
            <a:off x="548640" y="2011680"/>
            <a:ext cx="822960" cy="822960"/>
          </a:xfrm>
          <a:prstGeom prst="cube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0F9D58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457" name="t"/>
          <p:cNvSpPr txBox="1"/>
          <p:nvPr/>
        </p:nvSpPr>
        <p:spPr>
          <a:xfrm>
            <a:off x="548640" y="2103120"/>
            <a:ext cx="82296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458" name="t"/>
          <p:cNvSpPr txBox="1"/>
          <p:nvPr/>
        </p:nvSpPr>
        <p:spPr>
          <a:xfrm>
            <a:off x="1554480" y="21031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Node.js</a:t>
            </a:r>
          </a:p>
        </p:txBody>
      </p:sp>
      <p:sp>
        <p:nvSpPr>
          <p:cNvPr id="459" name="r"/>
          <p:cNvSpPr/>
          <p:nvPr/>
        </p:nvSpPr>
        <p:spPr>
          <a:xfrm>
            <a:off x="1554480" y="2423160"/>
            <a:ext cx="457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" name="t"/>
          <p:cNvSpPr txBox="1"/>
          <p:nvPr/>
        </p:nvSpPr>
        <p:spPr>
          <a:xfrm>
            <a:off x="1554480" y="2560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Runtime</a:t>
            </a:r>
          </a:p>
        </p:txBody>
      </p:sp>
      <p:sp>
        <p:nvSpPr>
          <p:cNvPr id="461" name="t"/>
          <p:cNvSpPr txBox="1"/>
          <p:nvPr/>
        </p:nvSpPr>
        <p:spPr>
          <a:xfrm>
            <a:off x="548640" y="3108960"/>
            <a:ext cx="237744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BBF24"/>
                </a:solidFill>
                <a:latin typeface="Calibri"/>
              </a:rPr>
              <a:t>Production-ready</a:t>
            </a:r>
          </a:p>
        </p:txBody>
      </p:sp>
      <p:sp>
        <p:nvSpPr>
          <p:cNvPr id="462" name="s"/>
          <p:cNvSpPr/>
          <p:nvPr/>
        </p:nvSpPr>
        <p:spPr>
          <a:xfrm>
            <a:off x="3154680" y="1828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F1A33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63" name="r"/>
          <p:cNvSpPr/>
          <p:nvPr/>
        </p:nvSpPr>
        <p:spPr>
          <a:xfrm>
            <a:off x="3154680" y="182880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" name="ps"/>
          <p:cNvSpPr/>
          <p:nvPr/>
        </p:nvSpPr>
        <p:spPr>
          <a:xfrm>
            <a:off x="3337560" y="2011680"/>
            <a:ext cx="822960" cy="822960"/>
          </a:xfrm>
          <a:prstGeom prst="cube">
            <a:avLst/>
          </a:prstGeom>
          <a:gradFill flip="none" rotWithShape="1">
            <a:gsLst>
              <a:gs pos="0">
                <a:srgbClr val="3B82F6"/>
              </a:gs>
              <a:gs pos="100000">
                <a:srgbClr val="1E40AF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465" name="t"/>
          <p:cNvSpPr txBox="1"/>
          <p:nvPr/>
        </p:nvSpPr>
        <p:spPr>
          <a:xfrm>
            <a:off x="3337560" y="2103120"/>
            <a:ext cx="82296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66" name="t"/>
          <p:cNvSpPr txBox="1"/>
          <p:nvPr/>
        </p:nvSpPr>
        <p:spPr>
          <a:xfrm>
            <a:off x="4343400" y="21031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Express</a:t>
            </a:r>
          </a:p>
        </p:txBody>
      </p:sp>
      <p:sp>
        <p:nvSpPr>
          <p:cNvPr id="467" name="r"/>
          <p:cNvSpPr/>
          <p:nvPr/>
        </p:nvSpPr>
        <p:spPr>
          <a:xfrm>
            <a:off x="4343400" y="2423160"/>
            <a:ext cx="457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" name="t"/>
          <p:cNvSpPr txBox="1"/>
          <p:nvPr/>
        </p:nvSpPr>
        <p:spPr>
          <a:xfrm>
            <a:off x="4343400" y="2560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Framework</a:t>
            </a:r>
          </a:p>
        </p:txBody>
      </p:sp>
      <p:sp>
        <p:nvSpPr>
          <p:cNvPr id="469" name="t"/>
          <p:cNvSpPr txBox="1"/>
          <p:nvPr/>
        </p:nvSpPr>
        <p:spPr>
          <a:xfrm>
            <a:off x="3337560" y="3108960"/>
            <a:ext cx="237744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BBF24"/>
                </a:solidFill>
                <a:latin typeface="Calibri"/>
              </a:rPr>
              <a:t>Production-ready</a:t>
            </a:r>
          </a:p>
        </p:txBody>
      </p:sp>
      <p:sp>
        <p:nvSpPr>
          <p:cNvPr id="470" name="s"/>
          <p:cNvSpPr/>
          <p:nvPr/>
        </p:nvSpPr>
        <p:spPr>
          <a:xfrm>
            <a:off x="5943600" y="1828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F1A33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71" name="r"/>
          <p:cNvSpPr/>
          <p:nvPr/>
        </p:nvSpPr>
        <p:spPr>
          <a:xfrm>
            <a:off x="5943600" y="1828800"/>
            <a:ext cx="2651760" cy="54864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" name="ps"/>
          <p:cNvSpPr/>
          <p:nvPr/>
        </p:nvSpPr>
        <p:spPr>
          <a:xfrm>
            <a:off x="6126480" y="2011680"/>
            <a:ext cx="822960" cy="822960"/>
          </a:xfrm>
          <a:prstGeom prst="cube">
            <a:avLst/>
          </a:prstGeom>
          <a:gradFill flip="none" rotWithShape="1">
            <a:gsLst>
              <a:gs pos="0">
                <a:srgbClr val="228B22"/>
              </a:gs>
              <a:gs pos="100000">
                <a:srgbClr val="0F5132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473" name="t"/>
          <p:cNvSpPr txBox="1"/>
          <p:nvPr/>
        </p:nvSpPr>
        <p:spPr>
          <a:xfrm>
            <a:off x="6126480" y="2103120"/>
            <a:ext cx="82296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74" name="t"/>
          <p:cNvSpPr txBox="1"/>
          <p:nvPr/>
        </p:nvSpPr>
        <p:spPr>
          <a:xfrm>
            <a:off x="7132320" y="21031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475" name="r"/>
          <p:cNvSpPr/>
          <p:nvPr/>
        </p:nvSpPr>
        <p:spPr>
          <a:xfrm>
            <a:off x="7132320" y="2423160"/>
            <a:ext cx="457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" name="t"/>
          <p:cNvSpPr txBox="1"/>
          <p:nvPr/>
        </p:nvSpPr>
        <p:spPr>
          <a:xfrm>
            <a:off x="7132320" y="2560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Database</a:t>
            </a:r>
          </a:p>
        </p:txBody>
      </p:sp>
      <p:sp>
        <p:nvSpPr>
          <p:cNvPr id="477" name="t"/>
          <p:cNvSpPr txBox="1"/>
          <p:nvPr/>
        </p:nvSpPr>
        <p:spPr>
          <a:xfrm>
            <a:off x="6126480" y="3108960"/>
            <a:ext cx="237744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BBF24"/>
                </a:solidFill>
                <a:latin typeface="Calibri"/>
              </a:rPr>
              <a:t>Production-ready</a:t>
            </a:r>
          </a:p>
        </p:txBody>
      </p:sp>
      <p:sp>
        <p:nvSpPr>
          <p:cNvPr id="478" name="s"/>
          <p:cNvSpPr/>
          <p:nvPr/>
        </p:nvSpPr>
        <p:spPr>
          <a:xfrm>
            <a:off x="8732520" y="1828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F1A33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79" name="r"/>
          <p:cNvSpPr/>
          <p:nvPr/>
        </p:nvSpPr>
        <p:spPr>
          <a:xfrm>
            <a:off x="8732520" y="18288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" name="ps"/>
          <p:cNvSpPr/>
          <p:nvPr/>
        </p:nvSpPr>
        <p:spPr>
          <a:xfrm>
            <a:off x="8915400" y="2011680"/>
            <a:ext cx="822960" cy="822960"/>
          </a:xfrm>
          <a:prstGeom prst="cube">
            <a:avLst/>
          </a:prstGeom>
          <a:gradFill flip="none" rotWithShape="1">
            <a:gsLst>
              <a:gs pos="0">
                <a:srgbClr val="EF4444"/>
              </a:gs>
              <a:gs pos="100000">
                <a:srgbClr val="991B1B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481" name="t"/>
          <p:cNvSpPr txBox="1"/>
          <p:nvPr/>
        </p:nvSpPr>
        <p:spPr>
          <a:xfrm>
            <a:off x="8915400" y="2103120"/>
            <a:ext cx="82296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82" name="t"/>
          <p:cNvSpPr txBox="1"/>
          <p:nvPr/>
        </p:nvSpPr>
        <p:spPr>
          <a:xfrm>
            <a:off x="9921240" y="21031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483" name="r"/>
          <p:cNvSpPr/>
          <p:nvPr/>
        </p:nvSpPr>
        <p:spPr>
          <a:xfrm>
            <a:off x="9921240" y="2423160"/>
            <a:ext cx="457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" name="t"/>
          <p:cNvSpPr txBox="1"/>
          <p:nvPr/>
        </p:nvSpPr>
        <p:spPr>
          <a:xfrm>
            <a:off x="9921240" y="2560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Cache</a:t>
            </a:r>
          </a:p>
        </p:txBody>
      </p:sp>
      <p:sp>
        <p:nvSpPr>
          <p:cNvPr id="485" name="t"/>
          <p:cNvSpPr txBox="1"/>
          <p:nvPr/>
        </p:nvSpPr>
        <p:spPr>
          <a:xfrm>
            <a:off x="8915400" y="3108960"/>
            <a:ext cx="237744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BBF24"/>
                </a:solidFill>
                <a:latin typeface="Calibri"/>
              </a:rPr>
              <a:t>Production-ready</a:t>
            </a:r>
          </a:p>
        </p:txBody>
      </p:sp>
      <p:sp>
        <p:nvSpPr>
          <p:cNvPr id="486" name="s"/>
          <p:cNvSpPr/>
          <p:nvPr/>
        </p:nvSpPr>
        <p:spPr>
          <a:xfrm>
            <a:off x="365760" y="3931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F1A33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87" name="r"/>
          <p:cNvSpPr/>
          <p:nvPr/>
        </p:nvSpPr>
        <p:spPr>
          <a:xfrm>
            <a:off x="365760" y="393192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" name="ps"/>
          <p:cNvSpPr/>
          <p:nvPr/>
        </p:nvSpPr>
        <p:spPr>
          <a:xfrm>
            <a:off x="548640" y="4114800"/>
            <a:ext cx="822960" cy="822960"/>
          </a:xfrm>
          <a:prstGeom prst="cub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5B21B6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489" name="t"/>
          <p:cNvSpPr txBox="1"/>
          <p:nvPr/>
        </p:nvSpPr>
        <p:spPr>
          <a:xfrm>
            <a:off x="548640" y="4206240"/>
            <a:ext cx="82296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90" name="t"/>
          <p:cNvSpPr txBox="1"/>
          <p:nvPr/>
        </p:nvSpPr>
        <p:spPr>
          <a:xfrm>
            <a:off x="1554480" y="42062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Socket.IO</a:t>
            </a:r>
          </a:p>
        </p:txBody>
      </p:sp>
      <p:sp>
        <p:nvSpPr>
          <p:cNvPr id="491" name="r"/>
          <p:cNvSpPr/>
          <p:nvPr/>
        </p:nvSpPr>
        <p:spPr>
          <a:xfrm>
            <a:off x="1554480" y="4526280"/>
            <a:ext cx="457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" name="t"/>
          <p:cNvSpPr txBox="1"/>
          <p:nvPr/>
        </p:nvSpPr>
        <p:spPr>
          <a:xfrm>
            <a:off x="1554480" y="46634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WebSocket</a:t>
            </a:r>
          </a:p>
        </p:txBody>
      </p:sp>
      <p:sp>
        <p:nvSpPr>
          <p:cNvPr id="493" name="t"/>
          <p:cNvSpPr txBox="1"/>
          <p:nvPr/>
        </p:nvSpPr>
        <p:spPr>
          <a:xfrm>
            <a:off x="548640" y="5212080"/>
            <a:ext cx="237744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BBF24"/>
                </a:solidFill>
                <a:latin typeface="Calibri"/>
              </a:rPr>
              <a:t>Production-ready</a:t>
            </a:r>
          </a:p>
        </p:txBody>
      </p:sp>
      <p:sp>
        <p:nvSpPr>
          <p:cNvPr id="494" name="s"/>
          <p:cNvSpPr/>
          <p:nvPr/>
        </p:nvSpPr>
        <p:spPr>
          <a:xfrm>
            <a:off x="3154680" y="3931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F1A33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495" name="r"/>
          <p:cNvSpPr/>
          <p:nvPr/>
        </p:nvSpPr>
        <p:spPr>
          <a:xfrm>
            <a:off x="3154680" y="3931920"/>
            <a:ext cx="265176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" name="ps"/>
          <p:cNvSpPr/>
          <p:nvPr/>
        </p:nvSpPr>
        <p:spPr>
          <a:xfrm>
            <a:off x="3337560" y="4114800"/>
            <a:ext cx="822960" cy="822960"/>
          </a:xfrm>
          <a:prstGeom prst="cube">
            <a:avLst/>
          </a:prstGeom>
          <a:gradFill flip="none" rotWithShape="1">
            <a:gsLst>
              <a:gs pos="0">
                <a:srgbClr val="1E40AF"/>
              </a:gs>
              <a:gs pos="100000">
                <a:srgbClr val="1E40AF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497" name="t"/>
          <p:cNvSpPr txBox="1"/>
          <p:nvPr/>
        </p:nvSpPr>
        <p:spPr>
          <a:xfrm>
            <a:off x="3337560" y="4206240"/>
            <a:ext cx="82296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98" name="t"/>
          <p:cNvSpPr txBox="1"/>
          <p:nvPr/>
        </p:nvSpPr>
        <p:spPr>
          <a:xfrm>
            <a:off x="4343400" y="42062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499" name="r"/>
          <p:cNvSpPr/>
          <p:nvPr/>
        </p:nvSpPr>
        <p:spPr>
          <a:xfrm>
            <a:off x="4343400" y="4526280"/>
            <a:ext cx="457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" name="t"/>
          <p:cNvSpPr txBox="1"/>
          <p:nvPr/>
        </p:nvSpPr>
        <p:spPr>
          <a:xfrm>
            <a:off x="4343400" y="46634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Container</a:t>
            </a:r>
          </a:p>
        </p:txBody>
      </p:sp>
      <p:sp>
        <p:nvSpPr>
          <p:cNvPr id="501" name="t"/>
          <p:cNvSpPr txBox="1"/>
          <p:nvPr/>
        </p:nvSpPr>
        <p:spPr>
          <a:xfrm>
            <a:off x="3337560" y="5212080"/>
            <a:ext cx="237744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BBF24"/>
                </a:solidFill>
                <a:latin typeface="Calibri"/>
              </a:rPr>
              <a:t>Production-ready</a:t>
            </a:r>
          </a:p>
        </p:txBody>
      </p:sp>
      <p:sp>
        <p:nvSpPr>
          <p:cNvPr id="502" name="s"/>
          <p:cNvSpPr/>
          <p:nvPr/>
        </p:nvSpPr>
        <p:spPr>
          <a:xfrm>
            <a:off x="5943600" y="3931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F1A33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03" name="r"/>
          <p:cNvSpPr/>
          <p:nvPr/>
        </p:nvSpPr>
        <p:spPr>
          <a:xfrm>
            <a:off x="5943600" y="3931920"/>
            <a:ext cx="2651760" cy="5486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" name="ps"/>
          <p:cNvSpPr/>
          <p:nvPr/>
        </p:nvSpPr>
        <p:spPr>
          <a:xfrm>
            <a:off x="6126480" y="4114800"/>
            <a:ext cx="822960" cy="822960"/>
          </a:xfrm>
          <a:prstGeom prst="cube">
            <a:avLst/>
          </a:prstGeom>
          <a:gradFill flip="none" rotWithShape="1">
            <a:gsLst>
              <a:gs pos="0">
                <a:srgbClr val="326CE5"/>
              </a:gs>
              <a:gs pos="100000">
                <a:srgbClr val="1E3A8A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505" name="t"/>
          <p:cNvSpPr txBox="1"/>
          <p:nvPr/>
        </p:nvSpPr>
        <p:spPr>
          <a:xfrm>
            <a:off x="6126480" y="4206240"/>
            <a:ext cx="82296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506" name="t"/>
          <p:cNvSpPr txBox="1"/>
          <p:nvPr/>
        </p:nvSpPr>
        <p:spPr>
          <a:xfrm>
            <a:off x="7132320" y="42062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K8s</a:t>
            </a:r>
          </a:p>
        </p:txBody>
      </p:sp>
      <p:sp>
        <p:nvSpPr>
          <p:cNvPr id="507" name="r"/>
          <p:cNvSpPr/>
          <p:nvPr/>
        </p:nvSpPr>
        <p:spPr>
          <a:xfrm>
            <a:off x="7132320" y="4526280"/>
            <a:ext cx="457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" name="t"/>
          <p:cNvSpPr txBox="1"/>
          <p:nvPr/>
        </p:nvSpPr>
        <p:spPr>
          <a:xfrm>
            <a:off x="7132320" y="46634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Orchestration</a:t>
            </a:r>
          </a:p>
        </p:txBody>
      </p:sp>
      <p:sp>
        <p:nvSpPr>
          <p:cNvPr id="509" name="t"/>
          <p:cNvSpPr txBox="1"/>
          <p:nvPr/>
        </p:nvSpPr>
        <p:spPr>
          <a:xfrm>
            <a:off x="6126480" y="5212080"/>
            <a:ext cx="237744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BBF24"/>
                </a:solidFill>
                <a:latin typeface="Calibri"/>
              </a:rPr>
              <a:t>Production-ready</a:t>
            </a:r>
          </a:p>
        </p:txBody>
      </p:sp>
      <p:sp>
        <p:nvSpPr>
          <p:cNvPr id="510" name="s"/>
          <p:cNvSpPr/>
          <p:nvPr/>
        </p:nvSpPr>
        <p:spPr>
          <a:xfrm>
            <a:off x="8732520" y="3931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F1A33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11" name="r"/>
          <p:cNvSpPr/>
          <p:nvPr/>
        </p:nvSpPr>
        <p:spPr>
          <a:xfrm>
            <a:off x="8732520" y="3931920"/>
            <a:ext cx="2651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" name="ps"/>
          <p:cNvSpPr/>
          <p:nvPr/>
        </p:nvSpPr>
        <p:spPr>
          <a:xfrm>
            <a:off x="8915400" y="4114800"/>
            <a:ext cx="822960" cy="822960"/>
          </a:xfrm>
          <a:prstGeom prst="cube">
            <a:avLst/>
          </a:prstGeom>
          <a:gradFill flip="none" rotWithShape="1">
            <a:gsLst>
              <a:gs pos="0">
                <a:srgbClr val="F97316"/>
              </a:gs>
              <a:gs pos="100000">
                <a:srgbClr val="C2410C"/>
              </a:gs>
            </a:gsLst>
            <a:lin ang="2700000" scaled="0"/>
          </a:gra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513" name="t"/>
          <p:cNvSpPr txBox="1"/>
          <p:nvPr/>
        </p:nvSpPr>
        <p:spPr>
          <a:xfrm>
            <a:off x="8915400" y="4206240"/>
            <a:ext cx="822960" cy="5486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514" name="t"/>
          <p:cNvSpPr txBox="1"/>
          <p:nvPr/>
        </p:nvSpPr>
        <p:spPr>
          <a:xfrm>
            <a:off x="9921240" y="42062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515" name="r"/>
          <p:cNvSpPr/>
          <p:nvPr/>
        </p:nvSpPr>
        <p:spPr>
          <a:xfrm>
            <a:off x="9921240" y="4526280"/>
            <a:ext cx="457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" name="t"/>
          <p:cNvSpPr txBox="1"/>
          <p:nvPr/>
        </p:nvSpPr>
        <p:spPr>
          <a:xfrm>
            <a:off x="9921240" y="466344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Auth</a:t>
            </a:r>
          </a:p>
        </p:txBody>
      </p:sp>
      <p:sp>
        <p:nvSpPr>
          <p:cNvPr id="517" name="t"/>
          <p:cNvSpPr txBox="1"/>
          <p:nvPr/>
        </p:nvSpPr>
        <p:spPr>
          <a:xfrm>
            <a:off x="8915400" y="5212080"/>
            <a:ext cx="237744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BBF24"/>
                </a:solidFill>
                <a:latin typeface="Calibri"/>
              </a:rPr>
              <a:t>Production-ready</a:t>
            </a:r>
          </a:p>
        </p:txBody>
      </p:sp>
      <p:sp>
        <p:nvSpPr>
          <p:cNvPr id="518" name="s"/>
          <p:cNvSpPr/>
          <p:nvPr/>
        </p:nvSpPr>
        <p:spPr>
          <a:xfrm>
            <a:off x="365760" y="594360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7264C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19" name="r"/>
          <p:cNvSpPr/>
          <p:nvPr/>
        </p:nvSpPr>
        <p:spPr>
          <a:xfrm>
            <a:off x="365760" y="5943600"/>
            <a:ext cx="111556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" name="t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SUPPORTING LIBRARIES</a:t>
            </a:r>
          </a:p>
        </p:txBody>
      </p:sp>
      <p:sp>
        <p:nvSpPr>
          <p:cNvPr id="521" name="t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bcrypt | Helmet | CORS | Zod | Winston | Twilio | SendGrid | Razorpay | AWS S3 | Jest | Swagger</a:t>
            </a:r>
          </a:p>
        </p:txBody>
      </p:sp>
      <p:sp>
        <p:nvSpPr>
          <p:cNvPr id="522" name="t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06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4" name="r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525" name="r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6" name="t"/>
          <p:cNvSpPr txBox="1"/>
          <p:nvPr/>
        </p:nvSpPr>
        <p:spPr>
          <a:xfrm>
            <a:off x="457200" y="228600"/>
            <a:ext cx="1828800" cy="7315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4400" b="1" dirty="0">
                <a:solidFill>
                  <a:srgbClr val="F97316"/>
                </a:solidFill>
                <a:latin typeface="Calibri"/>
              </a:rPr>
              <a:t>07</a:t>
            </a:r>
          </a:p>
        </p:txBody>
      </p:sp>
      <p:sp>
        <p:nvSpPr>
          <p:cNvPr id="527" name="t"/>
          <p:cNvSpPr txBox="1"/>
          <p:nvPr/>
        </p:nvSpPr>
        <p:spPr>
          <a:xfrm>
            <a:off x="1371600" y="274320"/>
            <a:ext cx="9144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WHAT MAKES US DIFFERENT</a:t>
            </a:r>
          </a:p>
        </p:txBody>
      </p:sp>
      <p:sp>
        <p:nvSpPr>
          <p:cNvPr id="528" name="t"/>
          <p:cNvSpPr txBox="1"/>
          <p:nvPr/>
        </p:nvSpPr>
        <p:spPr>
          <a:xfrm>
            <a:off x="1371600" y="640080"/>
            <a:ext cx="91440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Unique Features</a:t>
            </a:r>
          </a:p>
        </p:txBody>
      </p:sp>
      <p:sp>
        <p:nvSpPr>
          <p:cNvPr id="529" name="s"/>
          <p:cNvSpPr/>
          <p:nvPr/>
        </p:nvSpPr>
        <p:spPr>
          <a:xfrm>
            <a:off x="365760" y="1371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30" name="r"/>
          <p:cNvSpPr/>
          <p:nvPr/>
        </p:nvSpPr>
        <p:spPr>
          <a:xfrm>
            <a:off x="365760" y="13716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" name="r"/>
          <p:cNvSpPr/>
          <p:nvPr/>
        </p:nvSpPr>
        <p:spPr>
          <a:xfrm>
            <a:off x="365760" y="1920240"/>
            <a:ext cx="21945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" name="c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" name="t"/>
          <p:cNvSpPr txBox="1"/>
          <p:nvPr/>
        </p:nvSpPr>
        <p:spPr>
          <a:xfrm>
            <a:off x="594360" y="17830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534" name="t"/>
          <p:cNvSpPr txBox="1"/>
          <p:nvPr/>
        </p:nvSpPr>
        <p:spPr>
          <a:xfrm>
            <a:off x="1234440" y="16459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535" name="t"/>
          <p:cNvSpPr txBox="1"/>
          <p:nvPr/>
        </p:nvSpPr>
        <p:spPr>
          <a:xfrm>
            <a:off x="1234440" y="19659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Booking</a:t>
            </a:r>
          </a:p>
        </p:txBody>
      </p:sp>
      <p:sp>
        <p:nvSpPr>
          <p:cNvPr id="536" name="t"/>
          <p:cNvSpPr txBox="1"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API-based booking</a:t>
            </a:r>
          </a:p>
        </p:txBody>
      </p:sp>
      <p:sp>
        <p:nvSpPr>
          <p:cNvPr id="537" name="r"/>
          <p:cNvSpPr/>
          <p:nvPr/>
        </p:nvSpPr>
        <p:spPr>
          <a:xfrm>
            <a:off x="365760" y="3145536"/>
            <a:ext cx="21945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" name="s"/>
          <p:cNvSpPr/>
          <p:nvPr/>
        </p:nvSpPr>
        <p:spPr>
          <a:xfrm>
            <a:off x="2679192" y="1371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39" name="r"/>
          <p:cNvSpPr/>
          <p:nvPr/>
        </p:nvSpPr>
        <p:spPr>
          <a:xfrm>
            <a:off x="2679192" y="13716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" name="r"/>
          <p:cNvSpPr/>
          <p:nvPr/>
        </p:nvSpPr>
        <p:spPr>
          <a:xfrm>
            <a:off x="2679192" y="1920240"/>
            <a:ext cx="219456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" name="c"/>
          <p:cNvSpPr/>
          <p:nvPr/>
        </p:nvSpPr>
        <p:spPr>
          <a:xfrm>
            <a:off x="2907792" y="16916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" name="t"/>
          <p:cNvSpPr txBox="1"/>
          <p:nvPr/>
        </p:nvSpPr>
        <p:spPr>
          <a:xfrm>
            <a:off x="2907792" y="17830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/>
              </a:rPr>
              <a:t>02</a:t>
            </a:r>
          </a:p>
        </p:txBody>
      </p:sp>
      <p:sp>
        <p:nvSpPr>
          <p:cNvPr id="543" name="t"/>
          <p:cNvSpPr txBox="1"/>
          <p:nvPr/>
        </p:nvSpPr>
        <p:spPr>
          <a:xfrm>
            <a:off x="3547872" y="16459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44" name="t"/>
          <p:cNvSpPr txBox="1"/>
          <p:nvPr/>
        </p:nvSpPr>
        <p:spPr>
          <a:xfrm>
            <a:off x="3547872" y="19659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545" name="t"/>
          <p:cNvSpPr txBox="1"/>
          <p:nvPr/>
        </p:nvSpPr>
        <p:spPr>
          <a:xfrm>
            <a:off x="2862072" y="26517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Buy accessories</a:t>
            </a:r>
          </a:p>
        </p:txBody>
      </p:sp>
      <p:sp>
        <p:nvSpPr>
          <p:cNvPr id="546" name="r"/>
          <p:cNvSpPr/>
          <p:nvPr/>
        </p:nvSpPr>
        <p:spPr>
          <a:xfrm>
            <a:off x="2679192" y="3145536"/>
            <a:ext cx="21945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" name="s"/>
          <p:cNvSpPr/>
          <p:nvPr/>
        </p:nvSpPr>
        <p:spPr>
          <a:xfrm>
            <a:off x="4992624" y="1371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48" name="r"/>
          <p:cNvSpPr/>
          <p:nvPr/>
        </p:nvSpPr>
        <p:spPr>
          <a:xfrm>
            <a:off x="4992624" y="13716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" name="r"/>
          <p:cNvSpPr/>
          <p:nvPr/>
        </p:nvSpPr>
        <p:spPr>
          <a:xfrm>
            <a:off x="4992624" y="1920240"/>
            <a:ext cx="21945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" name="c"/>
          <p:cNvSpPr/>
          <p:nvPr/>
        </p:nvSpPr>
        <p:spPr>
          <a:xfrm>
            <a:off x="5221224" y="16916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" name="t"/>
          <p:cNvSpPr txBox="1"/>
          <p:nvPr/>
        </p:nvSpPr>
        <p:spPr>
          <a:xfrm>
            <a:off x="5221224" y="17830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552" name="t"/>
          <p:cNvSpPr txBox="1"/>
          <p:nvPr/>
        </p:nvSpPr>
        <p:spPr>
          <a:xfrm>
            <a:off x="5861304" y="16459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Live GPS</a:t>
            </a:r>
          </a:p>
        </p:txBody>
      </p:sp>
      <p:sp>
        <p:nvSpPr>
          <p:cNvPr id="553" name="t"/>
          <p:cNvSpPr txBox="1"/>
          <p:nvPr/>
        </p:nvSpPr>
        <p:spPr>
          <a:xfrm>
            <a:off x="5861304" y="19659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Tracking</a:t>
            </a:r>
          </a:p>
        </p:txBody>
      </p:sp>
      <p:sp>
        <p:nvSpPr>
          <p:cNvPr id="554" name="t"/>
          <p:cNvSpPr txBox="1"/>
          <p:nvPr/>
        </p:nvSpPr>
        <p:spPr>
          <a:xfrm>
            <a:off x="5175504" y="26517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5s update intervals</a:t>
            </a:r>
          </a:p>
        </p:txBody>
      </p:sp>
      <p:sp>
        <p:nvSpPr>
          <p:cNvPr id="555" name="r"/>
          <p:cNvSpPr/>
          <p:nvPr/>
        </p:nvSpPr>
        <p:spPr>
          <a:xfrm>
            <a:off x="4992624" y="3145536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6" name="s"/>
          <p:cNvSpPr/>
          <p:nvPr/>
        </p:nvSpPr>
        <p:spPr>
          <a:xfrm>
            <a:off x="7306056" y="1371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57" name="r"/>
          <p:cNvSpPr/>
          <p:nvPr/>
        </p:nvSpPr>
        <p:spPr>
          <a:xfrm>
            <a:off x="7306056" y="13716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58" name="r"/>
          <p:cNvSpPr/>
          <p:nvPr/>
        </p:nvSpPr>
        <p:spPr>
          <a:xfrm>
            <a:off x="7306056" y="1920240"/>
            <a:ext cx="219456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59" name="c"/>
          <p:cNvSpPr/>
          <p:nvPr/>
        </p:nvSpPr>
        <p:spPr>
          <a:xfrm>
            <a:off x="7534656" y="16916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0" name="t"/>
          <p:cNvSpPr txBox="1"/>
          <p:nvPr/>
        </p:nvSpPr>
        <p:spPr>
          <a:xfrm>
            <a:off x="7534656" y="17830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/>
              </a:rPr>
              <a:t>04</a:t>
            </a:r>
          </a:p>
        </p:txBody>
      </p:sp>
      <p:sp>
        <p:nvSpPr>
          <p:cNvPr id="561" name="t"/>
          <p:cNvSpPr txBox="1"/>
          <p:nvPr/>
        </p:nvSpPr>
        <p:spPr>
          <a:xfrm>
            <a:off x="8174736" y="16459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562" name="t"/>
          <p:cNvSpPr txBox="1"/>
          <p:nvPr/>
        </p:nvSpPr>
        <p:spPr>
          <a:xfrm>
            <a:off x="8174736" y="19659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Chat</a:t>
            </a:r>
          </a:p>
        </p:txBody>
      </p:sp>
      <p:sp>
        <p:nvSpPr>
          <p:cNvPr id="563" name="t"/>
          <p:cNvSpPr txBox="1"/>
          <p:nvPr/>
        </p:nvSpPr>
        <p:spPr>
          <a:xfrm>
            <a:off x="7488936" y="26517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Customer-Agent msg</a:t>
            </a:r>
          </a:p>
        </p:txBody>
      </p:sp>
      <p:sp>
        <p:nvSpPr>
          <p:cNvPr id="564" name="r"/>
          <p:cNvSpPr/>
          <p:nvPr/>
        </p:nvSpPr>
        <p:spPr>
          <a:xfrm>
            <a:off x="7306056" y="3145536"/>
            <a:ext cx="21945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" name="s"/>
          <p:cNvSpPr/>
          <p:nvPr/>
        </p:nvSpPr>
        <p:spPr>
          <a:xfrm>
            <a:off x="9619488" y="1371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66" name="r"/>
          <p:cNvSpPr/>
          <p:nvPr/>
        </p:nvSpPr>
        <p:spPr>
          <a:xfrm>
            <a:off x="9619488" y="13716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" name="r"/>
          <p:cNvSpPr/>
          <p:nvPr/>
        </p:nvSpPr>
        <p:spPr>
          <a:xfrm>
            <a:off x="9619488" y="1920240"/>
            <a:ext cx="219456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" name="c"/>
          <p:cNvSpPr/>
          <p:nvPr/>
        </p:nvSpPr>
        <p:spPr>
          <a:xfrm>
            <a:off x="9848088" y="16916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" name="t"/>
          <p:cNvSpPr txBox="1"/>
          <p:nvPr/>
        </p:nvSpPr>
        <p:spPr>
          <a:xfrm>
            <a:off x="9848088" y="17830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/>
              </a:rPr>
              <a:t>05</a:t>
            </a:r>
          </a:p>
        </p:txBody>
      </p:sp>
      <p:sp>
        <p:nvSpPr>
          <p:cNvPr id="570" name="t"/>
          <p:cNvSpPr txBox="1"/>
          <p:nvPr/>
        </p:nvSpPr>
        <p:spPr>
          <a:xfrm>
            <a:off x="10488168" y="16459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Crisis</a:t>
            </a:r>
          </a:p>
        </p:txBody>
      </p:sp>
      <p:sp>
        <p:nvSpPr>
          <p:cNvPr id="571" name="t"/>
          <p:cNvSpPr txBox="1"/>
          <p:nvPr/>
        </p:nvSpPr>
        <p:spPr>
          <a:xfrm>
            <a:off x="10488168" y="19659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Engine</a:t>
            </a:r>
          </a:p>
        </p:txBody>
      </p:sp>
      <p:sp>
        <p:nvSpPr>
          <p:cNvPr id="572" name="t"/>
          <p:cNvSpPr txBox="1"/>
          <p:nvPr/>
        </p:nvSpPr>
        <p:spPr>
          <a:xfrm>
            <a:off x="9802368" y="26517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Emergency priority</a:t>
            </a:r>
          </a:p>
        </p:txBody>
      </p:sp>
      <p:sp>
        <p:nvSpPr>
          <p:cNvPr id="573" name="r"/>
          <p:cNvSpPr/>
          <p:nvPr/>
        </p:nvSpPr>
        <p:spPr>
          <a:xfrm>
            <a:off x="9619488" y="3145536"/>
            <a:ext cx="21945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" name="s"/>
          <p:cNvSpPr/>
          <p:nvPr/>
        </p:nvSpPr>
        <p:spPr>
          <a:xfrm>
            <a:off x="365760" y="34290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75" name="r"/>
          <p:cNvSpPr/>
          <p:nvPr/>
        </p:nvSpPr>
        <p:spPr>
          <a:xfrm>
            <a:off x="365760" y="34290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" name="r"/>
          <p:cNvSpPr/>
          <p:nvPr/>
        </p:nvSpPr>
        <p:spPr>
          <a:xfrm>
            <a:off x="365760" y="3977640"/>
            <a:ext cx="2194560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" name="c"/>
          <p:cNvSpPr/>
          <p:nvPr/>
        </p:nvSpPr>
        <p:spPr>
          <a:xfrm>
            <a:off x="594360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" name="t"/>
          <p:cNvSpPr txBox="1"/>
          <p:nvPr/>
        </p:nvSpPr>
        <p:spPr>
          <a:xfrm>
            <a:off x="594360" y="38404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579" name="t"/>
          <p:cNvSpPr txBox="1"/>
          <p:nvPr/>
        </p:nvSpPr>
        <p:spPr>
          <a:xfrm>
            <a:off x="1234440" y="3703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580" name="t"/>
          <p:cNvSpPr txBox="1"/>
          <p:nvPr/>
        </p:nvSpPr>
        <p:spPr>
          <a:xfrm>
            <a:off x="1234440" y="40233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581" name="t"/>
          <p:cNvSpPr txBox="1"/>
          <p:nvPr/>
        </p:nvSpPr>
        <p:spPr>
          <a:xfrm>
            <a:off x="548640" y="47091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Warehouse tracking</a:t>
            </a:r>
          </a:p>
        </p:txBody>
      </p:sp>
      <p:sp>
        <p:nvSpPr>
          <p:cNvPr id="582" name="r"/>
          <p:cNvSpPr/>
          <p:nvPr/>
        </p:nvSpPr>
        <p:spPr>
          <a:xfrm>
            <a:off x="365760" y="5202936"/>
            <a:ext cx="21945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" name="s"/>
          <p:cNvSpPr/>
          <p:nvPr/>
        </p:nvSpPr>
        <p:spPr>
          <a:xfrm>
            <a:off x="2679192" y="34290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84" name="r"/>
          <p:cNvSpPr/>
          <p:nvPr/>
        </p:nvSpPr>
        <p:spPr>
          <a:xfrm>
            <a:off x="2679192" y="34290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" name="r"/>
          <p:cNvSpPr/>
          <p:nvPr/>
        </p:nvSpPr>
        <p:spPr>
          <a:xfrm>
            <a:off x="2679192" y="3977640"/>
            <a:ext cx="219456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" name="c"/>
          <p:cNvSpPr/>
          <p:nvPr/>
        </p:nvSpPr>
        <p:spPr>
          <a:xfrm>
            <a:off x="2907792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" name="t"/>
          <p:cNvSpPr txBox="1"/>
          <p:nvPr/>
        </p:nvSpPr>
        <p:spPr>
          <a:xfrm>
            <a:off x="2907792" y="38404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1E40AF"/>
                </a:solidFill>
                <a:latin typeface="Calibri"/>
              </a:rPr>
              <a:t>07</a:t>
            </a:r>
          </a:p>
        </p:txBody>
      </p:sp>
      <p:sp>
        <p:nvSpPr>
          <p:cNvPr id="588" name="t"/>
          <p:cNvSpPr txBox="1"/>
          <p:nvPr/>
        </p:nvSpPr>
        <p:spPr>
          <a:xfrm>
            <a:off x="3547872" y="3703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JWT +</a:t>
            </a:r>
          </a:p>
        </p:txBody>
      </p:sp>
      <p:sp>
        <p:nvSpPr>
          <p:cNvPr id="589" name="t"/>
          <p:cNvSpPr txBox="1"/>
          <p:nvPr/>
        </p:nvSpPr>
        <p:spPr>
          <a:xfrm>
            <a:off x="3547872" y="40233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RBAC</a:t>
            </a:r>
          </a:p>
        </p:txBody>
      </p:sp>
      <p:sp>
        <p:nvSpPr>
          <p:cNvPr id="590" name="t"/>
          <p:cNvSpPr txBox="1"/>
          <p:nvPr/>
        </p:nvSpPr>
        <p:spPr>
          <a:xfrm>
            <a:off x="2862072" y="47091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Role-based access</a:t>
            </a:r>
          </a:p>
        </p:txBody>
      </p:sp>
      <p:sp>
        <p:nvSpPr>
          <p:cNvPr id="591" name="r"/>
          <p:cNvSpPr/>
          <p:nvPr/>
        </p:nvSpPr>
        <p:spPr>
          <a:xfrm>
            <a:off x="2679192" y="5202936"/>
            <a:ext cx="219456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2" name="s"/>
          <p:cNvSpPr/>
          <p:nvPr/>
        </p:nvSpPr>
        <p:spPr>
          <a:xfrm>
            <a:off x="4992624" y="34290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593" name="r"/>
          <p:cNvSpPr/>
          <p:nvPr/>
        </p:nvSpPr>
        <p:spPr>
          <a:xfrm>
            <a:off x="4992624" y="34290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4" name="r"/>
          <p:cNvSpPr/>
          <p:nvPr/>
        </p:nvSpPr>
        <p:spPr>
          <a:xfrm>
            <a:off x="4992624" y="3977640"/>
            <a:ext cx="2194560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5" name="c"/>
          <p:cNvSpPr/>
          <p:nvPr/>
        </p:nvSpPr>
        <p:spPr>
          <a:xfrm>
            <a:off x="5221224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6" name="t"/>
          <p:cNvSpPr txBox="1"/>
          <p:nvPr/>
        </p:nvSpPr>
        <p:spPr>
          <a:xfrm>
            <a:off x="5221224" y="38404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alibri"/>
              </a:rPr>
              <a:t>08</a:t>
            </a:r>
          </a:p>
        </p:txBody>
      </p:sp>
      <p:sp>
        <p:nvSpPr>
          <p:cNvPr id="597" name="t"/>
          <p:cNvSpPr txBox="1"/>
          <p:nvPr/>
        </p:nvSpPr>
        <p:spPr>
          <a:xfrm>
            <a:off x="5861304" y="3703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Multi-channel</a:t>
            </a:r>
          </a:p>
        </p:txBody>
      </p:sp>
      <p:sp>
        <p:nvSpPr>
          <p:cNvPr id="598" name="t"/>
          <p:cNvSpPr txBox="1"/>
          <p:nvPr/>
        </p:nvSpPr>
        <p:spPr>
          <a:xfrm>
            <a:off x="5861304" y="40233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Notify</a:t>
            </a:r>
          </a:p>
        </p:txBody>
      </p:sp>
      <p:sp>
        <p:nvSpPr>
          <p:cNvPr id="599" name="t"/>
          <p:cNvSpPr txBox="1"/>
          <p:nvPr/>
        </p:nvSpPr>
        <p:spPr>
          <a:xfrm>
            <a:off x="5175504" y="47091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SMS/Email/Push</a:t>
            </a:r>
          </a:p>
        </p:txBody>
      </p:sp>
      <p:sp>
        <p:nvSpPr>
          <p:cNvPr id="600" name="r"/>
          <p:cNvSpPr/>
          <p:nvPr/>
        </p:nvSpPr>
        <p:spPr>
          <a:xfrm>
            <a:off x="4992624" y="5202936"/>
            <a:ext cx="21945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" name="s"/>
          <p:cNvSpPr/>
          <p:nvPr/>
        </p:nvSpPr>
        <p:spPr>
          <a:xfrm>
            <a:off x="7306056" y="34290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02" name="r"/>
          <p:cNvSpPr/>
          <p:nvPr/>
        </p:nvSpPr>
        <p:spPr>
          <a:xfrm>
            <a:off x="7306056" y="34290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" name="r"/>
          <p:cNvSpPr/>
          <p:nvPr/>
        </p:nvSpPr>
        <p:spPr>
          <a:xfrm>
            <a:off x="7306056" y="3977640"/>
            <a:ext cx="2194560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" name="c"/>
          <p:cNvSpPr/>
          <p:nvPr/>
        </p:nvSpPr>
        <p:spPr>
          <a:xfrm>
            <a:off x="7534656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" name="t"/>
          <p:cNvSpPr txBox="1"/>
          <p:nvPr/>
        </p:nvSpPr>
        <p:spPr>
          <a:xfrm>
            <a:off x="7534656" y="38404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EA580C"/>
                </a:solidFill>
                <a:latin typeface="Calibri"/>
              </a:rPr>
              <a:t>09</a:t>
            </a:r>
          </a:p>
        </p:txBody>
      </p:sp>
      <p:sp>
        <p:nvSpPr>
          <p:cNvPr id="606" name="t"/>
          <p:cNvSpPr txBox="1"/>
          <p:nvPr/>
        </p:nvSpPr>
        <p:spPr>
          <a:xfrm>
            <a:off x="8174736" y="3703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Swagger</a:t>
            </a:r>
          </a:p>
        </p:txBody>
      </p:sp>
      <p:sp>
        <p:nvSpPr>
          <p:cNvPr id="607" name="t"/>
          <p:cNvSpPr txBox="1"/>
          <p:nvPr/>
        </p:nvSpPr>
        <p:spPr>
          <a:xfrm>
            <a:off x="8174736" y="40233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API Docs</a:t>
            </a:r>
          </a:p>
        </p:txBody>
      </p:sp>
      <p:sp>
        <p:nvSpPr>
          <p:cNvPr id="608" name="t"/>
          <p:cNvSpPr txBox="1"/>
          <p:nvPr/>
        </p:nvSpPr>
        <p:spPr>
          <a:xfrm>
            <a:off x="7488936" y="47091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Interactive testing</a:t>
            </a:r>
          </a:p>
        </p:txBody>
      </p:sp>
      <p:sp>
        <p:nvSpPr>
          <p:cNvPr id="609" name="r"/>
          <p:cNvSpPr/>
          <p:nvPr/>
        </p:nvSpPr>
        <p:spPr>
          <a:xfrm>
            <a:off x="7306056" y="5202936"/>
            <a:ext cx="21945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" name="s"/>
          <p:cNvSpPr/>
          <p:nvPr/>
        </p:nvSpPr>
        <p:spPr>
          <a:xfrm>
            <a:off x="9619488" y="34290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11" name="r"/>
          <p:cNvSpPr/>
          <p:nvPr/>
        </p:nvSpPr>
        <p:spPr>
          <a:xfrm>
            <a:off x="9619488" y="342900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228B22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" name="r"/>
          <p:cNvSpPr/>
          <p:nvPr/>
        </p:nvSpPr>
        <p:spPr>
          <a:xfrm>
            <a:off x="9619488" y="3977640"/>
            <a:ext cx="2194560" cy="54864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" name="c"/>
          <p:cNvSpPr/>
          <p:nvPr/>
        </p:nvSpPr>
        <p:spPr>
          <a:xfrm>
            <a:off x="9848088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" name="t"/>
          <p:cNvSpPr txBox="1"/>
          <p:nvPr/>
        </p:nvSpPr>
        <p:spPr>
          <a:xfrm>
            <a:off x="9848088" y="3840480"/>
            <a:ext cx="50292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228B22"/>
                </a:solidFill>
                <a:latin typeface="Calibri"/>
              </a:rPr>
              <a:t>10</a:t>
            </a:r>
          </a:p>
        </p:txBody>
      </p:sp>
      <p:sp>
        <p:nvSpPr>
          <p:cNvPr id="615" name="t"/>
          <p:cNvSpPr txBox="1"/>
          <p:nvPr/>
        </p:nvSpPr>
        <p:spPr>
          <a:xfrm>
            <a:off x="10488168" y="370332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Docker +</a:t>
            </a:r>
          </a:p>
        </p:txBody>
      </p:sp>
      <p:sp>
        <p:nvSpPr>
          <p:cNvPr id="616" name="t"/>
          <p:cNvSpPr txBox="1"/>
          <p:nvPr/>
        </p:nvSpPr>
        <p:spPr>
          <a:xfrm>
            <a:off x="10488168" y="4023360"/>
            <a:ext cx="1371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K8s</a:t>
            </a:r>
          </a:p>
        </p:txBody>
      </p:sp>
      <p:sp>
        <p:nvSpPr>
          <p:cNvPr id="617" name="t"/>
          <p:cNvSpPr txBox="1"/>
          <p:nvPr/>
        </p:nvSpPr>
        <p:spPr>
          <a:xfrm>
            <a:off x="9802368" y="4709160"/>
            <a:ext cx="18288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Production deploy</a:t>
            </a:r>
          </a:p>
        </p:txBody>
      </p:sp>
      <p:sp>
        <p:nvSpPr>
          <p:cNvPr id="618" name="r"/>
          <p:cNvSpPr/>
          <p:nvPr/>
        </p:nvSpPr>
        <p:spPr>
          <a:xfrm>
            <a:off x="9619488" y="5202936"/>
            <a:ext cx="2194560" cy="54864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" name="s"/>
          <p:cNvSpPr/>
          <p:nvPr/>
        </p:nvSpPr>
        <p:spPr>
          <a:xfrm>
            <a:off x="365760" y="557784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0B1739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20" name="r"/>
          <p:cNvSpPr/>
          <p:nvPr/>
        </p:nvSpPr>
        <p:spPr>
          <a:xfrm>
            <a:off x="365760" y="5577840"/>
            <a:ext cx="11430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" name="c"/>
          <p:cNvSpPr/>
          <p:nvPr/>
        </p:nvSpPr>
        <p:spPr>
          <a:xfrm>
            <a:off x="548640" y="585216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" name="t"/>
          <p:cNvSpPr txBox="1"/>
          <p:nvPr/>
        </p:nvSpPr>
        <p:spPr>
          <a:xfrm>
            <a:off x="548640" y="5943600"/>
            <a:ext cx="548640" cy="4114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23" name="t"/>
          <p:cNvSpPr txBox="1"/>
          <p:nvPr/>
        </p:nvSpPr>
        <p:spPr>
          <a:xfrm>
            <a:off x="1280160" y="5742432"/>
            <a:ext cx="4572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FBBF24"/>
                </a:solidFill>
                <a:latin typeface="Calibri"/>
              </a:rPr>
              <a:t>DELIVERY MANAGEMENT</a:t>
            </a:r>
          </a:p>
        </p:txBody>
      </p:sp>
      <p:sp>
        <p:nvSpPr>
          <p:cNvPr id="624" name="t"/>
          <p:cNvSpPr txBox="1"/>
          <p:nvPr/>
        </p:nvSpPr>
        <p:spPr>
          <a:xfrm>
            <a:off x="1280160" y="6080760"/>
            <a:ext cx="5486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C8D2E0"/>
                </a:solidFill>
                <a:latin typeface="Calibri"/>
              </a:rPr>
              <a:t>End-to-end delivery lifecycle: assignment, tracking, verification &amp; proof</a:t>
            </a:r>
          </a:p>
        </p:txBody>
      </p:sp>
      <p:sp>
        <p:nvSpPr>
          <p:cNvPr id="625" name="t"/>
          <p:cNvSpPr txBox="1"/>
          <p:nvPr/>
        </p:nvSpPr>
        <p:spPr>
          <a:xfrm>
            <a:off x="1280160" y="6355080"/>
            <a:ext cx="5486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Real-time GPS via Socket.IO  |  /delivery/:orderId/route API  |  OTP verify @ delivery</a:t>
            </a:r>
          </a:p>
        </p:txBody>
      </p:sp>
      <p:sp>
        <p:nvSpPr>
          <p:cNvPr id="626" name="s"/>
          <p:cNvSpPr/>
          <p:nvPr/>
        </p:nvSpPr>
        <p:spPr>
          <a:xfrm>
            <a:off x="6949440" y="5961888"/>
            <a:ext cx="868680" cy="292608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Agent Assign</a:t>
            </a:r>
          </a:p>
        </p:txBody>
      </p:sp>
      <p:sp>
        <p:nvSpPr>
          <p:cNvPr id="627" name="s"/>
          <p:cNvSpPr/>
          <p:nvPr/>
        </p:nvSpPr>
        <p:spPr>
          <a:xfrm>
            <a:off x="7863840" y="5961888"/>
            <a:ext cx="868680" cy="292608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Live GPS</a:t>
            </a:r>
          </a:p>
        </p:txBody>
      </p:sp>
      <p:sp>
        <p:nvSpPr>
          <p:cNvPr id="628" name="s"/>
          <p:cNvSpPr/>
          <p:nvPr/>
        </p:nvSpPr>
        <p:spPr>
          <a:xfrm>
            <a:off x="8778240" y="5961888"/>
            <a:ext cx="868680" cy="292608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OTP Verify</a:t>
            </a:r>
          </a:p>
        </p:txBody>
      </p:sp>
      <p:sp>
        <p:nvSpPr>
          <p:cNvPr id="629" name="s"/>
          <p:cNvSpPr/>
          <p:nvPr/>
        </p:nvSpPr>
        <p:spPr>
          <a:xfrm>
            <a:off x="9692640" y="5961888"/>
            <a:ext cx="868680" cy="292608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Photo Proof</a:t>
            </a:r>
          </a:p>
        </p:txBody>
      </p:sp>
      <p:sp>
        <p:nvSpPr>
          <p:cNvPr id="630" name="s"/>
          <p:cNvSpPr/>
          <p:nvPr/>
        </p:nvSpPr>
        <p:spPr>
          <a:xfrm>
            <a:off x="10607040" y="5961888"/>
            <a:ext cx="868680" cy="292608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Route + ETA</a:t>
            </a:r>
          </a:p>
        </p:txBody>
      </p:sp>
      <p:sp>
        <p:nvSpPr>
          <p:cNvPr id="631" name="t"/>
          <p:cNvSpPr txBox="1"/>
          <p:nvPr/>
        </p:nvSpPr>
        <p:spPr>
          <a:xfrm>
            <a:off x="6949440" y="6355080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5-second GPS interval  |  Socket.IO rooms per order  |  Order timeline tracking</a:t>
            </a:r>
          </a:p>
        </p:txBody>
      </p:sp>
      <p:sp>
        <p:nvSpPr>
          <p:cNvPr id="632" name="t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07</a:t>
            </a:r>
          </a:p>
        </p:txBody>
      </p:sp>
    </p:spTree>
  </p:cSld>
  <p:transition spd="med">
    <p:push dir="l"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4" name="r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" name="r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" name="t"/>
          <p:cNvSpPr txBox="1"/>
          <p:nvPr/>
        </p:nvSpPr>
        <p:spPr>
          <a:xfrm>
            <a:off x="457200" y="228600"/>
            <a:ext cx="1828800" cy="7315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4400" b="1" dirty="0">
                <a:solidFill>
                  <a:srgbClr val="F97316"/>
                </a:solidFill>
                <a:latin typeface="Calibri"/>
              </a:rPr>
              <a:t>08</a:t>
            </a:r>
          </a:p>
        </p:txBody>
      </p:sp>
      <p:sp>
        <p:nvSpPr>
          <p:cNvPr id="637" name="t"/>
          <p:cNvSpPr txBox="1"/>
          <p:nvPr/>
        </p:nvSpPr>
        <p:spPr>
          <a:xfrm>
            <a:off x="1371600" y="274320"/>
            <a:ext cx="9144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DATA MODEL</a:t>
            </a:r>
          </a:p>
        </p:txBody>
      </p:sp>
      <p:sp>
        <p:nvSpPr>
          <p:cNvPr id="638" name="t"/>
          <p:cNvSpPr txBox="1"/>
          <p:nvPr/>
        </p:nvSpPr>
        <p:spPr>
          <a:xfrm>
            <a:off x="1371600" y="640080"/>
            <a:ext cx="91440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Database Design &amp; ER Diagram</a:t>
            </a:r>
          </a:p>
        </p:txBody>
      </p:sp>
      <p:sp>
        <p:nvSpPr>
          <p:cNvPr id="639" name="ps"/>
          <p:cNvSpPr/>
          <p:nvPr/>
        </p:nvSpPr>
        <p:spPr>
          <a:xfrm>
            <a:off x="365760" y="1554480"/>
            <a:ext cx="822960" cy="822960"/>
          </a:xfrm>
          <a:prstGeom prst="can">
            <a:avLst/>
          </a:prstGeom>
          <a:solidFill>
            <a:srgbClr val="1E40AF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640" name="r"/>
          <p:cNvSpPr/>
          <p:nvPr/>
        </p:nvSpPr>
        <p:spPr>
          <a:xfrm>
            <a:off x="1234440" y="155448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" name="t"/>
          <p:cNvSpPr txBox="1"/>
          <p:nvPr/>
        </p:nvSpPr>
        <p:spPr>
          <a:xfrm>
            <a:off x="1234440" y="1673352"/>
            <a:ext cx="1874519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642" name="s"/>
          <p:cNvSpPr/>
          <p:nvPr/>
        </p:nvSpPr>
        <p:spPr>
          <a:xfrm>
            <a:off x="365760" y="24231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43" name="r"/>
          <p:cNvSpPr/>
          <p:nvPr/>
        </p:nvSpPr>
        <p:spPr>
          <a:xfrm>
            <a:off x="365760" y="2423160"/>
            <a:ext cx="54864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" name="t"/>
          <p:cNvSpPr txBox="1"/>
          <p:nvPr/>
        </p:nvSpPr>
        <p:spPr>
          <a:xfrm>
            <a:off x="548640" y="2468880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_id, name, email</a:t>
            </a:r>
          </a:p>
        </p:txBody>
      </p:sp>
      <p:sp>
        <p:nvSpPr>
          <p:cNvPr id="645" name="t"/>
          <p:cNvSpPr txBox="1"/>
          <p:nvPr/>
        </p:nvSpPr>
        <p:spPr>
          <a:xfrm>
            <a:off x="548640" y="2715768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role, phone</a:t>
            </a:r>
          </a:p>
        </p:txBody>
      </p:sp>
      <p:sp>
        <p:nvSpPr>
          <p:cNvPr id="646" name="t"/>
          <p:cNvSpPr txBox="1"/>
          <p:nvPr/>
        </p:nvSpPr>
        <p:spPr>
          <a:xfrm>
            <a:off x="548640" y="2962656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addresses</a:t>
            </a:r>
          </a:p>
        </p:txBody>
      </p:sp>
      <p:sp>
        <p:nvSpPr>
          <p:cNvPr id="647" name="t"/>
          <p:cNvSpPr txBox="1"/>
          <p:nvPr/>
        </p:nvSpPr>
        <p:spPr>
          <a:xfrm>
            <a:off x="548640" y="3209544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isOnDuty, kyc</a:t>
            </a:r>
          </a:p>
        </p:txBody>
      </p:sp>
      <p:sp>
        <p:nvSpPr>
          <p:cNvPr id="648" name="ps"/>
          <p:cNvSpPr/>
          <p:nvPr/>
        </p:nvSpPr>
        <p:spPr>
          <a:xfrm>
            <a:off x="4206240" y="1554480"/>
            <a:ext cx="822960" cy="822960"/>
          </a:xfrm>
          <a:prstGeom prst="can">
            <a:avLst/>
          </a:prstGeom>
          <a:solidFill>
            <a:srgbClr val="F97316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649" name="r"/>
          <p:cNvSpPr/>
          <p:nvPr/>
        </p:nvSpPr>
        <p:spPr>
          <a:xfrm>
            <a:off x="5074920" y="155448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" name="t"/>
          <p:cNvSpPr txBox="1"/>
          <p:nvPr/>
        </p:nvSpPr>
        <p:spPr>
          <a:xfrm>
            <a:off x="5074920" y="1673352"/>
            <a:ext cx="1874519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651" name="s"/>
          <p:cNvSpPr/>
          <p:nvPr/>
        </p:nvSpPr>
        <p:spPr>
          <a:xfrm>
            <a:off x="4206240" y="24231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52" name="r"/>
          <p:cNvSpPr/>
          <p:nvPr/>
        </p:nvSpPr>
        <p:spPr>
          <a:xfrm>
            <a:off x="4206240" y="2423160"/>
            <a:ext cx="54864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" name="t"/>
          <p:cNvSpPr txBox="1"/>
          <p:nvPr/>
        </p:nvSpPr>
        <p:spPr>
          <a:xfrm>
            <a:off x="4389120" y="2468880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orderId, customerId</a:t>
            </a:r>
          </a:p>
        </p:txBody>
      </p:sp>
      <p:sp>
        <p:nvSpPr>
          <p:cNvPr id="654" name="t"/>
          <p:cNvSpPr txBox="1"/>
          <p:nvPr/>
        </p:nvSpPr>
        <p:spPr>
          <a:xfrm>
            <a:off x="4389120" y="2715768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agentId, warehouseId</a:t>
            </a:r>
          </a:p>
        </p:txBody>
      </p:sp>
      <p:sp>
        <p:nvSpPr>
          <p:cNvPr id="655" name="t"/>
          <p:cNvSpPr txBox="1"/>
          <p:nvPr/>
        </p:nvSpPr>
        <p:spPr>
          <a:xfrm>
            <a:off x="4389120" y="2962656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status, count</a:t>
            </a:r>
          </a:p>
        </p:txBody>
      </p:sp>
      <p:sp>
        <p:nvSpPr>
          <p:cNvPr id="656" name="t"/>
          <p:cNvSpPr txBox="1"/>
          <p:nvPr/>
        </p:nvSpPr>
        <p:spPr>
          <a:xfrm>
            <a:off x="4389120" y="3209544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timeline, priority</a:t>
            </a:r>
          </a:p>
        </p:txBody>
      </p:sp>
      <p:sp>
        <p:nvSpPr>
          <p:cNvPr id="657" name="ps"/>
          <p:cNvSpPr/>
          <p:nvPr/>
        </p:nvSpPr>
        <p:spPr>
          <a:xfrm>
            <a:off x="8046720" y="1554480"/>
            <a:ext cx="822960" cy="822960"/>
          </a:xfrm>
          <a:prstGeom prst="can">
            <a:avLst/>
          </a:prstGeom>
          <a:solidFill>
            <a:srgbClr val="10B981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658" name="r"/>
          <p:cNvSpPr/>
          <p:nvPr/>
        </p:nvSpPr>
        <p:spPr>
          <a:xfrm>
            <a:off x="8915400" y="155448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" name="t"/>
          <p:cNvSpPr txBox="1"/>
          <p:nvPr/>
        </p:nvSpPr>
        <p:spPr>
          <a:xfrm>
            <a:off x="8915400" y="1673352"/>
            <a:ext cx="1874519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660" name="s"/>
          <p:cNvSpPr/>
          <p:nvPr/>
        </p:nvSpPr>
        <p:spPr>
          <a:xfrm>
            <a:off x="8046720" y="24231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61" name="r"/>
          <p:cNvSpPr/>
          <p:nvPr/>
        </p:nvSpPr>
        <p:spPr>
          <a:xfrm>
            <a:off x="8046720" y="2423160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2" name="t"/>
          <p:cNvSpPr txBox="1"/>
          <p:nvPr/>
        </p:nvSpPr>
        <p:spPr>
          <a:xfrm>
            <a:off x="8229600" y="2468880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warehouseId, name</a:t>
            </a:r>
          </a:p>
        </p:txBody>
      </p:sp>
      <p:sp>
        <p:nvSpPr>
          <p:cNvPr id="663" name="t"/>
          <p:cNvSpPr txBox="1"/>
          <p:nvPr/>
        </p:nvSpPr>
        <p:spPr>
          <a:xfrm>
            <a:off x="8229600" y="2715768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totalCylinders</a:t>
            </a:r>
          </a:p>
        </p:txBody>
      </p:sp>
      <p:sp>
        <p:nvSpPr>
          <p:cNvPr id="664" name="t"/>
          <p:cNvSpPr txBox="1"/>
          <p:nvPr/>
        </p:nvSpPr>
        <p:spPr>
          <a:xfrm>
            <a:off x="8229600" y="2962656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available</a:t>
            </a:r>
          </a:p>
        </p:txBody>
      </p:sp>
      <p:sp>
        <p:nvSpPr>
          <p:cNvPr id="665" name="t"/>
          <p:cNvSpPr txBox="1"/>
          <p:nvPr/>
        </p:nvSpPr>
        <p:spPr>
          <a:xfrm>
            <a:off x="8229600" y="3209544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location, active</a:t>
            </a:r>
          </a:p>
        </p:txBody>
      </p:sp>
      <p:sp>
        <p:nvSpPr>
          <p:cNvPr id="666" name="ps"/>
          <p:cNvSpPr/>
          <p:nvPr/>
        </p:nvSpPr>
        <p:spPr>
          <a:xfrm>
            <a:off x="365760" y="4389120"/>
            <a:ext cx="822960" cy="822960"/>
          </a:xfrm>
          <a:prstGeom prst="can">
            <a:avLst/>
          </a:prstGeom>
          <a:solidFill>
            <a:srgbClr val="8B5CF6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667" name="r"/>
          <p:cNvSpPr/>
          <p:nvPr/>
        </p:nvSpPr>
        <p:spPr>
          <a:xfrm>
            <a:off x="1234440" y="438912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68" name="t"/>
          <p:cNvSpPr txBox="1"/>
          <p:nvPr/>
        </p:nvSpPr>
        <p:spPr>
          <a:xfrm>
            <a:off x="1234440" y="4507992"/>
            <a:ext cx="1874519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CHAT MESSAGE</a:t>
            </a:r>
          </a:p>
        </p:txBody>
      </p:sp>
      <p:sp>
        <p:nvSpPr>
          <p:cNvPr id="669" name="s"/>
          <p:cNvSpPr/>
          <p:nvPr/>
        </p:nvSpPr>
        <p:spPr>
          <a:xfrm>
            <a:off x="365760" y="525780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70" name="r"/>
          <p:cNvSpPr/>
          <p:nvPr/>
        </p:nvSpPr>
        <p:spPr>
          <a:xfrm>
            <a:off x="365760" y="525780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71" name="t"/>
          <p:cNvSpPr txBox="1"/>
          <p:nvPr/>
        </p:nvSpPr>
        <p:spPr>
          <a:xfrm>
            <a:off x="548640" y="5303520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messageId, roomId</a:t>
            </a:r>
          </a:p>
        </p:txBody>
      </p:sp>
      <p:sp>
        <p:nvSpPr>
          <p:cNvPr id="672" name="t"/>
          <p:cNvSpPr txBox="1"/>
          <p:nvPr/>
        </p:nvSpPr>
        <p:spPr>
          <a:xfrm>
            <a:off x="548640" y="5550408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senderId, role</a:t>
            </a:r>
          </a:p>
        </p:txBody>
      </p:sp>
      <p:sp>
        <p:nvSpPr>
          <p:cNvPr id="673" name="t"/>
          <p:cNvSpPr txBox="1"/>
          <p:nvPr/>
        </p:nvSpPr>
        <p:spPr>
          <a:xfrm>
            <a:off x="548640" y="5797296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content, type</a:t>
            </a:r>
          </a:p>
        </p:txBody>
      </p:sp>
      <p:sp>
        <p:nvSpPr>
          <p:cNvPr id="674" name="t"/>
          <p:cNvSpPr txBox="1"/>
          <p:nvPr/>
        </p:nvSpPr>
        <p:spPr>
          <a:xfrm>
            <a:off x="548640" y="6044184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status, mediaUrl</a:t>
            </a:r>
          </a:p>
        </p:txBody>
      </p:sp>
      <p:sp>
        <p:nvSpPr>
          <p:cNvPr id="675" name="ps"/>
          <p:cNvSpPr/>
          <p:nvPr/>
        </p:nvSpPr>
        <p:spPr>
          <a:xfrm>
            <a:off x="4206240" y="4389120"/>
            <a:ext cx="822960" cy="822960"/>
          </a:xfrm>
          <a:prstGeom prst="can">
            <a:avLst/>
          </a:prstGeom>
          <a:solidFill>
            <a:srgbClr val="EF4444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676" name="r"/>
          <p:cNvSpPr/>
          <p:nvPr/>
        </p:nvSpPr>
        <p:spPr>
          <a:xfrm>
            <a:off x="5074920" y="438912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" name="t"/>
          <p:cNvSpPr txBox="1"/>
          <p:nvPr/>
        </p:nvSpPr>
        <p:spPr>
          <a:xfrm>
            <a:off x="5074920" y="4507992"/>
            <a:ext cx="1874519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678" name="s"/>
          <p:cNvSpPr/>
          <p:nvPr/>
        </p:nvSpPr>
        <p:spPr>
          <a:xfrm>
            <a:off x="4206240" y="525780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79" name="r"/>
          <p:cNvSpPr/>
          <p:nvPr/>
        </p:nvSpPr>
        <p:spPr>
          <a:xfrm>
            <a:off x="4206240" y="5257800"/>
            <a:ext cx="54864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" name="t"/>
          <p:cNvSpPr txBox="1"/>
          <p:nvPr/>
        </p:nvSpPr>
        <p:spPr>
          <a:xfrm>
            <a:off x="4389120" y="5303520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orderId, agentId</a:t>
            </a:r>
          </a:p>
        </p:txBody>
      </p:sp>
      <p:sp>
        <p:nvSpPr>
          <p:cNvPr id="681" name="t"/>
          <p:cNvSpPr txBox="1"/>
          <p:nvPr/>
        </p:nvSpPr>
        <p:spPr>
          <a:xfrm>
            <a:off x="4389120" y="5550408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lat, lng, time</a:t>
            </a:r>
          </a:p>
        </p:txBody>
      </p:sp>
      <p:sp>
        <p:nvSpPr>
          <p:cNvPr id="682" name="t"/>
          <p:cNvSpPr txBox="1"/>
          <p:nvPr/>
        </p:nvSpPr>
        <p:spPr>
          <a:xfrm>
            <a:off x="4389120" y="5797296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ETA, route</a:t>
            </a:r>
          </a:p>
        </p:txBody>
      </p:sp>
      <p:sp>
        <p:nvSpPr>
          <p:cNvPr id="683" name="t"/>
          <p:cNvSpPr txBox="1"/>
          <p:nvPr/>
        </p:nvSpPr>
        <p:spPr>
          <a:xfrm>
            <a:off x="4389120" y="6044184"/>
            <a:ext cx="24688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GPS tracking</a:t>
            </a:r>
          </a:p>
        </p:txBody>
      </p:sp>
      <p:cxnSp>
        <p:nvCxnSpPr>
          <p:cNvPr id="684" name="ln"/>
          <p:cNvCxnSpPr/>
          <p:nvPr/>
        </p:nvCxnSpPr>
        <p:spPr>
          <a:xfrm flipH="0" flipV="0">
            <a:off x="3108960" y="1828800"/>
            <a:ext cx="1097280" cy="1"/>
          </a:xfrm>
          <a:prstGeom prst="line">
            <a:avLst/>
          </a:prstGeom>
          <a:ln w="20000">
            <a:solidFill>
              <a:srgbClr val="F97316"/>
            </a:solidFill>
          </a:ln>
        </p:spPr>
      </p:cxnSp>
      <p:sp>
        <p:nvSpPr>
          <p:cNvPr id="685" name="c"/>
          <p:cNvSpPr/>
          <p:nvPr/>
        </p:nvSpPr>
        <p:spPr>
          <a:xfrm>
            <a:off x="3520440" y="169164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" name="t"/>
          <p:cNvSpPr txBox="1"/>
          <p:nvPr/>
        </p:nvSpPr>
        <p:spPr>
          <a:xfrm>
            <a:off x="3520440" y="1737360"/>
            <a:ext cx="2743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0B1739"/>
                </a:solidFill>
                <a:latin typeface="Calibri"/>
              </a:rPr>
              <a:t>1:N</a:t>
            </a:r>
          </a:p>
        </p:txBody>
      </p:sp>
      <p:cxnSp>
        <p:nvCxnSpPr>
          <p:cNvPr id="687" name="ln"/>
          <p:cNvCxnSpPr/>
          <p:nvPr/>
        </p:nvCxnSpPr>
        <p:spPr>
          <a:xfrm flipH="0" flipV="0">
            <a:off x="6949440" y="1828800"/>
            <a:ext cx="1097280" cy="1"/>
          </a:xfrm>
          <a:prstGeom prst="line">
            <a:avLst/>
          </a:prstGeom>
          <a:ln w="20000">
            <a:solidFill>
              <a:srgbClr val="F97316"/>
            </a:solidFill>
          </a:ln>
        </p:spPr>
      </p:cxnSp>
      <p:sp>
        <p:nvSpPr>
          <p:cNvPr id="688" name="c"/>
          <p:cNvSpPr/>
          <p:nvPr/>
        </p:nvSpPr>
        <p:spPr>
          <a:xfrm>
            <a:off x="7360920" y="169164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" name="t"/>
          <p:cNvSpPr txBox="1"/>
          <p:nvPr/>
        </p:nvSpPr>
        <p:spPr>
          <a:xfrm>
            <a:off x="7360920" y="1737360"/>
            <a:ext cx="2743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0B1739"/>
                </a:solidFill>
                <a:latin typeface="Calibri"/>
              </a:rPr>
              <a:t>N:1</a:t>
            </a:r>
          </a:p>
        </p:txBody>
      </p:sp>
      <p:cxnSp>
        <p:nvCxnSpPr>
          <p:cNvPr id="690" name="ln"/>
          <p:cNvCxnSpPr/>
          <p:nvPr/>
        </p:nvCxnSpPr>
        <p:spPr>
          <a:xfrm flipH="0" flipV="0">
            <a:off x="1691640" y="3611880"/>
            <a:ext cx="1" cy="777240"/>
          </a:xfrm>
          <a:prstGeom prst="line">
            <a:avLst/>
          </a:prstGeom>
          <a:ln w="20000">
            <a:solidFill>
              <a:srgbClr val="F97316"/>
            </a:solidFill>
          </a:ln>
        </p:spPr>
      </p:cxnSp>
      <p:sp>
        <p:nvSpPr>
          <p:cNvPr id="691" name="c"/>
          <p:cNvSpPr/>
          <p:nvPr/>
        </p:nvSpPr>
        <p:spPr>
          <a:xfrm>
            <a:off x="1554480" y="388620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" name="t"/>
          <p:cNvSpPr txBox="1"/>
          <p:nvPr/>
        </p:nvSpPr>
        <p:spPr>
          <a:xfrm>
            <a:off x="1554480" y="3931920"/>
            <a:ext cx="2743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0B1739"/>
                </a:solidFill>
                <a:latin typeface="Calibri"/>
              </a:rPr>
              <a:t>1:N</a:t>
            </a:r>
          </a:p>
        </p:txBody>
      </p:sp>
      <p:cxnSp>
        <p:nvCxnSpPr>
          <p:cNvPr id="693" name="ln"/>
          <p:cNvCxnSpPr/>
          <p:nvPr/>
        </p:nvCxnSpPr>
        <p:spPr>
          <a:xfrm flipH="0" flipV="0">
            <a:off x="5532120" y="3611880"/>
            <a:ext cx="1" cy="777240"/>
          </a:xfrm>
          <a:prstGeom prst="line">
            <a:avLst/>
          </a:prstGeom>
          <a:ln w="20000">
            <a:solidFill>
              <a:srgbClr val="F97316"/>
            </a:solidFill>
          </a:ln>
        </p:spPr>
      </p:cxnSp>
      <p:sp>
        <p:nvSpPr>
          <p:cNvPr id="694" name="c"/>
          <p:cNvSpPr/>
          <p:nvPr/>
        </p:nvSpPr>
        <p:spPr>
          <a:xfrm>
            <a:off x="5394960" y="388620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" name="t"/>
          <p:cNvSpPr txBox="1"/>
          <p:nvPr/>
        </p:nvSpPr>
        <p:spPr>
          <a:xfrm>
            <a:off x="5394960" y="3931920"/>
            <a:ext cx="2743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0B1739"/>
                </a:solidFill>
                <a:latin typeface="Calibri"/>
              </a:rPr>
              <a:t>1:1</a:t>
            </a:r>
          </a:p>
        </p:txBody>
      </p:sp>
      <p:sp>
        <p:nvSpPr>
          <p:cNvPr id="696" name="s"/>
          <p:cNvSpPr/>
          <p:nvPr/>
        </p:nvSpPr>
        <p:spPr>
          <a:xfrm>
            <a:off x="8046720" y="43891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0B1739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697" name="r"/>
          <p:cNvSpPr/>
          <p:nvPr/>
        </p:nvSpPr>
        <p:spPr>
          <a:xfrm>
            <a:off x="8046720" y="4389120"/>
            <a:ext cx="36576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" name="ps"/>
          <p:cNvSpPr/>
          <p:nvPr/>
        </p:nvSpPr>
        <p:spPr>
          <a:xfrm>
            <a:off x="8183879" y="4937760"/>
            <a:ext cx="457200" cy="457200"/>
          </a:xfrm>
          <a:prstGeom prst="can">
            <a:avLst/>
          </a:prstGeom>
          <a:solidFill>
            <a:srgbClr val="FBBF24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699" name="t"/>
          <p:cNvSpPr txBox="1"/>
          <p:nvPr/>
        </p:nvSpPr>
        <p:spPr>
          <a:xfrm>
            <a:off x="8732520" y="4983480"/>
            <a:ext cx="292608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RELATIONSHIPS</a:t>
            </a:r>
          </a:p>
        </p:txBody>
      </p:sp>
      <p:sp>
        <p:nvSpPr>
          <p:cNvPr id="700" name="t"/>
          <p:cNvSpPr txBox="1"/>
          <p:nvPr/>
        </p:nvSpPr>
        <p:spPr>
          <a:xfrm>
            <a:off x="8183879" y="5440680"/>
            <a:ext cx="34747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User (1) -&gt; (N) Orders</a:t>
            </a:r>
          </a:p>
        </p:txBody>
      </p:sp>
      <p:sp>
        <p:nvSpPr>
          <p:cNvPr id="701" name="t"/>
          <p:cNvSpPr txBox="1"/>
          <p:nvPr/>
        </p:nvSpPr>
        <p:spPr>
          <a:xfrm>
            <a:off x="8183879" y="5669280"/>
            <a:ext cx="34747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User (1) -&gt; (N) Orders [agent]</a:t>
            </a:r>
          </a:p>
        </p:txBody>
      </p:sp>
      <p:sp>
        <p:nvSpPr>
          <p:cNvPr id="702" name="t"/>
          <p:cNvSpPr txBox="1"/>
          <p:nvPr/>
        </p:nvSpPr>
        <p:spPr>
          <a:xfrm>
            <a:off x="8183879" y="5897880"/>
            <a:ext cx="34747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Inventory (1) -&gt; (N) Orders</a:t>
            </a:r>
          </a:p>
        </p:txBody>
      </p:sp>
      <p:sp>
        <p:nvSpPr>
          <p:cNvPr id="703" name="t"/>
          <p:cNvSpPr txBox="1"/>
          <p:nvPr/>
        </p:nvSpPr>
        <p:spPr>
          <a:xfrm>
            <a:off x="8183879" y="6126480"/>
            <a:ext cx="34747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Order (1) -&gt; (N) ChatMessages</a:t>
            </a:r>
          </a:p>
        </p:txBody>
      </p:sp>
      <p:sp>
        <p:nvSpPr>
          <p:cNvPr id="704" name="t"/>
          <p:cNvSpPr txBox="1"/>
          <p:nvPr/>
        </p:nvSpPr>
        <p:spPr>
          <a:xfrm>
            <a:off x="8183879" y="6355080"/>
            <a:ext cx="347472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Order (1) -&gt; (1) Delivery</a:t>
            </a:r>
          </a:p>
        </p:txBody>
      </p:sp>
      <p:sp>
        <p:nvSpPr>
          <p:cNvPr id="705" name="t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08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" name="r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" name="r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" name="t"/>
          <p:cNvSpPr txBox="1"/>
          <p:nvPr/>
        </p:nvSpPr>
        <p:spPr>
          <a:xfrm>
            <a:off x="457200" y="228600"/>
            <a:ext cx="1828800" cy="7315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4400" b="1" dirty="0">
                <a:solidFill>
                  <a:srgbClr val="F97316"/>
                </a:solidFill>
                <a:latin typeface="Calibri"/>
              </a:rPr>
              <a:t>09</a:t>
            </a:r>
          </a:p>
        </p:txBody>
      </p:sp>
      <p:sp>
        <p:nvSpPr>
          <p:cNvPr id="710" name="t"/>
          <p:cNvSpPr txBox="1"/>
          <p:nvPr/>
        </p:nvSpPr>
        <p:spPr>
          <a:xfrm>
            <a:off x="1371600" y="274320"/>
            <a:ext cx="9144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EXECUTION &amp; PROTECTION</a:t>
            </a:r>
          </a:p>
        </p:txBody>
      </p:sp>
      <p:sp>
        <p:nvSpPr>
          <p:cNvPr id="711" name="t"/>
          <p:cNvSpPr txBox="1"/>
          <p:nvPr/>
        </p:nvSpPr>
        <p:spPr>
          <a:xfrm>
            <a:off x="1371600" y="640080"/>
            <a:ext cx="91440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Demo &amp; Security</a:t>
            </a:r>
          </a:p>
        </p:txBody>
      </p:sp>
      <p:sp>
        <p:nvSpPr>
          <p:cNvPr id="712" name="t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EXECUTION DEMO</a:t>
            </a:r>
          </a:p>
        </p:txBody>
      </p:sp>
      <p:sp>
        <p:nvSpPr>
          <p:cNvPr id="713" name="r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14" name="ps"/>
          <p:cNvSpPr/>
          <p:nvPr/>
        </p:nvSpPr>
        <p:spPr>
          <a:xfrm>
            <a:off x="457200" y="1691640"/>
            <a:ext cx="1828800" cy="3291840"/>
          </a:xfrm>
          <a:prstGeom prst="roundRect">
            <a:avLst/>
          </a:prstGeom>
          <a:solidFill>
            <a:srgbClr val="060E26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715" name="ps"/>
          <p:cNvSpPr/>
          <p:nvPr/>
        </p:nvSpPr>
        <p:spPr>
          <a:xfrm>
            <a:off x="566928" y="1954987"/>
            <a:ext cx="1609344" cy="2567635"/>
          </a:xfrm>
          <a:prstGeom prst="rect">
            <a:avLst/>
          </a:prstGeom>
          <a:gradFill flip="none" rotWithShape="1">
            <a:gsLst>
              <a:gs pos="0">
                <a:srgbClr val="3B82F6"/>
              </a:gs>
              <a:gs pos="100000">
                <a:srgbClr val="1E40AF"/>
              </a:gs>
            </a:gsLst>
            <a:lin ang="27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716" name="ps"/>
          <p:cNvSpPr/>
          <p:nvPr/>
        </p:nvSpPr>
        <p:spPr>
          <a:xfrm>
            <a:off x="1051560" y="1741640"/>
            <a:ext cx="640080" cy="80000"/>
          </a:xfrm>
          <a:prstGeom prst="roundRect">
            <a:avLst/>
          </a:prstGeom>
          <a:solidFill>
            <a:srgbClr val="060E26"/>
          </a:solidFill>
          <a:ln>
            <a:noFill/>
          </a:ln>
        </p:spPr>
        <p:txBody>
          <a:bodyPr/>
          <a:lstStyle/>
          <a:p/>
        </p:txBody>
      </p:sp>
      <p:sp>
        <p:nvSpPr>
          <p:cNvPr id="717" name="ps"/>
          <p:cNvSpPr/>
          <p:nvPr/>
        </p:nvSpPr>
        <p:spPr>
          <a:xfrm>
            <a:off x="1311600" y="1761640"/>
            <a:ext cx="120000" cy="3000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8" name="ps"/>
          <p:cNvSpPr/>
          <p:nvPr/>
        </p:nvSpPr>
        <p:spPr>
          <a:xfrm>
            <a:off x="1171600" y="4883480"/>
            <a:ext cx="400000" cy="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9" name="r"/>
          <p:cNvSpPr/>
          <p:nvPr/>
        </p:nvSpPr>
        <p:spPr>
          <a:xfrm>
            <a:off x="594360" y="2057400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0" name="t"/>
          <p:cNvSpPr txBox="1"/>
          <p:nvPr/>
        </p:nvSpPr>
        <p:spPr>
          <a:xfrm>
            <a:off x="594360" y="2148840"/>
            <a:ext cx="15544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0B1739"/>
                </a:solidFill>
                <a:latin typeface="Calibri"/>
              </a:rPr>
              <a:t>CYLINDER</a:t>
            </a:r>
          </a:p>
        </p:txBody>
      </p:sp>
      <p:sp>
        <p:nvSpPr>
          <p:cNvPr id="721" name="t"/>
          <p:cNvSpPr txBox="1"/>
          <p:nvPr/>
        </p:nvSpPr>
        <p:spPr>
          <a:xfrm>
            <a:off x="594360" y="2331720"/>
            <a:ext cx="15544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700" b="1" dirty="0">
                <a:solidFill>
                  <a:srgbClr val="0B1739"/>
                </a:solidFill>
                <a:latin typeface="Calibri"/>
              </a:rPr>
              <a:t>BOOKING APP</a:t>
            </a:r>
          </a:p>
        </p:txBody>
      </p:sp>
      <p:sp>
        <p:nvSpPr>
          <p:cNvPr id="722" name="r"/>
          <p:cNvSpPr/>
          <p:nvPr/>
        </p:nvSpPr>
        <p:spPr>
          <a:xfrm>
            <a:off x="594360" y="2697480"/>
            <a:ext cx="1554480" cy="411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" name="r"/>
          <p:cNvSpPr/>
          <p:nvPr/>
        </p:nvSpPr>
        <p:spPr>
          <a:xfrm>
            <a:off x="594360" y="2697480"/>
            <a:ext cx="457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" name="t"/>
          <p:cNvSpPr txBox="1"/>
          <p:nvPr/>
        </p:nvSpPr>
        <p:spPr>
          <a:xfrm>
            <a:off x="713232" y="2743200"/>
            <a:ext cx="13716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0B1739"/>
                </a:solidFill>
                <a:latin typeface="Calibri"/>
              </a:rPr>
              <a:t>Order #1001</a:t>
            </a:r>
          </a:p>
        </p:txBody>
      </p:sp>
      <p:sp>
        <p:nvSpPr>
          <p:cNvPr id="725" name="t"/>
          <p:cNvSpPr txBox="1"/>
          <p:nvPr/>
        </p:nvSpPr>
        <p:spPr>
          <a:xfrm>
            <a:off x="713232" y="2898648"/>
            <a:ext cx="13716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600" dirty="0">
                <a:solidFill>
                  <a:srgbClr val="475569"/>
                </a:solidFill>
                <a:latin typeface="Calibri"/>
              </a:rPr>
              <a:t>Domestic 14.2kg</a:t>
            </a:r>
          </a:p>
        </p:txBody>
      </p:sp>
      <p:sp>
        <p:nvSpPr>
          <p:cNvPr id="726" name="r"/>
          <p:cNvSpPr/>
          <p:nvPr/>
        </p:nvSpPr>
        <p:spPr>
          <a:xfrm>
            <a:off x="594360" y="3200400"/>
            <a:ext cx="1554480" cy="411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" name="r"/>
          <p:cNvSpPr/>
          <p:nvPr/>
        </p:nvSpPr>
        <p:spPr>
          <a:xfrm>
            <a:off x="594360" y="3200400"/>
            <a:ext cx="4572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" name="t"/>
          <p:cNvSpPr txBox="1"/>
          <p:nvPr/>
        </p:nvSpPr>
        <p:spPr>
          <a:xfrm>
            <a:off x="713232" y="3246120"/>
            <a:ext cx="13716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0B1739"/>
                </a:solidFill>
                <a:latin typeface="Calibri"/>
              </a:rPr>
              <a:t>Order #1002</a:t>
            </a:r>
          </a:p>
        </p:txBody>
      </p:sp>
      <p:sp>
        <p:nvSpPr>
          <p:cNvPr id="729" name="t"/>
          <p:cNvSpPr txBox="1"/>
          <p:nvPr/>
        </p:nvSpPr>
        <p:spPr>
          <a:xfrm>
            <a:off x="713232" y="3401568"/>
            <a:ext cx="13716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600" dirty="0">
                <a:solidFill>
                  <a:srgbClr val="475569"/>
                </a:solidFill>
                <a:latin typeface="Calibri"/>
              </a:rPr>
              <a:t>Domestic 14.2kg</a:t>
            </a:r>
          </a:p>
        </p:txBody>
      </p:sp>
      <p:sp>
        <p:nvSpPr>
          <p:cNvPr id="730" name="r"/>
          <p:cNvSpPr/>
          <p:nvPr/>
        </p:nvSpPr>
        <p:spPr>
          <a:xfrm>
            <a:off x="594360" y="3703320"/>
            <a:ext cx="1554480" cy="411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" name="r"/>
          <p:cNvSpPr/>
          <p:nvPr/>
        </p:nvSpPr>
        <p:spPr>
          <a:xfrm>
            <a:off x="594360" y="3703320"/>
            <a:ext cx="4572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" name="t"/>
          <p:cNvSpPr txBox="1"/>
          <p:nvPr/>
        </p:nvSpPr>
        <p:spPr>
          <a:xfrm>
            <a:off x="713232" y="3749040"/>
            <a:ext cx="13716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0B1739"/>
                </a:solidFill>
                <a:latin typeface="Calibri"/>
              </a:rPr>
              <a:t>Order #1003</a:t>
            </a:r>
          </a:p>
        </p:txBody>
      </p:sp>
      <p:sp>
        <p:nvSpPr>
          <p:cNvPr id="733" name="t"/>
          <p:cNvSpPr txBox="1"/>
          <p:nvPr/>
        </p:nvSpPr>
        <p:spPr>
          <a:xfrm>
            <a:off x="713232" y="3904488"/>
            <a:ext cx="13716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600" dirty="0">
                <a:solidFill>
                  <a:srgbClr val="475569"/>
                </a:solidFill>
                <a:latin typeface="Calibri"/>
              </a:rPr>
              <a:t>Domestic 14.2kg</a:t>
            </a:r>
          </a:p>
        </p:txBody>
      </p:sp>
      <p:sp>
        <p:nvSpPr>
          <p:cNvPr id="734" name="s"/>
          <p:cNvSpPr/>
          <p:nvPr/>
        </p:nvSpPr>
        <p:spPr>
          <a:xfrm>
            <a:off x="2514600" y="169164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735" name="r"/>
          <p:cNvSpPr/>
          <p:nvPr/>
        </p:nvSpPr>
        <p:spPr>
          <a:xfrm>
            <a:off x="2514600" y="1691640"/>
            <a:ext cx="3383280" cy="320040"/>
          </a:xfrm>
          <a:prstGeom prst="roundRect">
            <a:avLst>
              <a:gd name="adj" fmla="val 4000"/>
            </a:avLst>
          </a:prstGeom>
          <a:solidFill>
            <a:srgbClr val="060E26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" name="r"/>
          <p:cNvSpPr/>
          <p:nvPr/>
        </p:nvSpPr>
        <p:spPr>
          <a:xfrm>
            <a:off x="2514600" y="1874519"/>
            <a:ext cx="3383280" cy="137160"/>
          </a:xfrm>
          <a:prstGeom prst="rect">
            <a:avLst/>
          </a:prstGeom>
          <a:solidFill>
            <a:srgbClr val="060E26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" name="c"/>
          <p:cNvSpPr/>
          <p:nvPr/>
        </p:nvSpPr>
        <p:spPr>
          <a:xfrm>
            <a:off x="2606040" y="178308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" name="c"/>
          <p:cNvSpPr/>
          <p:nvPr/>
        </p:nvSpPr>
        <p:spPr>
          <a:xfrm>
            <a:off x="2743200" y="1783080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" name="c"/>
          <p:cNvSpPr/>
          <p:nvPr/>
        </p:nvSpPr>
        <p:spPr>
          <a:xfrm>
            <a:off x="2880360" y="17830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" name="t"/>
          <p:cNvSpPr txBox="1"/>
          <p:nvPr/>
        </p:nvSpPr>
        <p:spPr>
          <a:xfrm>
            <a:off x="3108960" y="1783080"/>
            <a:ext cx="27432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admin/dashboard</a:t>
            </a:r>
          </a:p>
        </p:txBody>
      </p:sp>
      <p:sp>
        <p:nvSpPr>
          <p:cNvPr id="741" name="s"/>
          <p:cNvSpPr/>
          <p:nvPr/>
        </p:nvSpPr>
        <p:spPr>
          <a:xfrm>
            <a:off x="2606040" y="2194560"/>
            <a:ext cx="960120" cy="64008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742" name="t"/>
          <p:cNvSpPr txBox="1"/>
          <p:nvPr/>
        </p:nvSpPr>
        <p:spPr>
          <a:xfrm>
            <a:off x="2697480" y="2286000"/>
            <a:ext cx="8686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743" name="t"/>
          <p:cNvSpPr txBox="1"/>
          <p:nvPr/>
        </p:nvSpPr>
        <p:spPr>
          <a:xfrm>
            <a:off x="2697480" y="2606040"/>
            <a:ext cx="8686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744" name="s"/>
          <p:cNvSpPr/>
          <p:nvPr/>
        </p:nvSpPr>
        <p:spPr>
          <a:xfrm>
            <a:off x="3657600" y="2194560"/>
            <a:ext cx="960120" cy="640080"/>
          </a:xfrm>
          <a:prstGeom prst="roundRect">
            <a:avLst>
              <a:gd name="adj" fmla="val 3000"/>
            </a:avLst>
          </a:prstGeom>
          <a:solidFill>
            <a:srgbClr val="F97316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745" name="t"/>
          <p:cNvSpPr txBox="1"/>
          <p:nvPr/>
        </p:nvSpPr>
        <p:spPr>
          <a:xfrm>
            <a:off x="3749040" y="2286000"/>
            <a:ext cx="8686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746" name="t"/>
          <p:cNvSpPr txBox="1"/>
          <p:nvPr/>
        </p:nvSpPr>
        <p:spPr>
          <a:xfrm>
            <a:off x="3749040" y="2606040"/>
            <a:ext cx="8686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Agents</a:t>
            </a:r>
          </a:p>
        </p:txBody>
      </p:sp>
      <p:sp>
        <p:nvSpPr>
          <p:cNvPr id="747" name="s"/>
          <p:cNvSpPr/>
          <p:nvPr/>
        </p:nvSpPr>
        <p:spPr>
          <a:xfrm>
            <a:off x="4709160" y="2194560"/>
            <a:ext cx="960120" cy="640080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748" name="t"/>
          <p:cNvSpPr txBox="1"/>
          <p:nvPr/>
        </p:nvSpPr>
        <p:spPr>
          <a:xfrm>
            <a:off x="4800600" y="2286000"/>
            <a:ext cx="868680" cy="32004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98%</a:t>
            </a:r>
          </a:p>
        </p:txBody>
      </p:sp>
      <p:sp>
        <p:nvSpPr>
          <p:cNvPr id="749" name="t"/>
          <p:cNvSpPr txBox="1"/>
          <p:nvPr/>
        </p:nvSpPr>
        <p:spPr>
          <a:xfrm>
            <a:off x="4800600" y="2606040"/>
            <a:ext cx="8686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750" name="r"/>
          <p:cNvSpPr/>
          <p:nvPr/>
        </p:nvSpPr>
        <p:spPr>
          <a:xfrm>
            <a:off x="2606040" y="2971800"/>
            <a:ext cx="3154680" cy="1005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" name="r"/>
          <p:cNvSpPr/>
          <p:nvPr/>
        </p:nvSpPr>
        <p:spPr>
          <a:xfrm>
            <a:off x="2697480" y="3611880"/>
            <a:ext cx="292608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" name="r"/>
          <p:cNvSpPr/>
          <p:nvPr/>
        </p:nvSpPr>
        <p:spPr>
          <a:xfrm>
            <a:off x="3108960" y="3355848"/>
            <a:ext cx="292608" cy="5760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" name="r"/>
          <p:cNvSpPr/>
          <p:nvPr/>
        </p:nvSpPr>
        <p:spPr>
          <a:xfrm>
            <a:off x="3520440" y="3547872"/>
            <a:ext cx="29260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" name="r"/>
          <p:cNvSpPr/>
          <p:nvPr/>
        </p:nvSpPr>
        <p:spPr>
          <a:xfrm>
            <a:off x="3931920" y="3227832"/>
            <a:ext cx="292608" cy="7040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" name="r"/>
          <p:cNvSpPr/>
          <p:nvPr/>
        </p:nvSpPr>
        <p:spPr>
          <a:xfrm>
            <a:off x="4343400" y="3419856"/>
            <a:ext cx="292608" cy="5120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" name="r"/>
          <p:cNvSpPr/>
          <p:nvPr/>
        </p:nvSpPr>
        <p:spPr>
          <a:xfrm>
            <a:off x="4754880" y="3163824"/>
            <a:ext cx="292608" cy="7680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" name="r"/>
          <p:cNvSpPr/>
          <p:nvPr/>
        </p:nvSpPr>
        <p:spPr>
          <a:xfrm>
            <a:off x="5166360" y="3291840"/>
            <a:ext cx="292608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58" name="c"/>
          <p:cNvSpPr/>
          <p:nvPr/>
        </p:nvSpPr>
        <p:spPr>
          <a:xfrm>
            <a:off x="594360" y="43434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59" name="t"/>
          <p:cNvSpPr txBox="1"/>
          <p:nvPr/>
        </p:nvSpPr>
        <p:spPr>
          <a:xfrm>
            <a:off x="594360" y="4416552"/>
            <a:ext cx="3657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60" name="t"/>
          <p:cNvSpPr txBox="1"/>
          <p:nvPr/>
        </p:nvSpPr>
        <p:spPr>
          <a:xfrm>
            <a:off x="1097280" y="4297680"/>
            <a:ext cx="2286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0B1739"/>
                </a:solidFill>
                <a:latin typeface="Calibri"/>
              </a:rPr>
              <a:t>Mobile App</a:t>
            </a:r>
          </a:p>
        </p:txBody>
      </p:sp>
      <p:sp>
        <p:nvSpPr>
          <p:cNvPr id="761" name="t"/>
          <p:cNvSpPr txBox="1"/>
          <p:nvPr/>
        </p:nvSpPr>
        <p:spPr>
          <a:xfrm>
            <a:off x="1097280" y="4572000"/>
            <a:ext cx="2286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iOS / Android</a:t>
            </a:r>
          </a:p>
        </p:txBody>
      </p:sp>
      <p:sp>
        <p:nvSpPr>
          <p:cNvPr id="762" name="ps"/>
          <p:cNvSpPr/>
          <p:nvPr/>
        </p:nvSpPr>
        <p:spPr>
          <a:xfrm>
            <a:off x="3977640" y="438912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763" name="ps"/>
          <p:cNvSpPr/>
          <p:nvPr/>
        </p:nvSpPr>
        <p:spPr>
          <a:xfrm>
            <a:off x="4046220" y="4613440"/>
            <a:ext cx="137160" cy="109728"/>
          </a:xfrm>
          <a:prstGeom prst="triangl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64" name="ps"/>
          <p:cNvSpPr/>
          <p:nvPr/>
        </p:nvSpPr>
        <p:spPr>
          <a:xfrm>
            <a:off x="4059936" y="44714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5" name="c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66" name="t"/>
          <p:cNvSpPr txBox="1"/>
          <p:nvPr/>
        </p:nvSpPr>
        <p:spPr>
          <a:xfrm>
            <a:off x="594360" y="4919472"/>
            <a:ext cx="3657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67" name="t"/>
          <p:cNvSpPr txBox="1"/>
          <p:nvPr/>
        </p:nvSpPr>
        <p:spPr>
          <a:xfrm>
            <a:off x="1097280" y="4800600"/>
            <a:ext cx="2286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0B1739"/>
                </a:solidFill>
                <a:latin typeface="Calibri"/>
              </a:rPr>
              <a:t>Admin Panel</a:t>
            </a:r>
          </a:p>
        </p:txBody>
      </p:sp>
      <p:sp>
        <p:nvSpPr>
          <p:cNvPr id="768" name="t"/>
          <p:cNvSpPr txBox="1"/>
          <p:nvPr/>
        </p:nvSpPr>
        <p:spPr>
          <a:xfrm>
            <a:off x="1097280" y="5074920"/>
            <a:ext cx="2286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Order management</a:t>
            </a:r>
          </a:p>
        </p:txBody>
      </p:sp>
      <p:sp>
        <p:nvSpPr>
          <p:cNvPr id="769" name="c"/>
          <p:cNvSpPr/>
          <p:nvPr/>
        </p:nvSpPr>
        <p:spPr>
          <a:xfrm>
            <a:off x="594360" y="534924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" name="t"/>
          <p:cNvSpPr txBox="1"/>
          <p:nvPr/>
        </p:nvSpPr>
        <p:spPr>
          <a:xfrm>
            <a:off x="594360" y="5422392"/>
            <a:ext cx="3657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1" name="t"/>
          <p:cNvSpPr txBox="1"/>
          <p:nvPr/>
        </p:nvSpPr>
        <p:spPr>
          <a:xfrm>
            <a:off x="1097280" y="5303520"/>
            <a:ext cx="2286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0B1739"/>
                </a:solidFill>
                <a:latin typeface="Calibri"/>
              </a:rPr>
              <a:t>API Docs</a:t>
            </a:r>
          </a:p>
        </p:txBody>
      </p:sp>
      <p:sp>
        <p:nvSpPr>
          <p:cNvPr id="772" name="t"/>
          <p:cNvSpPr txBox="1"/>
          <p:nvPr/>
        </p:nvSpPr>
        <p:spPr>
          <a:xfrm>
            <a:off x="1097280" y="5577840"/>
            <a:ext cx="2286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Swagger UI</a:t>
            </a:r>
          </a:p>
        </p:txBody>
      </p:sp>
      <p:sp>
        <p:nvSpPr>
          <p:cNvPr id="773" name="t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SECURITY ARCHITECTURE</a:t>
            </a:r>
          </a:p>
        </p:txBody>
      </p:sp>
      <p:sp>
        <p:nvSpPr>
          <p:cNvPr id="774" name="r"/>
          <p:cNvSpPr/>
          <p:nvPr/>
        </p:nvSpPr>
        <p:spPr>
          <a:xfrm>
            <a:off x="6400800" y="1554480"/>
            <a:ext cx="731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" name="ps"/>
          <p:cNvSpPr/>
          <p:nvPr/>
        </p:nvSpPr>
        <p:spPr>
          <a:xfrm>
            <a:off x="10424160" y="1691640"/>
            <a:ext cx="914400" cy="914400"/>
          </a:xfrm>
          <a:prstGeom prst="homePlate">
            <a:avLst/>
          </a:prstGeom>
          <a:solidFill>
            <a:srgbClr val="F97316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776" name="t"/>
          <p:cNvSpPr txBox="1"/>
          <p:nvPr/>
        </p:nvSpPr>
        <p:spPr>
          <a:xfrm>
            <a:off x="10424160" y="1965960"/>
            <a:ext cx="9144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777" name="s"/>
          <p:cNvSpPr/>
          <p:nvPr/>
        </p:nvSpPr>
        <p:spPr>
          <a:xfrm>
            <a:off x="6400800" y="1691640"/>
            <a:ext cx="3931920" cy="4754880"/>
          </a:xfrm>
          <a:prstGeom prst="roundRect">
            <a:avLst>
              <a:gd name="adj" fmla="val 8000"/>
            </a:avLst>
          </a:prstGeom>
          <a:solidFill>
            <a:srgbClr val="0B1739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778" name="r"/>
          <p:cNvSpPr/>
          <p:nvPr/>
        </p:nvSpPr>
        <p:spPr>
          <a:xfrm>
            <a:off x="6400800" y="1691640"/>
            <a:ext cx="393192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" name="t"/>
          <p:cNvSpPr txBox="1"/>
          <p:nvPr/>
        </p:nvSpPr>
        <p:spPr>
          <a:xfrm>
            <a:off x="6583680" y="1920240"/>
            <a:ext cx="3657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MULTI-LAYER</a:t>
            </a:r>
          </a:p>
        </p:txBody>
      </p:sp>
      <p:sp>
        <p:nvSpPr>
          <p:cNvPr id="780" name="t"/>
          <p:cNvSpPr txBox="1"/>
          <p:nvPr/>
        </p:nvSpPr>
        <p:spPr>
          <a:xfrm>
            <a:off x="6583680" y="2194560"/>
            <a:ext cx="3657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PROTECTION</a:t>
            </a:r>
          </a:p>
        </p:txBody>
      </p:sp>
      <p:sp>
        <p:nvSpPr>
          <p:cNvPr id="781" name="r"/>
          <p:cNvSpPr/>
          <p:nvPr/>
        </p:nvSpPr>
        <p:spPr>
          <a:xfrm>
            <a:off x="6583680" y="269748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" name="ps"/>
          <p:cNvSpPr/>
          <p:nvPr/>
        </p:nvSpPr>
        <p:spPr>
          <a:xfrm>
            <a:off x="6720840" y="2788920"/>
            <a:ext cx="320040" cy="457200"/>
          </a:xfrm>
          <a:prstGeom prst="lightningBol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" name="t"/>
          <p:cNvSpPr txBox="1"/>
          <p:nvPr/>
        </p:nvSpPr>
        <p:spPr>
          <a:xfrm>
            <a:off x="7132320" y="269748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BBF24"/>
                </a:solidFill>
                <a:latin typeface="Calibri"/>
              </a:rPr>
              <a:t>JWT AUTH</a:t>
            </a:r>
          </a:p>
        </p:txBody>
      </p:sp>
      <p:sp>
        <p:nvSpPr>
          <p:cNvPr id="784" name="t"/>
          <p:cNvSpPr txBox="1"/>
          <p:nvPr/>
        </p:nvSpPr>
        <p:spPr>
          <a:xfrm>
            <a:off x="7132320" y="297180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Access (15min) + Refresh</a:t>
            </a:r>
          </a:p>
        </p:txBody>
      </p:sp>
      <p:sp>
        <p:nvSpPr>
          <p:cNvPr id="785" name="t"/>
          <p:cNvSpPr txBox="1"/>
          <p:nvPr/>
        </p:nvSpPr>
        <p:spPr>
          <a:xfrm>
            <a:off x="7132320" y="320040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Token rotation enabled</a:t>
            </a:r>
          </a:p>
        </p:txBody>
      </p:sp>
      <p:sp>
        <p:nvSpPr>
          <p:cNvPr id="786" name="r"/>
          <p:cNvSpPr/>
          <p:nvPr/>
        </p:nvSpPr>
        <p:spPr>
          <a:xfrm>
            <a:off x="6583680" y="3611880"/>
            <a:ext cx="54864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" name="ps"/>
          <p:cNvSpPr/>
          <p:nvPr/>
        </p:nvSpPr>
        <p:spPr>
          <a:xfrm>
            <a:off x="6720840" y="3703320"/>
            <a:ext cx="320040" cy="457200"/>
          </a:xfrm>
          <a:prstGeom prst="lightningBol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" name="t"/>
          <p:cNvSpPr txBox="1"/>
          <p:nvPr/>
        </p:nvSpPr>
        <p:spPr>
          <a:xfrm>
            <a:off x="7132320" y="361188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BBF24"/>
                </a:solidFill>
                <a:latin typeface="Calibri"/>
              </a:rPr>
              <a:t>RATE LIMIT</a:t>
            </a:r>
          </a:p>
        </p:txBody>
      </p:sp>
      <p:sp>
        <p:nvSpPr>
          <p:cNvPr id="789" name="t"/>
          <p:cNvSpPr txBox="1"/>
          <p:nvPr/>
        </p:nvSpPr>
        <p:spPr>
          <a:xfrm>
            <a:off x="7132320" y="388620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100 req/15min global</a:t>
            </a:r>
          </a:p>
        </p:txBody>
      </p:sp>
      <p:sp>
        <p:nvSpPr>
          <p:cNvPr id="790" name="t"/>
          <p:cNvSpPr txBox="1"/>
          <p:nvPr/>
        </p:nvSpPr>
        <p:spPr>
          <a:xfrm>
            <a:off x="7132320" y="411480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10 req/15min auth</a:t>
            </a:r>
          </a:p>
        </p:txBody>
      </p:sp>
      <p:sp>
        <p:nvSpPr>
          <p:cNvPr id="791" name="r"/>
          <p:cNvSpPr/>
          <p:nvPr/>
        </p:nvSpPr>
        <p:spPr>
          <a:xfrm>
            <a:off x="6583680" y="452628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" name="ps"/>
          <p:cNvSpPr/>
          <p:nvPr/>
        </p:nvSpPr>
        <p:spPr>
          <a:xfrm>
            <a:off x="6720840" y="4617720"/>
            <a:ext cx="320040" cy="457200"/>
          </a:xfrm>
          <a:prstGeom prst="lightningBol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" name="t"/>
          <p:cNvSpPr txBox="1"/>
          <p:nvPr/>
        </p:nvSpPr>
        <p:spPr>
          <a:xfrm>
            <a:off x="7132320" y="452628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BBF24"/>
                </a:solidFill>
                <a:latin typeface="Calibri"/>
              </a:rPr>
              <a:t>ENCRYPTION</a:t>
            </a:r>
          </a:p>
        </p:txBody>
      </p:sp>
      <p:sp>
        <p:nvSpPr>
          <p:cNvPr id="794" name="t"/>
          <p:cNvSpPr txBox="1"/>
          <p:nvPr/>
        </p:nvSpPr>
        <p:spPr>
          <a:xfrm>
            <a:off x="7132320" y="480060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bcrypt 12-round hashing</a:t>
            </a:r>
          </a:p>
        </p:txBody>
      </p:sp>
      <p:sp>
        <p:nvSpPr>
          <p:cNvPr id="795" name="t"/>
          <p:cNvSpPr txBox="1"/>
          <p:nvPr/>
        </p:nvSpPr>
        <p:spPr>
          <a:xfrm>
            <a:off x="7132320" y="502920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Helmet + CSP + HTTPS</a:t>
            </a:r>
          </a:p>
        </p:txBody>
      </p:sp>
      <p:sp>
        <p:nvSpPr>
          <p:cNvPr id="796" name="r"/>
          <p:cNvSpPr/>
          <p:nvPr/>
        </p:nvSpPr>
        <p:spPr>
          <a:xfrm>
            <a:off x="6583680" y="544068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" name="ps"/>
          <p:cNvSpPr/>
          <p:nvPr/>
        </p:nvSpPr>
        <p:spPr>
          <a:xfrm>
            <a:off x="6720840" y="5532120"/>
            <a:ext cx="320040" cy="457200"/>
          </a:xfrm>
          <a:prstGeom prst="lightningBol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" name="t"/>
          <p:cNvSpPr txBox="1"/>
          <p:nvPr/>
        </p:nvSpPr>
        <p:spPr>
          <a:xfrm>
            <a:off x="7132320" y="544068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BBF24"/>
                </a:solidFill>
                <a:latin typeface="Calibri"/>
              </a:rPr>
              <a:t>RBAC</a:t>
            </a:r>
          </a:p>
        </p:txBody>
      </p:sp>
      <p:sp>
        <p:nvSpPr>
          <p:cNvPr id="799" name="t"/>
          <p:cNvSpPr txBox="1"/>
          <p:nvPr/>
        </p:nvSpPr>
        <p:spPr>
          <a:xfrm>
            <a:off x="7132320" y="571500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Admin | Customer | Agent</a:t>
            </a:r>
          </a:p>
        </p:txBody>
      </p:sp>
      <p:sp>
        <p:nvSpPr>
          <p:cNvPr id="800" name="t"/>
          <p:cNvSpPr txBox="1"/>
          <p:nvPr/>
        </p:nvSpPr>
        <p:spPr>
          <a:xfrm>
            <a:off x="7132320" y="5943600"/>
            <a:ext cx="32004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Role-scoped routes</a:t>
            </a:r>
          </a:p>
        </p:txBody>
      </p:sp>
      <p:sp>
        <p:nvSpPr>
          <p:cNvPr id="801" name="s"/>
          <p:cNvSpPr/>
          <p:nvPr/>
        </p:nvSpPr>
        <p:spPr>
          <a:xfrm>
            <a:off x="10515600" y="26974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7264C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/>
              </a:rPr>
              <a:t>Helmet</a:t>
            </a:r>
          </a:p>
        </p:txBody>
      </p:sp>
      <p:sp>
        <p:nvSpPr>
          <p:cNvPr id="802" name="s"/>
          <p:cNvSpPr/>
          <p:nvPr/>
        </p:nvSpPr>
        <p:spPr>
          <a:xfrm>
            <a:off x="10515600" y="329184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7264C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/>
              </a:rPr>
              <a:t>CORS</a:t>
            </a:r>
          </a:p>
        </p:txBody>
      </p:sp>
      <p:sp>
        <p:nvSpPr>
          <p:cNvPr id="803" name="s"/>
          <p:cNvSpPr/>
          <p:nvPr/>
        </p:nvSpPr>
        <p:spPr>
          <a:xfrm>
            <a:off x="10515600" y="38862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7264C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/>
              </a:rPr>
              <a:t>HPP</a:t>
            </a:r>
          </a:p>
        </p:txBody>
      </p:sp>
      <p:sp>
        <p:nvSpPr>
          <p:cNvPr id="804" name="s"/>
          <p:cNvSpPr/>
          <p:nvPr/>
        </p:nvSpPr>
        <p:spPr>
          <a:xfrm>
            <a:off x="10515600" y="44805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7264C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/>
              </a:rPr>
              <a:t>Sanitize</a:t>
            </a:r>
          </a:p>
        </p:txBody>
      </p:sp>
      <p:sp>
        <p:nvSpPr>
          <p:cNvPr id="805" name="s"/>
          <p:cNvSpPr/>
          <p:nvPr/>
        </p:nvSpPr>
        <p:spPr>
          <a:xfrm>
            <a:off x="10515600" y="50749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7264C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/>
              </a:rPr>
              <a:t>XSS</a:t>
            </a:r>
          </a:p>
        </p:txBody>
      </p:sp>
      <p:sp>
        <p:nvSpPr>
          <p:cNvPr id="806" name="s"/>
          <p:cNvSpPr/>
          <p:nvPr/>
        </p:nvSpPr>
        <p:spPr>
          <a:xfrm>
            <a:off x="10515600" y="56692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7264C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/>
              </a:rPr>
              <a:t>Winston</a:t>
            </a:r>
          </a:p>
        </p:txBody>
      </p:sp>
      <p:sp>
        <p:nvSpPr>
          <p:cNvPr id="807" name="t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400" b="1" dirty="0">
                <a:solidFill>
                  <a:srgbClr val="94A3B8"/>
                </a:solidFill>
                <a:latin typeface="Calibri"/>
              </a:rPr>
              <a:t>09</a:t>
            </a:r>
          </a:p>
        </p:txBody>
      </p:sp>
    </p:spTree>
  </p:cSld>
  <p:transition spd="med">
    <p:wipe dir="l"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26"/>
          </a:solidFill>
          <a:ln>
            <a:noFill/>
          </a:ln>
        </p:spPr>
        <p:txBody>
          <a:bodyPr/>
          <a:lstStyle/>
          <a:p/>
        </p:txBody>
      </p:sp>
      <p:sp>
        <p:nvSpPr>
          <p:cNvPr id="809" name="c"/>
          <p:cNvSpPr/>
          <p:nvPr/>
        </p:nvSpPr>
        <p:spPr>
          <a:xfrm>
            <a:off x="-457200" y="457200"/>
            <a:ext cx="2286000" cy="2286000"/>
          </a:xfrm>
          <a:prstGeom prst="ellipse">
            <a:avLst/>
          </a:prstGeom>
          <a:solidFill>
            <a:srgbClr val="17264C"/>
          </a:solidFill>
          <a:ln>
            <a:noFill/>
          </a:ln>
        </p:spPr>
        <p:txBody>
          <a:bodyPr/>
          <a:lstStyle/>
          <a:p/>
        </p:txBody>
      </p:sp>
      <p:sp>
        <p:nvSpPr>
          <p:cNvPr id="810" name="c"/>
          <p:cNvSpPr/>
          <p:nvPr/>
        </p:nvSpPr>
        <p:spPr>
          <a:xfrm>
            <a:off x="10058400" y="457200"/>
            <a:ext cx="2743200" cy="2743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811" name="c"/>
          <p:cNvSpPr/>
          <p:nvPr/>
        </p:nvSpPr>
        <p:spPr>
          <a:xfrm>
            <a:off x="10515600" y="274320"/>
            <a:ext cx="1828800" cy="18288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812" name="c"/>
          <p:cNvSpPr/>
          <p:nvPr/>
        </p:nvSpPr>
        <p:spPr>
          <a:xfrm>
            <a:off x="9601200" y="5486400"/>
            <a:ext cx="1828800" cy="1828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3" name="c"/>
          <p:cNvSpPr/>
          <p:nvPr/>
        </p:nvSpPr>
        <p:spPr>
          <a:xfrm>
            <a:off x="457200" y="5943600"/>
            <a:ext cx="1371600" cy="13716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814" name="r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815" name="t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4400" b="1" dirty="0">
                <a:solidFill>
                  <a:srgbClr val="F97316"/>
                </a:solidFill>
                <a:latin typeface="Calibri"/>
              </a:rPr>
              <a:t>10</a:t>
            </a:r>
          </a:p>
        </p:txBody>
      </p:sp>
      <p:sp>
        <p:nvSpPr>
          <p:cNvPr id="816" name="t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WRAPPING UP</a:t>
            </a:r>
          </a:p>
        </p:txBody>
      </p:sp>
      <p:sp>
        <p:nvSpPr>
          <p:cNvPr id="817" name="t"/>
          <p:cNvSpPr txBox="1"/>
          <p:nvPr/>
        </p:nvSpPr>
        <p:spPr>
          <a:xfrm>
            <a:off x="1371600" y="777240"/>
            <a:ext cx="91440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818" name="s"/>
          <p:cNvSpPr/>
          <p:nvPr/>
        </p:nvSpPr>
        <p:spPr>
          <a:xfrm>
            <a:off x="365760" y="146304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17264C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819" name="r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" name="t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10B981"/>
                </a:solidFill>
                <a:latin typeface="Calibri"/>
              </a:rPr>
              <a:t>PROJECT ACHIEVEMENTS</a:t>
            </a:r>
          </a:p>
        </p:txBody>
      </p:sp>
      <p:sp>
        <p:nvSpPr>
          <p:cNvPr id="821" name="c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" name="t"/>
          <p:cNvSpPr txBox="1"/>
          <p:nvPr/>
        </p:nvSpPr>
        <p:spPr>
          <a:xfrm>
            <a:off x="640080" y="22585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23" name="t"/>
          <p:cNvSpPr txBox="1"/>
          <p:nvPr/>
        </p:nvSpPr>
        <p:spPr>
          <a:xfrm>
            <a:off x="1005840" y="22402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Production-grade REST API</a:t>
            </a:r>
          </a:p>
        </p:txBody>
      </p:sp>
      <p:sp>
        <p:nvSpPr>
          <p:cNvPr id="824" name="c"/>
          <p:cNvSpPr/>
          <p:nvPr/>
        </p:nvSpPr>
        <p:spPr>
          <a:xfrm>
            <a:off x="3246120" y="22402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" name="t"/>
          <p:cNvSpPr txBox="1"/>
          <p:nvPr/>
        </p:nvSpPr>
        <p:spPr>
          <a:xfrm>
            <a:off x="3246120" y="22585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26" name="t"/>
          <p:cNvSpPr txBox="1"/>
          <p:nvPr/>
        </p:nvSpPr>
        <p:spPr>
          <a:xfrm>
            <a:off x="3611880" y="22402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Real-time GPS + Live Chat</a:t>
            </a:r>
          </a:p>
        </p:txBody>
      </p:sp>
      <p:sp>
        <p:nvSpPr>
          <p:cNvPr id="827" name="c"/>
          <p:cNvSpPr/>
          <p:nvPr/>
        </p:nvSpPr>
        <p:spPr>
          <a:xfrm>
            <a:off x="640080" y="26974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" name="t"/>
          <p:cNvSpPr txBox="1"/>
          <p:nvPr/>
        </p:nvSpPr>
        <p:spPr>
          <a:xfrm>
            <a:off x="640080" y="27157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29" name="t"/>
          <p:cNvSpPr txBox="1"/>
          <p:nvPr/>
        </p:nvSpPr>
        <p:spPr>
          <a:xfrm>
            <a:off x="1005840" y="26974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Crisis Prioritization Engine</a:t>
            </a:r>
          </a:p>
        </p:txBody>
      </p:sp>
      <p:sp>
        <p:nvSpPr>
          <p:cNvPr id="830" name="c"/>
          <p:cNvSpPr/>
          <p:nvPr/>
        </p:nvSpPr>
        <p:spPr>
          <a:xfrm>
            <a:off x="3246120" y="26974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" name="t"/>
          <p:cNvSpPr txBox="1"/>
          <p:nvPr/>
        </p:nvSpPr>
        <p:spPr>
          <a:xfrm>
            <a:off x="3246120" y="27157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32" name="t"/>
          <p:cNvSpPr txBox="1"/>
          <p:nvPr/>
        </p:nvSpPr>
        <p:spPr>
          <a:xfrm>
            <a:off x="3611880" y="26974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Complete Order Lifecycle</a:t>
            </a:r>
          </a:p>
        </p:txBody>
      </p:sp>
      <p:sp>
        <p:nvSpPr>
          <p:cNvPr id="833" name="c"/>
          <p:cNvSpPr/>
          <p:nvPr/>
        </p:nvSpPr>
        <p:spPr>
          <a:xfrm>
            <a:off x="640080" y="31546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" name="t"/>
          <p:cNvSpPr txBox="1"/>
          <p:nvPr/>
        </p:nvSpPr>
        <p:spPr>
          <a:xfrm>
            <a:off x="640080" y="31729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35" name="t"/>
          <p:cNvSpPr txBox="1"/>
          <p:nvPr/>
        </p:nvSpPr>
        <p:spPr>
          <a:xfrm>
            <a:off x="1005840" y="31546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Docker &amp; Kubernetes Deploy</a:t>
            </a:r>
          </a:p>
        </p:txBody>
      </p:sp>
      <p:sp>
        <p:nvSpPr>
          <p:cNvPr id="836" name="c"/>
          <p:cNvSpPr/>
          <p:nvPr/>
        </p:nvSpPr>
        <p:spPr>
          <a:xfrm>
            <a:off x="3246120" y="31546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" name="t"/>
          <p:cNvSpPr txBox="1"/>
          <p:nvPr/>
        </p:nvSpPr>
        <p:spPr>
          <a:xfrm>
            <a:off x="3246120" y="31729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38" name="t"/>
          <p:cNvSpPr txBox="1"/>
          <p:nvPr/>
        </p:nvSpPr>
        <p:spPr>
          <a:xfrm>
            <a:off x="3611880" y="31546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Multi-layer Security (JWT/RBAC)</a:t>
            </a:r>
          </a:p>
        </p:txBody>
      </p:sp>
      <p:sp>
        <p:nvSpPr>
          <p:cNvPr id="839" name="c"/>
          <p:cNvSpPr/>
          <p:nvPr/>
        </p:nvSpPr>
        <p:spPr>
          <a:xfrm>
            <a:off x="640080" y="36118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" name="t"/>
          <p:cNvSpPr txBox="1"/>
          <p:nvPr/>
        </p:nvSpPr>
        <p:spPr>
          <a:xfrm>
            <a:off x="640080" y="36301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41" name="t"/>
          <p:cNvSpPr txBox="1"/>
          <p:nvPr/>
        </p:nvSpPr>
        <p:spPr>
          <a:xfrm>
            <a:off x="1005840" y="36118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WhatsApp Integration</a:t>
            </a:r>
          </a:p>
        </p:txBody>
      </p:sp>
      <p:sp>
        <p:nvSpPr>
          <p:cNvPr id="842" name="c"/>
          <p:cNvSpPr/>
          <p:nvPr/>
        </p:nvSpPr>
        <p:spPr>
          <a:xfrm>
            <a:off x="3246120" y="36118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" name="t"/>
          <p:cNvSpPr txBox="1"/>
          <p:nvPr/>
        </p:nvSpPr>
        <p:spPr>
          <a:xfrm>
            <a:off x="3246120" y="36301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44" name="t"/>
          <p:cNvSpPr txBox="1"/>
          <p:nvPr/>
        </p:nvSpPr>
        <p:spPr>
          <a:xfrm>
            <a:off x="3611880" y="36118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Swagger API Documentation</a:t>
            </a:r>
          </a:p>
        </p:txBody>
      </p:sp>
      <p:sp>
        <p:nvSpPr>
          <p:cNvPr id="845" name="c"/>
          <p:cNvSpPr/>
          <p:nvPr/>
        </p:nvSpPr>
        <p:spPr>
          <a:xfrm>
            <a:off x="640080" y="40690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" name="t"/>
          <p:cNvSpPr txBox="1"/>
          <p:nvPr/>
        </p:nvSpPr>
        <p:spPr>
          <a:xfrm>
            <a:off x="640080" y="40873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47" name="t"/>
          <p:cNvSpPr txBox="1"/>
          <p:nvPr/>
        </p:nvSpPr>
        <p:spPr>
          <a:xfrm>
            <a:off x="1005840" y="40690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Inventory Management</a:t>
            </a:r>
          </a:p>
        </p:txBody>
      </p:sp>
      <p:sp>
        <p:nvSpPr>
          <p:cNvPr id="848" name="c"/>
          <p:cNvSpPr/>
          <p:nvPr/>
        </p:nvSpPr>
        <p:spPr>
          <a:xfrm>
            <a:off x="3246120" y="40690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" name="t"/>
          <p:cNvSpPr txBox="1"/>
          <p:nvPr/>
        </p:nvSpPr>
        <p:spPr>
          <a:xfrm>
            <a:off x="3246120" y="4087368"/>
            <a:ext cx="228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50" name="t"/>
          <p:cNvSpPr txBox="1"/>
          <p:nvPr/>
        </p:nvSpPr>
        <p:spPr>
          <a:xfrm>
            <a:off x="3611880" y="4069080"/>
            <a:ext cx="237744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Real-time Notifications</a:t>
            </a:r>
          </a:p>
        </p:txBody>
      </p:sp>
      <p:sp>
        <p:nvSpPr>
          <p:cNvPr id="851" name="s"/>
          <p:cNvSpPr/>
          <p:nvPr/>
        </p:nvSpPr>
        <p:spPr>
          <a:xfrm>
            <a:off x="6126480" y="146304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17264C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852" name="r"/>
          <p:cNvSpPr/>
          <p:nvPr/>
        </p:nvSpPr>
        <p:spPr>
          <a:xfrm>
            <a:off x="6126480" y="1463040"/>
            <a:ext cx="5486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" name="t"/>
          <p:cNvSpPr txBox="1"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300" b="1" dirty="0">
                <a:solidFill>
                  <a:srgbClr val="F97316"/>
                </a:solidFill>
                <a:latin typeface="Calibri"/>
              </a:rPr>
              <a:t>FUTURE ENHANCEMENTS</a:t>
            </a:r>
          </a:p>
        </p:txBody>
      </p:sp>
      <p:sp>
        <p:nvSpPr>
          <p:cNvPr id="854" name="c"/>
          <p:cNvSpPr/>
          <p:nvPr/>
        </p:nvSpPr>
        <p:spPr>
          <a:xfrm>
            <a:off x="6400800" y="224028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" name="t"/>
          <p:cNvSpPr txBox="1"/>
          <p:nvPr/>
        </p:nvSpPr>
        <p:spPr>
          <a:xfrm>
            <a:off x="6400800" y="2313432"/>
            <a:ext cx="3657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856" name="t"/>
          <p:cNvSpPr txBox="1"/>
          <p:nvPr/>
        </p:nvSpPr>
        <p:spPr>
          <a:xfrm>
            <a:off x="6903720" y="2194560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Demand Prediction</a:t>
            </a:r>
          </a:p>
        </p:txBody>
      </p:sp>
      <p:sp>
        <p:nvSpPr>
          <p:cNvPr id="857" name="t"/>
          <p:cNvSpPr txBox="1"/>
          <p:nvPr/>
        </p:nvSpPr>
        <p:spPr>
          <a:xfrm>
            <a:off x="6903720" y="2450592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ML consumption forecast</a:t>
            </a:r>
          </a:p>
        </p:txBody>
      </p:sp>
      <p:sp>
        <p:nvSpPr>
          <p:cNvPr id="858" name="c"/>
          <p:cNvSpPr/>
          <p:nvPr/>
        </p:nvSpPr>
        <p:spPr>
          <a:xfrm>
            <a:off x="6400800" y="2743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" name="t"/>
          <p:cNvSpPr txBox="1"/>
          <p:nvPr/>
        </p:nvSpPr>
        <p:spPr>
          <a:xfrm>
            <a:off x="6400800" y="2816352"/>
            <a:ext cx="3657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860" name="t"/>
          <p:cNvSpPr txBox="1"/>
          <p:nvPr/>
        </p:nvSpPr>
        <p:spPr>
          <a:xfrm>
            <a:off x="6903720" y="2697480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Mobile App</a:t>
            </a:r>
          </a:p>
        </p:txBody>
      </p:sp>
      <p:sp>
        <p:nvSpPr>
          <p:cNvPr id="861" name="t"/>
          <p:cNvSpPr txBox="1"/>
          <p:nvPr/>
        </p:nvSpPr>
        <p:spPr>
          <a:xfrm>
            <a:off x="6903720" y="2953512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React Native / Flutter</a:t>
            </a:r>
          </a:p>
        </p:txBody>
      </p:sp>
      <p:sp>
        <p:nvSpPr>
          <p:cNvPr id="862" name="c"/>
          <p:cNvSpPr/>
          <p:nvPr/>
        </p:nvSpPr>
        <p:spPr>
          <a:xfrm>
            <a:off x="6400800" y="324612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" name="t"/>
          <p:cNvSpPr txBox="1"/>
          <p:nvPr/>
        </p:nvSpPr>
        <p:spPr>
          <a:xfrm>
            <a:off x="6400800" y="3319272"/>
            <a:ext cx="3657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PAY</a:t>
            </a:r>
          </a:p>
        </p:txBody>
      </p:sp>
      <p:sp>
        <p:nvSpPr>
          <p:cNvPr id="864" name="t"/>
          <p:cNvSpPr txBox="1"/>
          <p:nvPr/>
        </p:nvSpPr>
        <p:spPr>
          <a:xfrm>
            <a:off x="6903720" y="3200400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Online Payments</a:t>
            </a:r>
          </a:p>
        </p:txBody>
      </p:sp>
      <p:sp>
        <p:nvSpPr>
          <p:cNvPr id="865" name="t"/>
          <p:cNvSpPr txBox="1"/>
          <p:nvPr/>
        </p:nvSpPr>
        <p:spPr>
          <a:xfrm>
            <a:off x="6903720" y="3456432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Razorpay / UPI / Stripe</a:t>
            </a:r>
          </a:p>
        </p:txBody>
      </p:sp>
      <p:sp>
        <p:nvSpPr>
          <p:cNvPr id="866" name="c"/>
          <p:cNvSpPr/>
          <p:nvPr/>
        </p:nvSpPr>
        <p:spPr>
          <a:xfrm>
            <a:off x="6400800" y="37490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" name="t"/>
          <p:cNvSpPr txBox="1"/>
          <p:nvPr/>
        </p:nvSpPr>
        <p:spPr>
          <a:xfrm>
            <a:off x="6400800" y="3822192"/>
            <a:ext cx="3657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868" name="t"/>
          <p:cNvSpPr txBox="1"/>
          <p:nvPr/>
        </p:nvSpPr>
        <p:spPr>
          <a:xfrm>
            <a:off x="6903720" y="3703320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Route Optimization</a:t>
            </a:r>
          </a:p>
        </p:txBody>
      </p:sp>
      <p:sp>
        <p:nvSpPr>
          <p:cNvPr id="869" name="t"/>
          <p:cNvSpPr txBox="1"/>
          <p:nvPr/>
        </p:nvSpPr>
        <p:spPr>
          <a:xfrm>
            <a:off x="6903720" y="3959352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Google Maps integration</a:t>
            </a:r>
          </a:p>
        </p:txBody>
      </p:sp>
      <p:sp>
        <p:nvSpPr>
          <p:cNvPr id="870" name="c"/>
          <p:cNvSpPr/>
          <p:nvPr/>
        </p:nvSpPr>
        <p:spPr>
          <a:xfrm>
            <a:off x="6400800" y="4251960"/>
            <a:ext cx="365760" cy="3657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" name="t"/>
          <p:cNvSpPr txBox="1"/>
          <p:nvPr/>
        </p:nvSpPr>
        <p:spPr>
          <a:xfrm>
            <a:off x="6400800" y="4325112"/>
            <a:ext cx="3657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872" name="t"/>
          <p:cNvSpPr txBox="1"/>
          <p:nvPr/>
        </p:nvSpPr>
        <p:spPr>
          <a:xfrm>
            <a:off x="6903720" y="4206240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Smart Sensors</a:t>
            </a:r>
          </a:p>
        </p:txBody>
      </p:sp>
      <p:sp>
        <p:nvSpPr>
          <p:cNvPr id="873" name="t"/>
          <p:cNvSpPr txBox="1"/>
          <p:nvPr/>
        </p:nvSpPr>
        <p:spPr>
          <a:xfrm>
            <a:off x="6903720" y="4462272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94A3B8"/>
                </a:solidFill>
                <a:latin typeface="Calibri"/>
              </a:rPr>
              <a:t>Cylinder gas-level IoT</a:t>
            </a:r>
          </a:p>
        </p:txBody>
      </p:sp>
      <p:sp>
        <p:nvSpPr>
          <p:cNvPr id="874" name="s"/>
          <p:cNvSpPr/>
          <p:nvPr/>
        </p:nvSpPr>
        <p:spPr>
          <a:xfrm>
            <a:off x="2286000" y="4937760"/>
            <a:ext cx="7498079" cy="13716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875" name="r"/>
          <p:cNvSpPr/>
          <p:nvPr/>
        </p:nvSpPr>
        <p:spPr>
          <a:xfrm>
            <a:off x="2286000" y="4937760"/>
            <a:ext cx="7498079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" name="ps"/>
          <p:cNvSpPr/>
          <p:nvPr/>
        </p:nvSpPr>
        <p:spPr>
          <a:xfrm>
            <a:off x="1623060" y="5143500"/>
            <a:ext cx="411480" cy="960119"/>
          </a:xfrm>
          <a:prstGeom prst="roundRect">
            <a:avLst/>
          </a:prstGeom>
          <a:solidFill>
            <a:srgbClr val="FBBF24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txBody>
          <a:bodyPr/>
          <a:lstStyle/>
          <a:p/>
        </p:txBody>
      </p:sp>
      <p:sp>
        <p:nvSpPr>
          <p:cNvPr id="877" name="ps"/>
          <p:cNvSpPr/>
          <p:nvPr/>
        </p:nvSpPr>
        <p:spPr>
          <a:xfrm>
            <a:off x="1623060" y="4937760"/>
            <a:ext cx="411480" cy="411480"/>
          </a:xfrm>
          <a:prstGeom prst="triangle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" name="ps"/>
          <p:cNvSpPr/>
          <p:nvPr/>
        </p:nvSpPr>
        <p:spPr>
          <a:xfrm>
            <a:off x="1746504" y="5280660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" name="ps"/>
          <p:cNvSpPr/>
          <p:nvPr/>
        </p:nvSpPr>
        <p:spPr>
          <a:xfrm>
            <a:off x="1773936" y="5308092"/>
            <a:ext cx="98755" cy="987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" name="ps"/>
          <p:cNvSpPr/>
          <p:nvPr/>
        </p:nvSpPr>
        <p:spPr>
          <a:xfrm>
            <a:off x="1488468" y="5897880"/>
            <a:ext cx="164592" cy="274320"/>
          </a:xfrm>
          <a:prstGeom prst="rtTriangle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" name="fin"/>
          <p:cNvSpPr/>
          <p:nvPr/>
        </p:nvSpPr>
        <p:spPr>
          <a:xfrm flipH="1">
            <a:off x="2004540" y="5897880"/>
            <a:ext cx="164592" cy="274320"/>
          </a:xfrm>
          <a:prstGeom prst="rtTriangle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" name="flm"/>
          <p:cNvSpPr/>
          <p:nvPr/>
        </p:nvSpPr>
        <p:spPr>
          <a:xfrm flipV="1">
            <a:off x="1684782" y="6062472"/>
            <a:ext cx="288036" cy="246888"/>
          </a:xfrm>
          <a:prstGeom prst="triangle">
            <a:avLst/>
          </a:prstGeom>
          <a:gradFill flip="none">
            <a:gsLst>
              <a:gs pos="0">
                <a:srgbClr val="FBBF24"/>
              </a:gs>
              <a:gs pos="100000">
                <a:srgbClr val="EF4444"/>
              </a:gs>
            </a:gsLst>
            <a:lin ang="5400000"/>
          </a:gradFill>
          <a:ln>
            <a:noFill/>
          </a:ln>
        </p:spPr>
        <p:txBody>
          <a:bodyPr/>
          <a:lstStyle/>
          <a:p/>
        </p:txBody>
      </p:sp>
      <p:sp>
        <p:nvSpPr>
          <p:cNvPr id="883" name="ps"/>
          <p:cNvSpPr/>
          <p:nvPr/>
        </p:nvSpPr>
        <p:spPr>
          <a:xfrm>
            <a:off x="2743200" y="5166360"/>
            <a:ext cx="228600" cy="228600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" name="ps"/>
          <p:cNvSpPr/>
          <p:nvPr/>
        </p:nvSpPr>
        <p:spPr>
          <a:xfrm>
            <a:off x="8778240" y="5212080"/>
            <a:ext cx="182880" cy="182880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" name="ps"/>
          <p:cNvSpPr/>
          <p:nvPr/>
        </p:nvSpPr>
        <p:spPr>
          <a:xfrm>
            <a:off x="9418320" y="5852160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" name="t"/>
          <p:cNvSpPr txBox="1"/>
          <p:nvPr/>
        </p:nvSpPr>
        <p:spPr>
          <a:xfrm>
            <a:off x="2286000" y="5074920"/>
            <a:ext cx="7498079" cy="7315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887" name="t"/>
          <p:cNvSpPr txBox="1"/>
          <p:nvPr/>
        </p:nvSpPr>
        <p:spPr>
          <a:xfrm>
            <a:off x="2286000" y="5760720"/>
            <a:ext cx="7498079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300" dirty="0">
                <a:solidFill>
                  <a:srgbClr val="FFEFD5"/>
                </a:solidFill>
                <a:latin typeface="Calibri"/>
              </a:rPr>
              <a:t>Questions  &amp;  Discussion  Welcome</a:t>
            </a:r>
          </a:p>
        </p:txBody>
      </p:sp>
      <p:sp>
        <p:nvSpPr>
          <p:cNvPr id="888" name="t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Team CylDist  -  Department of Computer Engineering  -  2025-26</a:t>
            </a:r>
          </a:p>
        </p:txBody>
      </p:sp>
      <p:sp>
        <p:nvSpPr>
          <p:cNvPr id="889" name="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" name="r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" name="r"/>
          <p:cNvSpPr/>
          <p:nvPr/>
        </p:nvSpPr>
        <p:spPr>
          <a:xfrm>
            <a:off x="0" y="868680"/>
            <a:ext cx="12192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" name="t"/>
          <p:cNvSpPr txBox="1"/>
          <p:nvPr/>
        </p:nvSpPr>
        <p:spPr>
          <a:xfrm>
            <a:off x="365760" y="164592"/>
            <a:ext cx="1828800" cy="6400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3600" b="1" dirty="0">
                <a:solidFill>
                  <a:srgbClr val="F97316"/>
                </a:solidFill>
                <a:latin typeface="Calibri"/>
              </a:rPr>
              <a:t>11</a:t>
            </a:r>
          </a:p>
        </p:txBody>
      </p:sp>
      <p:sp>
        <p:nvSpPr>
          <p:cNvPr id="894" name="t"/>
          <p:cNvSpPr txBox="1"/>
          <p:nvPr/>
        </p:nvSpPr>
        <p:spPr>
          <a:xfrm>
            <a:off x="1188720" y="164592"/>
            <a:ext cx="10058400" cy="29260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BBF24"/>
                </a:solidFill>
                <a:latin typeface="Calibri"/>
              </a:rPr>
              <a:t>DEEP DIVE  |  HEURISTIC ALLOCATION REFERENCE</a:t>
            </a:r>
          </a:p>
        </p:txBody>
      </p:sp>
      <p:sp>
        <p:nvSpPr>
          <p:cNvPr id="895" name="t"/>
          <p:cNvSpPr txBox="1"/>
          <p:nvPr/>
        </p:nvSpPr>
        <p:spPr>
          <a:xfrm>
            <a:off x="1188720" y="457200"/>
            <a:ext cx="10515600" cy="4114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Zonal Crisis Prioritization &amp; Heuristic Allocation Engine</a:t>
            </a:r>
          </a:p>
        </p:txBody>
      </p:sp>
      <p:sp>
        <p:nvSpPr>
          <p:cNvPr id="896" name="t"/>
          <p:cNvSpPr txBox="1"/>
          <p:nvPr/>
        </p:nvSpPr>
        <p:spPr>
          <a:xfrm>
            <a:off x="457200" y="960120"/>
            <a:ext cx="11430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Objective: Allocate LPG fairly during severe shortages by replacing FCFS with a priority-based heuristic system</a:t>
            </a:r>
          </a:p>
        </p:txBody>
      </p:sp>
      <p:sp>
        <p:nvSpPr>
          <p:cNvPr id="897" name="s"/>
          <p:cNvSpPr/>
          <p:nvPr/>
        </p:nvSpPr>
        <p:spPr>
          <a:xfrm>
            <a:off x="365760" y="1325880"/>
            <a:ext cx="57607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898" name="r"/>
          <p:cNvSpPr/>
          <p:nvPr/>
        </p:nvSpPr>
        <p:spPr>
          <a:xfrm>
            <a:off x="365760" y="1325880"/>
            <a:ext cx="5760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" name="t"/>
          <p:cNvSpPr txBox="1"/>
          <p:nvPr/>
        </p:nvSpPr>
        <p:spPr>
          <a:xfrm>
            <a:off x="548640" y="1417320"/>
            <a:ext cx="5486400" cy="29260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EF4444"/>
                </a:solidFill>
                <a:latin typeface="Calibri"/>
              </a:rPr>
              <a:t>[1]  CRISIS MODE ACTIVATION</a:t>
            </a:r>
          </a:p>
        </p:txBody>
      </p:sp>
      <p:sp>
        <p:nvSpPr>
          <p:cNvPr id="900" name="c"/>
          <p:cNvSpPr/>
          <p:nvPr/>
        </p:nvSpPr>
        <p:spPr>
          <a:xfrm>
            <a:off x="640080" y="180136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t"/>
          <p:cNvSpPr txBox="1"/>
          <p:nvPr/>
        </p:nvSpPr>
        <p:spPr>
          <a:xfrm>
            <a:off x="868680" y="1746504"/>
            <a:ext cx="5120640" cy="25603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FCFS allocation is suspended during shortages</a:t>
            </a:r>
          </a:p>
        </p:txBody>
      </p:sp>
      <p:sp>
        <p:nvSpPr>
          <p:cNvPr id="902" name="c"/>
          <p:cNvSpPr/>
          <p:nvPr/>
        </p:nvSpPr>
        <p:spPr>
          <a:xfrm>
            <a:off x="640080" y="202996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"/>
          <p:cNvSpPr txBox="1"/>
          <p:nvPr/>
        </p:nvSpPr>
        <p:spPr>
          <a:xfrm>
            <a:off x="868680" y="1975104"/>
            <a:ext cx="5120640" cy="25603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Incoming orders enter a Zonal Holding Pool</a:t>
            </a:r>
          </a:p>
        </p:txBody>
      </p:sp>
      <p:sp>
        <p:nvSpPr>
          <p:cNvPr id="904" name="c"/>
          <p:cNvSpPr/>
          <p:nvPr/>
        </p:nvSpPr>
        <p:spPr>
          <a:xfrm>
            <a:off x="640080" y="225856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" name="t"/>
          <p:cNvSpPr txBox="1"/>
          <p:nvPr/>
        </p:nvSpPr>
        <p:spPr>
          <a:xfrm>
            <a:off x="868680" y="2203704"/>
            <a:ext cx="5120640" cy="25603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Orders periodically ranked by Priority Score (P)</a:t>
            </a:r>
          </a:p>
        </p:txBody>
      </p:sp>
      <p:sp>
        <p:nvSpPr>
          <p:cNvPr id="906" name="c"/>
          <p:cNvSpPr/>
          <p:nvPr/>
        </p:nvSpPr>
        <p:spPr>
          <a:xfrm>
            <a:off x="640080" y="248716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907" name="t"/>
          <p:cNvSpPr txBox="1"/>
          <p:nvPr/>
        </p:nvSpPr>
        <p:spPr>
          <a:xfrm>
            <a:off x="868680" y="2432304"/>
            <a:ext cx="5120640" cy="25603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Allocation runs in batches via Max-Heap engine</a:t>
            </a:r>
          </a:p>
        </p:txBody>
      </p:sp>
      <p:sp>
        <p:nvSpPr>
          <p:cNvPr id="908" name="s"/>
          <p:cNvSpPr/>
          <p:nvPr/>
        </p:nvSpPr>
        <p:spPr>
          <a:xfrm>
            <a:off x="6309360" y="132588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0B1739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909" name="r"/>
          <p:cNvSpPr/>
          <p:nvPr/>
        </p:nvSpPr>
        <p:spPr>
          <a:xfrm>
            <a:off x="6309360" y="1325880"/>
            <a:ext cx="54864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0" name="t"/>
          <p:cNvSpPr txBox="1"/>
          <p:nvPr/>
        </p:nvSpPr>
        <p:spPr>
          <a:xfrm>
            <a:off x="6492240" y="1417320"/>
            <a:ext cx="5029200" cy="29260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200" b="1" dirty="0">
                <a:solidFill>
                  <a:srgbClr val="FBBF24"/>
                </a:solidFill>
                <a:latin typeface="Calibri"/>
              </a:rPr>
              <a:t>[2]  ALLOCATION WORKFLOW</a:t>
            </a:r>
          </a:p>
        </p:txBody>
      </p:sp>
      <p:sp>
        <p:nvSpPr>
          <p:cNvPr id="911" name="s"/>
          <p:cNvSpPr/>
          <p:nvPr/>
        </p:nvSpPr>
        <p:spPr>
          <a:xfrm>
            <a:off x="6492240" y="1828800"/>
            <a:ext cx="1078992" cy="4572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912" name="t"/>
          <p:cNvSpPr txBox="1"/>
          <p:nvPr/>
        </p:nvSpPr>
        <p:spPr>
          <a:xfrm>
            <a:off x="7534656" y="1874520"/>
            <a:ext cx="18288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400" b="1" dirty="0">
                <a:solidFill>
                  <a:srgbClr val="FBBF24"/>
                </a:solidFill>
                <a:latin typeface="Calibri"/>
              </a:rPr>
              <a:t>&gt;</a:t>
            </a:r>
          </a:p>
        </p:txBody>
      </p:sp>
      <p:sp>
        <p:nvSpPr>
          <p:cNvPr id="913" name="s"/>
          <p:cNvSpPr/>
          <p:nvPr/>
        </p:nvSpPr>
        <p:spPr>
          <a:xfrm>
            <a:off x="7690104" y="1828800"/>
            <a:ext cx="1078992" cy="4572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Score Calc</a:t>
            </a:r>
          </a:p>
        </p:txBody>
      </p:sp>
      <p:sp>
        <p:nvSpPr>
          <p:cNvPr id="914" name="t"/>
          <p:cNvSpPr txBox="1"/>
          <p:nvPr/>
        </p:nvSpPr>
        <p:spPr>
          <a:xfrm>
            <a:off x="8732520" y="1874520"/>
            <a:ext cx="18288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400" b="1" dirty="0">
                <a:solidFill>
                  <a:srgbClr val="FBBF24"/>
                </a:solidFill>
                <a:latin typeface="Calibri"/>
              </a:rPr>
              <a:t>&gt;</a:t>
            </a:r>
          </a:p>
        </p:txBody>
      </p:sp>
      <p:sp>
        <p:nvSpPr>
          <p:cNvPr id="915" name="s"/>
          <p:cNvSpPr/>
          <p:nvPr/>
        </p:nvSpPr>
        <p:spPr>
          <a:xfrm>
            <a:off x="8887968" y="1828800"/>
            <a:ext cx="1078992" cy="4572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Max-Heap</a:t>
            </a:r>
          </a:p>
        </p:txBody>
      </p:sp>
      <p:sp>
        <p:nvSpPr>
          <p:cNvPr id="916" name="t"/>
          <p:cNvSpPr txBox="1"/>
          <p:nvPr/>
        </p:nvSpPr>
        <p:spPr>
          <a:xfrm>
            <a:off x="9930384" y="1874520"/>
            <a:ext cx="182880" cy="36576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400" b="1" dirty="0">
                <a:solidFill>
                  <a:srgbClr val="FBBF24"/>
                </a:solidFill>
                <a:latin typeface="Calibri"/>
              </a:rPr>
              <a:t>&gt;</a:t>
            </a:r>
          </a:p>
        </p:txBody>
      </p:sp>
      <p:sp>
        <p:nvSpPr>
          <p:cNvPr id="917" name="s"/>
          <p:cNvSpPr/>
          <p:nvPr/>
        </p:nvSpPr>
        <p:spPr>
          <a:xfrm>
            <a:off x="10085832" y="1828800"/>
            <a:ext cx="1078992" cy="4572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Allocate</a:t>
            </a:r>
          </a:p>
        </p:txBody>
      </p:sp>
      <p:sp>
        <p:nvSpPr>
          <p:cNvPr id="918" name="t"/>
          <p:cNvSpPr txBox="1"/>
          <p:nvPr/>
        </p:nvSpPr>
        <p:spPr>
          <a:xfrm>
            <a:off x="6492240" y="2377440"/>
            <a:ext cx="521208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C8D2E0"/>
                </a:solidFill>
                <a:latin typeface="Calibri"/>
              </a:rPr>
              <a:t>Highest Priority Score served first  -  Max-Heap descending order</a:t>
            </a:r>
          </a:p>
        </p:txBody>
      </p:sp>
      <p:sp>
        <p:nvSpPr>
          <p:cNvPr id="919" name="t"/>
          <p:cNvSpPr txBox="1"/>
          <p:nvPr/>
        </p:nvSpPr>
        <p:spPr>
          <a:xfrm>
            <a:off x="6492240" y="2606040"/>
            <a:ext cx="521208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Periodic batch allocation cycles ensure fairness across the zone</a:t>
            </a:r>
          </a:p>
        </p:txBody>
      </p:sp>
      <p:sp>
        <p:nvSpPr>
          <p:cNvPr id="920" name="s"/>
          <p:cNvSpPr/>
          <p:nvPr/>
        </p:nvSpPr>
        <p:spPr>
          <a:xfrm>
            <a:off x="365760" y="2926080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60E2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921" name="r"/>
          <p:cNvSpPr/>
          <p:nvPr/>
        </p:nvSpPr>
        <p:spPr>
          <a:xfrm>
            <a:off x="365760" y="2926080"/>
            <a:ext cx="91440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" name="t"/>
          <p:cNvSpPr txBox="1"/>
          <p:nvPr/>
        </p:nvSpPr>
        <p:spPr>
          <a:xfrm>
            <a:off x="640080" y="2999232"/>
            <a:ext cx="4572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[3]  PRIORITY SCORE FORMULA</a:t>
            </a:r>
          </a:p>
        </p:txBody>
      </p:sp>
      <p:sp>
        <p:nvSpPr>
          <p:cNvPr id="923" name="t"/>
          <p:cNvSpPr txBox="1"/>
          <p:nvPr/>
        </p:nvSpPr>
        <p:spPr>
          <a:xfrm>
            <a:off x="640080" y="3255264"/>
            <a:ext cx="10515600" cy="4572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P  =  (1.5 x S_sector)  +  (1.0 x S_urgency)  -  (1.0 x S_hoarding)</a:t>
            </a:r>
          </a:p>
        </p:txBody>
      </p:sp>
      <p:sp>
        <p:nvSpPr>
          <p:cNvPr id="924" name="t"/>
          <p:cNvSpPr txBox="1"/>
          <p:nvPr/>
        </p:nvSpPr>
        <p:spPr>
          <a:xfrm>
            <a:off x="640080" y="3639312"/>
            <a:ext cx="10515600" cy="228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700" dirty="0">
                <a:solidFill>
                  <a:srgbClr val="94A3B8"/>
                </a:solidFill>
                <a:latin typeface="Calibri"/>
              </a:rPr>
              <a:t>S_sector: Hospital 100 / Domestic 50 / Hostel 30 / Commercial 10   |   S_urgency: (DaysSinceRefill / AvgCycle) x 100, max 200   |   S_hoarding: -200 if refill &lt;21d (Hospitals exempt)</a:t>
            </a:r>
          </a:p>
        </p:txBody>
      </p:sp>
      <p:sp>
        <p:nvSpPr>
          <p:cNvPr id="925" name="s"/>
          <p:cNvSpPr/>
          <p:nvPr/>
        </p:nvSpPr>
        <p:spPr>
          <a:xfrm>
            <a:off x="365760" y="406908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926" name="t"/>
          <p:cNvSpPr txBox="1"/>
          <p:nvPr/>
        </p:nvSpPr>
        <p:spPr>
          <a:xfrm>
            <a:off x="548640" y="4160520"/>
            <a:ext cx="3337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[4]  HOSPITAL &amp; EMERGENCY</a:t>
            </a:r>
          </a:p>
        </p:txBody>
      </p:sp>
      <p:sp>
        <p:nvSpPr>
          <p:cNvPr id="927" name="t"/>
          <p:cNvSpPr txBox="1"/>
          <p:nvPr/>
        </p:nvSpPr>
        <p:spPr>
          <a:xfrm>
            <a:off x="548640" y="4434840"/>
            <a:ext cx="3337560" cy="25603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Highest Priority</a:t>
            </a:r>
          </a:p>
        </p:txBody>
      </p:sp>
      <p:sp>
        <p:nvSpPr>
          <p:cNvPr id="928" name="r"/>
          <p:cNvSpPr/>
          <p:nvPr/>
        </p:nvSpPr>
        <p:spPr>
          <a:xfrm>
            <a:off x="548640" y="4727448"/>
            <a:ext cx="4572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" name="t"/>
          <p:cNvSpPr txBox="1"/>
          <p:nvPr/>
        </p:nvSpPr>
        <p:spPr>
          <a:xfrm>
            <a:off x="594360" y="4818888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Dedicated emergency reserve</a:t>
            </a:r>
          </a:p>
        </p:txBody>
      </p:sp>
      <p:sp>
        <p:nvSpPr>
          <p:cNvPr id="930" name="t"/>
          <p:cNvSpPr txBox="1"/>
          <p:nvPr/>
        </p:nvSpPr>
        <p:spPr>
          <a:xfrm>
            <a:off x="594360" y="5020056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No cooldown restrictions</a:t>
            </a:r>
          </a:p>
        </p:txBody>
      </p:sp>
      <p:sp>
        <p:nvSpPr>
          <p:cNvPr id="931" name="t"/>
          <p:cNvSpPr txBox="1"/>
          <p:nvPr/>
        </p:nvSpPr>
        <p:spPr>
          <a:xfrm>
            <a:off x="594360" y="5221224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Exempt from hoarding shield</a:t>
            </a:r>
          </a:p>
        </p:txBody>
      </p:sp>
      <p:sp>
        <p:nvSpPr>
          <p:cNvPr id="932" name="s"/>
          <p:cNvSpPr/>
          <p:nvPr/>
        </p:nvSpPr>
        <p:spPr>
          <a:xfrm>
            <a:off x="4160520" y="406908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933" name="t"/>
          <p:cNvSpPr txBox="1"/>
          <p:nvPr/>
        </p:nvSpPr>
        <p:spPr>
          <a:xfrm>
            <a:off x="4343400" y="4160520"/>
            <a:ext cx="3337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[4]  DOMESTIC HOUSEHOLD</a:t>
            </a:r>
          </a:p>
        </p:txBody>
      </p:sp>
      <p:sp>
        <p:nvSpPr>
          <p:cNvPr id="934" name="t"/>
          <p:cNvSpPr txBox="1"/>
          <p:nvPr/>
        </p:nvSpPr>
        <p:spPr>
          <a:xfrm>
            <a:off x="4343400" y="4434840"/>
            <a:ext cx="3337560" cy="25603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30-day Cooldown</a:t>
            </a:r>
          </a:p>
        </p:txBody>
      </p:sp>
      <p:sp>
        <p:nvSpPr>
          <p:cNvPr id="935" name="r"/>
          <p:cNvSpPr/>
          <p:nvPr/>
        </p:nvSpPr>
        <p:spPr>
          <a:xfrm>
            <a:off x="4343400" y="4727448"/>
            <a:ext cx="4572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6" name="t"/>
          <p:cNvSpPr txBox="1"/>
          <p:nvPr/>
        </p:nvSpPr>
        <p:spPr>
          <a:xfrm>
            <a:off x="4389120" y="4818888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Hard reject within 30 days</a:t>
            </a:r>
          </a:p>
        </p:txBody>
      </p:sp>
      <p:sp>
        <p:nvSpPr>
          <p:cNvPr id="937" name="t"/>
          <p:cNvSpPr txBox="1"/>
          <p:nvPr/>
        </p:nvSpPr>
        <p:spPr>
          <a:xfrm>
            <a:off x="4389120" y="5020056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Anti-hoarding lock active</a:t>
            </a:r>
          </a:p>
        </p:txBody>
      </p:sp>
      <p:sp>
        <p:nvSpPr>
          <p:cNvPr id="938" name="t"/>
          <p:cNvSpPr txBox="1"/>
          <p:nvPr/>
        </p:nvSpPr>
        <p:spPr>
          <a:xfrm>
            <a:off x="4389120" y="5221224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Standard priority weight</a:t>
            </a:r>
          </a:p>
        </p:txBody>
      </p:sp>
      <p:sp>
        <p:nvSpPr>
          <p:cNvPr id="939" name="s"/>
          <p:cNvSpPr/>
          <p:nvPr/>
        </p:nvSpPr>
        <p:spPr>
          <a:xfrm>
            <a:off x="7955280" y="406908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940" name="t"/>
          <p:cNvSpPr txBox="1"/>
          <p:nvPr/>
        </p:nvSpPr>
        <p:spPr>
          <a:xfrm>
            <a:off x="8138160" y="4160520"/>
            <a:ext cx="333756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[4]  COMMERCIAL / HOTELS</a:t>
            </a:r>
          </a:p>
        </p:txBody>
      </p:sp>
      <p:sp>
        <p:nvSpPr>
          <p:cNvPr id="941" name="t"/>
          <p:cNvSpPr txBox="1"/>
          <p:nvPr/>
        </p:nvSpPr>
        <p:spPr>
          <a:xfrm>
            <a:off x="8138160" y="4434840"/>
            <a:ext cx="3337560" cy="25603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7-day + 70% Cap</a:t>
            </a:r>
          </a:p>
        </p:txBody>
      </p:sp>
      <p:sp>
        <p:nvSpPr>
          <p:cNvPr id="942" name="r"/>
          <p:cNvSpPr/>
          <p:nvPr/>
        </p:nvSpPr>
        <p:spPr>
          <a:xfrm>
            <a:off x="8138160" y="4727448"/>
            <a:ext cx="4572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" name="t"/>
          <p:cNvSpPr txBox="1"/>
          <p:nvPr/>
        </p:nvSpPr>
        <p:spPr>
          <a:xfrm>
            <a:off x="8183880" y="4818888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7-day booking cooldown</a:t>
            </a:r>
          </a:p>
        </p:txBody>
      </p:sp>
      <p:sp>
        <p:nvSpPr>
          <p:cNvPr id="944" name="t"/>
          <p:cNvSpPr txBox="1"/>
          <p:nvPr/>
        </p:nvSpPr>
        <p:spPr>
          <a:xfrm>
            <a:off x="8183880" y="5020056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70% quantity reduction cap</a:t>
            </a:r>
          </a:p>
        </p:txBody>
      </p:sp>
      <p:sp>
        <p:nvSpPr>
          <p:cNvPr id="945" name="t"/>
          <p:cNvSpPr txBox="1"/>
          <p:nvPr/>
        </p:nvSpPr>
        <p:spPr>
          <a:xfrm>
            <a:off x="8183880" y="5221224"/>
            <a:ext cx="3337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-  Lowest priority weight</a:t>
            </a:r>
          </a:p>
        </p:txBody>
      </p:sp>
      <p:sp>
        <p:nvSpPr>
          <p:cNvPr id="946" name="s"/>
          <p:cNvSpPr/>
          <p:nvPr/>
        </p:nvSpPr>
        <p:spPr>
          <a:xfrm>
            <a:off x="365760" y="5669280"/>
            <a:ext cx="11430000" cy="822960"/>
          </a:xfrm>
          <a:prstGeom prst="roundRect">
            <a:avLst>
              <a:gd name="adj" fmla="val 6000"/>
            </a:avLst>
          </a:prstGeom>
          <a:solidFill>
            <a:srgbClr val="0B1739"/>
          </a:solidFill>
          <a:ln>
            <a:noFill/>
          </a:ln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947" name="r"/>
          <p:cNvSpPr/>
          <p:nvPr/>
        </p:nvSpPr>
        <p:spPr>
          <a:xfrm>
            <a:off x="365760" y="5669280"/>
            <a:ext cx="11430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" name="t"/>
          <p:cNvSpPr txBox="1"/>
          <p:nvPr/>
        </p:nvSpPr>
        <p:spPr>
          <a:xfrm>
            <a:off x="548640" y="5742432"/>
            <a:ext cx="3657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/>
              </a:rPr>
              <a:t>[5]  KEY BENEFITS</a:t>
            </a:r>
          </a:p>
        </p:txBody>
      </p:sp>
      <p:sp>
        <p:nvSpPr>
          <p:cNvPr id="949" name="c"/>
          <p:cNvSpPr/>
          <p:nvPr/>
        </p:nvSpPr>
        <p:spPr>
          <a:xfrm>
            <a:off x="548640" y="612648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" name="t"/>
          <p:cNvSpPr txBox="1"/>
          <p:nvPr/>
        </p:nvSpPr>
        <p:spPr>
          <a:xfrm>
            <a:off x="548640" y="6053328"/>
            <a:ext cx="146304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951" name="t"/>
          <p:cNvSpPr txBox="1"/>
          <p:nvPr/>
        </p:nvSpPr>
        <p:spPr>
          <a:xfrm>
            <a:off x="777240" y="6053328"/>
            <a:ext cx="20116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Prevents hoarding</a:t>
            </a:r>
          </a:p>
        </p:txBody>
      </p:sp>
      <p:sp>
        <p:nvSpPr>
          <p:cNvPr id="952" name="c"/>
          <p:cNvSpPr/>
          <p:nvPr/>
        </p:nvSpPr>
        <p:spPr>
          <a:xfrm>
            <a:off x="2761488" y="612648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" name="t"/>
          <p:cNvSpPr txBox="1"/>
          <p:nvPr/>
        </p:nvSpPr>
        <p:spPr>
          <a:xfrm>
            <a:off x="2761488" y="6053328"/>
            <a:ext cx="146304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954" name="t"/>
          <p:cNvSpPr txBox="1"/>
          <p:nvPr/>
        </p:nvSpPr>
        <p:spPr>
          <a:xfrm>
            <a:off x="2990088" y="6053328"/>
            <a:ext cx="20116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Fair distribution</a:t>
            </a:r>
          </a:p>
        </p:txBody>
      </p:sp>
      <p:sp>
        <p:nvSpPr>
          <p:cNvPr id="955" name="c"/>
          <p:cNvSpPr/>
          <p:nvPr/>
        </p:nvSpPr>
        <p:spPr>
          <a:xfrm>
            <a:off x="4974336" y="612648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" name="t"/>
          <p:cNvSpPr txBox="1"/>
          <p:nvPr/>
        </p:nvSpPr>
        <p:spPr>
          <a:xfrm>
            <a:off x="4974336" y="6053328"/>
            <a:ext cx="146304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957" name="t"/>
          <p:cNvSpPr txBox="1"/>
          <p:nvPr/>
        </p:nvSpPr>
        <p:spPr>
          <a:xfrm>
            <a:off x="5202936" y="6053328"/>
            <a:ext cx="20116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Emergency-first</a:t>
            </a:r>
          </a:p>
        </p:txBody>
      </p:sp>
      <p:sp>
        <p:nvSpPr>
          <p:cNvPr id="958" name="c"/>
          <p:cNvSpPr/>
          <p:nvPr/>
        </p:nvSpPr>
        <p:spPr>
          <a:xfrm>
            <a:off x="7187184" y="612648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" name="t"/>
          <p:cNvSpPr txBox="1"/>
          <p:nvPr/>
        </p:nvSpPr>
        <p:spPr>
          <a:xfrm>
            <a:off x="7187184" y="6053328"/>
            <a:ext cx="146304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960" name="t"/>
          <p:cNvSpPr txBox="1"/>
          <p:nvPr/>
        </p:nvSpPr>
        <p:spPr>
          <a:xfrm>
            <a:off x="7415784" y="6053328"/>
            <a:ext cx="20116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Necessity-based</a:t>
            </a:r>
          </a:p>
        </p:txBody>
      </p:sp>
      <p:sp>
        <p:nvSpPr>
          <p:cNvPr id="961" name="c"/>
          <p:cNvSpPr/>
          <p:nvPr/>
        </p:nvSpPr>
        <p:spPr>
          <a:xfrm>
            <a:off x="9400032" y="612648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" name="t"/>
          <p:cNvSpPr txBox="1"/>
          <p:nvPr/>
        </p:nvSpPr>
        <p:spPr>
          <a:xfrm>
            <a:off x="9400032" y="6053328"/>
            <a:ext cx="146304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963" name="t"/>
          <p:cNvSpPr txBox="1"/>
          <p:nvPr/>
        </p:nvSpPr>
        <p:spPr>
          <a:xfrm>
            <a:off x="9628632" y="6053328"/>
            <a:ext cx="201168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Better utilization</a:t>
            </a:r>
          </a:p>
        </p:txBody>
      </p:sp>
      <p:sp>
        <p:nvSpPr>
          <p:cNvPr id="964" name="t"/>
          <p:cNvSpPr txBox="1"/>
          <p:nvPr/>
        </p:nvSpPr>
        <p:spPr>
          <a:xfrm>
            <a:off x="365760" y="6236208"/>
            <a:ext cx="1143000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BBF24"/>
                </a:solidFill>
                <a:latin typeface="Calibri"/>
              </a:rPr>
              <a:t>Outcome: Data-driven heuristic ensuring equitable &amp; efficient LPG distribution during emergencies</a:t>
            </a:r>
          </a:p>
        </p:txBody>
      </p:sp>
      <p:sp>
        <p:nvSpPr>
          <p:cNvPr id="965" name="t"/>
          <p:cNvSpPr txBox="1"/>
          <p:nvPr/>
        </p:nvSpPr>
        <p:spPr>
          <a:xfrm>
            <a:off x="11521440" y="6629400"/>
            <a:ext cx="4572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200" b="1" dirty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transition spd="med">
    <p:zoom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967" name="r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B1739"/>
          </a:solidFill>
          <a:ln>
            <a:noFill/>
          </a:ln>
        </p:spPr>
        <p:txBody>
          <a:bodyPr/>
          <a:lstStyle/>
          <a:p/>
        </p:txBody>
      </p:sp>
      <p:sp>
        <p:nvSpPr>
          <p:cNvPr id="968" name="r"/>
          <p:cNvSpPr/>
          <p:nvPr/>
        </p:nvSpPr>
        <p:spPr>
          <a:xfrm>
            <a:off x="0" y="868680"/>
            <a:ext cx="12192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969" name="t"/>
          <p:cNvSpPr txBox="1"/>
          <p:nvPr/>
        </p:nvSpPr>
        <p:spPr>
          <a:xfrm>
            <a:off x="365760" y="164592"/>
            <a:ext cx="1828800" cy="6400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3600" b="1" dirty="0">
                <a:solidFill>
                  <a:srgbClr val="F97316"/>
                </a:solidFill>
                <a:latin typeface="Calibri"/>
              </a:rPr>
              <a:t>12</a:t>
            </a:r>
          </a:p>
        </p:txBody>
      </p:sp>
      <p:sp>
        <p:nvSpPr>
          <p:cNvPr id="970" name="t"/>
          <p:cNvSpPr txBox="1"/>
          <p:nvPr/>
        </p:nvSpPr>
        <p:spPr>
          <a:xfrm>
            <a:off x="1188720" y="164592"/>
            <a:ext cx="10058400" cy="29260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BBF24"/>
                </a:solidFill>
                <a:latin typeface="Calibri"/>
              </a:rPr>
              <a:t>DEEP DIVE  |  PLATFORM ARCHITECTURE</a:t>
            </a:r>
          </a:p>
        </p:txBody>
      </p:sp>
      <p:sp>
        <p:nvSpPr>
          <p:cNvPr id="971" name="t"/>
          <p:cNvSpPr txBox="1"/>
          <p:nvPr/>
        </p:nvSpPr>
        <p:spPr>
          <a:xfrm>
            <a:off x="1188720" y="457200"/>
            <a:ext cx="10515600" cy="4114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System Architecture &amp; Design</a:t>
            </a:r>
          </a:p>
        </p:txBody>
      </p:sp>
      <p:sp>
        <p:nvSpPr>
          <p:cNvPr id="972" name="t"/>
          <p:cNvSpPr txBox="1"/>
          <p:nvPr/>
        </p:nvSpPr>
        <p:spPr>
          <a:xfrm>
            <a:off x="457200" y="960120"/>
            <a:ext cx="114300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dirty="0">
                <a:solidFill>
                  <a:srgbClr val="475569"/>
                </a:solidFill>
                <a:latin typeface="Calibri"/>
              </a:rPr>
              <a:t>Three-tier architecture:  Client Layer  -&gt;  API Gateway  -&gt;  Data + External Services</a:t>
            </a:r>
          </a:p>
        </p:txBody>
      </p:sp>
      <p:sp>
        <p:nvSpPr>
          <p:cNvPr id="973" name="s"/>
          <p:cNvSpPr/>
          <p:nvPr/>
        </p:nvSpPr>
        <p:spPr>
          <a:xfrm>
            <a:off x="365760" y="128016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974" name="r"/>
          <p:cNvSpPr/>
          <p:nvPr/>
        </p:nvSpPr>
        <p:spPr>
          <a:xfrm>
            <a:off x="365760" y="1280160"/>
            <a:ext cx="11430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" name="t"/>
          <p:cNvSpPr txBox="1"/>
          <p:nvPr/>
        </p:nvSpPr>
        <p:spPr>
          <a:xfrm>
            <a:off x="548640" y="1353312"/>
            <a:ext cx="64008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[ TIER 1 ]  CLIENT LAYER  -  React 19</a:t>
            </a:r>
          </a:p>
        </p:txBody>
      </p:sp>
      <p:sp>
        <p:nvSpPr>
          <p:cNvPr id="976" name="s"/>
          <p:cNvSpPr/>
          <p:nvPr/>
        </p:nvSpPr>
        <p:spPr>
          <a:xfrm>
            <a:off x="548640" y="1645920"/>
            <a:ext cx="3611880" cy="36576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CUSTOMER APP</a:t>
            </a:r>
          </a:p>
        </p:txBody>
      </p:sp>
      <p:sp>
        <p:nvSpPr>
          <p:cNvPr id="977" name="t"/>
          <p:cNvSpPr txBox="1"/>
          <p:nvPr/>
        </p:nvSpPr>
        <p:spPr>
          <a:xfrm>
            <a:off x="548640" y="2011680"/>
            <a:ext cx="361188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/>
              </a:rPr>
              <a:t>Book  -  Track  -  Chat  -  Rate</a:t>
            </a:r>
          </a:p>
        </p:txBody>
      </p:sp>
      <p:sp>
        <p:nvSpPr>
          <p:cNvPr id="978" name="s"/>
          <p:cNvSpPr/>
          <p:nvPr/>
        </p:nvSpPr>
        <p:spPr>
          <a:xfrm>
            <a:off x="4343400" y="1645920"/>
            <a:ext cx="3611880" cy="36576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979" name="t"/>
          <p:cNvSpPr txBox="1"/>
          <p:nvPr/>
        </p:nvSpPr>
        <p:spPr>
          <a:xfrm>
            <a:off x="4343400" y="2011680"/>
            <a:ext cx="361188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/>
              </a:rPr>
              <a:t>Dispatch  -  Crisis  -  Analytics</a:t>
            </a:r>
          </a:p>
        </p:txBody>
      </p:sp>
      <p:sp>
        <p:nvSpPr>
          <p:cNvPr id="980" name="s"/>
          <p:cNvSpPr/>
          <p:nvPr/>
        </p:nvSpPr>
        <p:spPr>
          <a:xfrm>
            <a:off x="8138160" y="1645920"/>
            <a:ext cx="3611880" cy="36576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AGENT APP</a:t>
            </a:r>
          </a:p>
        </p:txBody>
      </p:sp>
      <p:sp>
        <p:nvSpPr>
          <p:cNvPr id="981" name="t"/>
          <p:cNvSpPr txBox="1"/>
          <p:nvPr/>
        </p:nvSpPr>
        <p:spPr>
          <a:xfrm>
            <a:off x="8138160" y="2011680"/>
            <a:ext cx="361188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/>
              </a:rPr>
              <a:t>GPS  -  Photo Proof  -  Chat</a:t>
            </a:r>
          </a:p>
        </p:txBody>
      </p:sp>
      <p:sp>
        <p:nvSpPr>
          <p:cNvPr id="982" name="t"/>
          <p:cNvSpPr txBox="1"/>
          <p:nvPr/>
        </p:nvSpPr>
        <p:spPr>
          <a:xfrm>
            <a:off x="2286000" y="2240280"/>
            <a:ext cx="18288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/>
              </a:rPr>
              <a:t>HTTP REST</a:t>
            </a:r>
          </a:p>
        </p:txBody>
      </p:sp>
      <p:cxnSp>
        <p:nvCxnSpPr>
          <p:cNvPr id="983" name="ln"/>
          <p:cNvCxnSpPr/>
          <p:nvPr/>
        </p:nvCxnSpPr>
        <p:spPr>
          <a:xfrm flipH="0" flipV="0">
            <a:off x="3200400" y="2194560"/>
            <a:ext cx="1" cy="22860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sp>
        <p:nvSpPr>
          <p:cNvPr id="984" name="t"/>
          <p:cNvSpPr txBox="1"/>
          <p:nvPr/>
        </p:nvSpPr>
        <p:spPr>
          <a:xfrm>
            <a:off x="7772400" y="2240280"/>
            <a:ext cx="18288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/>
              </a:rPr>
              <a:t>WebSocket (Socket.IO)</a:t>
            </a:r>
          </a:p>
        </p:txBody>
      </p:sp>
      <p:cxnSp>
        <p:nvCxnSpPr>
          <p:cNvPr id="985" name="ln"/>
          <p:cNvCxnSpPr/>
          <p:nvPr/>
        </p:nvCxnSpPr>
        <p:spPr>
          <a:xfrm flipH="0" flipV="0">
            <a:off x="8686800" y="2194560"/>
            <a:ext cx="1" cy="22860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sp>
        <p:nvSpPr>
          <p:cNvPr id="986" name="s"/>
          <p:cNvSpPr/>
          <p:nvPr/>
        </p:nvSpPr>
        <p:spPr>
          <a:xfrm>
            <a:off x="365760" y="2423160"/>
            <a:ext cx="11430000" cy="1280160"/>
          </a:xfrm>
          <a:prstGeom prst="roundRect">
            <a:avLst>
              <a:gd name="adj" fmla="val 8000"/>
            </a:avLst>
          </a:prstGeom>
          <a:solidFill>
            <a:srgbClr val="0B1739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987" name="r"/>
          <p:cNvSpPr/>
          <p:nvPr/>
        </p:nvSpPr>
        <p:spPr>
          <a:xfrm>
            <a:off x="365760" y="2423160"/>
            <a:ext cx="11430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" name="t"/>
          <p:cNvSpPr txBox="1"/>
          <p:nvPr/>
        </p:nvSpPr>
        <p:spPr>
          <a:xfrm>
            <a:off x="548640" y="2496312"/>
            <a:ext cx="7315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FBBF24"/>
                </a:solidFill>
                <a:latin typeface="Calibri"/>
              </a:rPr>
              <a:t>[ TIER 2 ]  API GATEWAY  -  Node.js + Express + Socket.IO</a:t>
            </a:r>
          </a:p>
        </p:txBody>
      </p:sp>
      <p:sp>
        <p:nvSpPr>
          <p:cNvPr id="989" name="s"/>
          <p:cNvSpPr/>
          <p:nvPr/>
        </p:nvSpPr>
        <p:spPr>
          <a:xfrm>
            <a:off x="548640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990" name="s"/>
          <p:cNvSpPr/>
          <p:nvPr/>
        </p:nvSpPr>
        <p:spPr>
          <a:xfrm>
            <a:off x="1792224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991" name="s"/>
          <p:cNvSpPr/>
          <p:nvPr/>
        </p:nvSpPr>
        <p:spPr>
          <a:xfrm>
            <a:off x="3035808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Dispatch</a:t>
            </a:r>
          </a:p>
        </p:txBody>
      </p:sp>
      <p:sp>
        <p:nvSpPr>
          <p:cNvPr id="992" name="s"/>
          <p:cNvSpPr/>
          <p:nvPr/>
        </p:nvSpPr>
        <p:spPr>
          <a:xfrm>
            <a:off x="4279392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Crisis</a:t>
            </a:r>
          </a:p>
        </p:txBody>
      </p:sp>
      <p:sp>
        <p:nvSpPr>
          <p:cNvPr id="993" name="s"/>
          <p:cNvSpPr/>
          <p:nvPr/>
        </p:nvSpPr>
        <p:spPr>
          <a:xfrm>
            <a:off x="5522976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Chat</a:t>
            </a:r>
          </a:p>
        </p:txBody>
      </p:sp>
      <p:sp>
        <p:nvSpPr>
          <p:cNvPr id="994" name="s"/>
          <p:cNvSpPr/>
          <p:nvPr/>
        </p:nvSpPr>
        <p:spPr>
          <a:xfrm>
            <a:off x="6766560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995" name="s"/>
          <p:cNvSpPr/>
          <p:nvPr/>
        </p:nvSpPr>
        <p:spPr>
          <a:xfrm>
            <a:off x="8010144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996" name="s"/>
          <p:cNvSpPr/>
          <p:nvPr/>
        </p:nvSpPr>
        <p:spPr>
          <a:xfrm>
            <a:off x="9253728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Notify</a:t>
            </a:r>
          </a:p>
        </p:txBody>
      </p:sp>
      <p:sp>
        <p:nvSpPr>
          <p:cNvPr id="997" name="s"/>
          <p:cNvSpPr/>
          <p:nvPr/>
        </p:nvSpPr>
        <p:spPr>
          <a:xfrm>
            <a:off x="10497312" y="2788920"/>
            <a:ext cx="1188720" cy="292608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998" name="t"/>
          <p:cNvSpPr txBox="1"/>
          <p:nvPr/>
        </p:nvSpPr>
        <p:spPr>
          <a:xfrm>
            <a:off x="548640" y="3172968"/>
            <a:ext cx="365760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BBF24"/>
                </a:solidFill>
                <a:latin typeface="Calibri"/>
              </a:rPr>
              <a:t>MIDDLEWARE CHAIN:</a:t>
            </a:r>
          </a:p>
        </p:txBody>
      </p:sp>
      <p:sp>
        <p:nvSpPr>
          <p:cNvPr id="999" name="r"/>
          <p:cNvSpPr/>
          <p:nvPr/>
        </p:nvSpPr>
        <p:spPr>
          <a:xfrm>
            <a:off x="548640" y="3383280"/>
            <a:ext cx="11064240" cy="246888"/>
          </a:xfrm>
          <a:prstGeom prst="roundRect">
            <a:avLst>
              <a:gd name="adj" fmla="val 4000"/>
            </a:avLst>
          </a:prstGeom>
          <a:solidFill>
            <a:srgbClr val="060E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" name="t"/>
          <p:cNvSpPr txBox="1"/>
          <p:nvPr/>
        </p:nvSpPr>
        <p:spPr>
          <a:xfrm>
            <a:off x="640080" y="3410712"/>
            <a:ext cx="1097280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Helmet  |  CORS  |  Rate Limiter (100/15min)  |  JWT Auth (15m+7d)  |  RBAC  |  Mongo Sanitize  |  XSS Clean  |  HPP</a:t>
            </a:r>
          </a:p>
        </p:txBody>
      </p:sp>
      <p:cxnSp>
        <p:nvCxnSpPr>
          <p:cNvPr id="1001" name="ln"/>
          <p:cNvCxnSpPr/>
          <p:nvPr/>
        </p:nvCxnSpPr>
        <p:spPr>
          <a:xfrm flipH="0" flipV="0">
            <a:off x="2743200" y="3703320"/>
            <a:ext cx="1" cy="18288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cxnSp>
        <p:nvCxnSpPr>
          <p:cNvPr id="1002" name="ln"/>
          <p:cNvCxnSpPr/>
          <p:nvPr/>
        </p:nvCxnSpPr>
        <p:spPr>
          <a:xfrm flipH="0" flipV="0">
            <a:off x="6126480" y="3703320"/>
            <a:ext cx="1" cy="18288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cxnSp>
        <p:nvCxnSpPr>
          <p:cNvPr id="1003" name="ln"/>
          <p:cNvCxnSpPr/>
          <p:nvPr/>
        </p:nvCxnSpPr>
        <p:spPr>
          <a:xfrm flipH="0" flipV="0">
            <a:off x="9144000" y="3703320"/>
            <a:ext cx="1" cy="182880"/>
          </a:xfrm>
          <a:prstGeom prst="line">
            <a:avLst/>
          </a:prstGeom>
          <a:ln w="15000">
            <a:solidFill>
              <a:srgbClr val="94A3B8"/>
            </a:solidFill>
          </a:ln>
        </p:spPr>
      </p:cxnSp>
      <p:sp>
        <p:nvSpPr>
          <p:cNvPr id="1004" name="s"/>
          <p:cNvSpPr/>
          <p:nvPr/>
        </p:nvSpPr>
        <p:spPr>
          <a:xfrm>
            <a:off x="365760" y="393192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1005" name="r"/>
          <p:cNvSpPr/>
          <p:nvPr/>
        </p:nvSpPr>
        <p:spPr>
          <a:xfrm>
            <a:off x="365760" y="393192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" name="t"/>
          <p:cNvSpPr txBox="1"/>
          <p:nvPr/>
        </p:nvSpPr>
        <p:spPr>
          <a:xfrm>
            <a:off x="548640" y="4005072"/>
            <a:ext cx="73152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00" b="1" dirty="0">
                <a:solidFill>
                  <a:srgbClr val="10B981"/>
                </a:solidFill>
                <a:latin typeface="Calibri"/>
              </a:rPr>
              <a:t>[ TIER 3 ]  DATA &amp; EXTERNAL SERVICES</a:t>
            </a:r>
          </a:p>
        </p:txBody>
      </p:sp>
      <p:sp>
        <p:nvSpPr>
          <p:cNvPr id="1007" name="s"/>
          <p:cNvSpPr/>
          <p:nvPr/>
        </p:nvSpPr>
        <p:spPr>
          <a:xfrm>
            <a:off x="548640" y="4297680"/>
            <a:ext cx="3611880" cy="3200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008" name="t"/>
          <p:cNvSpPr txBox="1"/>
          <p:nvPr/>
        </p:nvSpPr>
        <p:spPr>
          <a:xfrm>
            <a:off x="548640" y="4645152"/>
            <a:ext cx="3611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/>
              </a:rPr>
              <a:t>Primary DB - Users, Orders, Inventory, Chat, Routes</a:t>
            </a:r>
          </a:p>
        </p:txBody>
      </p:sp>
      <p:sp>
        <p:nvSpPr>
          <p:cNvPr id="1009" name="s"/>
          <p:cNvSpPr/>
          <p:nvPr/>
        </p:nvSpPr>
        <p:spPr>
          <a:xfrm>
            <a:off x="4343400" y="4297680"/>
            <a:ext cx="3611880" cy="32004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1010" name="t"/>
          <p:cNvSpPr txBox="1"/>
          <p:nvPr/>
        </p:nvSpPr>
        <p:spPr>
          <a:xfrm>
            <a:off x="4343400" y="4645152"/>
            <a:ext cx="3611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/>
              </a:rPr>
              <a:t>Cache, GPS Location, Sessions, Rate Limits, OTP</a:t>
            </a:r>
          </a:p>
        </p:txBody>
      </p:sp>
      <p:sp>
        <p:nvSpPr>
          <p:cNvPr id="1011" name="s"/>
          <p:cNvSpPr/>
          <p:nvPr/>
        </p:nvSpPr>
        <p:spPr>
          <a:xfrm>
            <a:off x="8138160" y="4297680"/>
            <a:ext cx="3611880" cy="32004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External APIs</a:t>
            </a:r>
          </a:p>
        </p:txBody>
      </p:sp>
      <p:sp>
        <p:nvSpPr>
          <p:cNvPr id="1012" name="t"/>
          <p:cNvSpPr txBox="1"/>
          <p:nvPr/>
        </p:nvSpPr>
        <p:spPr>
          <a:xfrm>
            <a:off x="8138160" y="4645152"/>
            <a:ext cx="361188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/>
              </a:rPr>
              <a:t>Ola Maps, Razorpay, AWS S3, Gmail SMTP, Fast2SMS</a:t>
            </a:r>
          </a:p>
        </p:txBody>
      </p:sp>
      <p:sp>
        <p:nvSpPr>
          <p:cNvPr id="1013" name="s"/>
          <p:cNvSpPr/>
          <p:nvPr/>
        </p:nvSpPr>
        <p:spPr>
          <a:xfrm>
            <a:off x="365760" y="502920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060E26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1014" name="r"/>
          <p:cNvSpPr/>
          <p:nvPr/>
        </p:nvSpPr>
        <p:spPr>
          <a:xfrm>
            <a:off x="365760" y="5029200"/>
            <a:ext cx="3703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" name="t"/>
          <p:cNvSpPr txBox="1"/>
          <p:nvPr/>
        </p:nvSpPr>
        <p:spPr>
          <a:xfrm>
            <a:off x="502920" y="5120640"/>
            <a:ext cx="3657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/>
              </a:rPr>
              <a:t>[*]  PERFORMANCE METRICS</a:t>
            </a:r>
          </a:p>
        </p:txBody>
      </p:sp>
      <p:sp>
        <p:nvSpPr>
          <p:cNvPr id="1016" name="t"/>
          <p:cNvSpPr txBox="1"/>
          <p:nvPr/>
        </p:nvSpPr>
        <p:spPr>
          <a:xfrm>
            <a:off x="502920" y="5440680"/>
            <a:ext cx="2194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Auto-Dispatch (9 ord)</a:t>
            </a:r>
          </a:p>
        </p:txBody>
      </p:sp>
      <p:sp>
        <p:nvSpPr>
          <p:cNvPr id="1017" name="t"/>
          <p:cNvSpPr txBox="1"/>
          <p:nvPr/>
        </p:nvSpPr>
        <p:spPr>
          <a:xfrm>
            <a:off x="2697480" y="5440680"/>
            <a:ext cx="12801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BBF24"/>
                </a:solidFill>
                <a:latin typeface="Calibri"/>
              </a:rPr>
              <a:t>55-90 ms</a:t>
            </a:r>
          </a:p>
        </p:txBody>
      </p:sp>
      <p:sp>
        <p:nvSpPr>
          <p:cNvPr id="1018" name="t"/>
          <p:cNvSpPr txBox="1"/>
          <p:nvPr/>
        </p:nvSpPr>
        <p:spPr>
          <a:xfrm>
            <a:off x="502920" y="5660136"/>
            <a:ext cx="2194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Redis ops / sec</a:t>
            </a:r>
          </a:p>
        </p:txBody>
      </p:sp>
      <p:sp>
        <p:nvSpPr>
          <p:cNvPr id="1019" name="t"/>
          <p:cNvSpPr txBox="1"/>
          <p:nvPr/>
        </p:nvSpPr>
        <p:spPr>
          <a:xfrm>
            <a:off x="2697480" y="5660136"/>
            <a:ext cx="12801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BBF24"/>
                </a:solidFill>
                <a:latin typeface="Calibri"/>
              </a:rPr>
              <a:t>6,289 reads</a:t>
            </a:r>
          </a:p>
        </p:txBody>
      </p:sp>
      <p:sp>
        <p:nvSpPr>
          <p:cNvPr id="1020" name="t"/>
          <p:cNvSpPr txBox="1"/>
          <p:nvPr/>
        </p:nvSpPr>
        <p:spPr>
          <a:xfrm>
            <a:off x="502920" y="5879592"/>
            <a:ext cx="2194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API (cached)</a:t>
            </a:r>
          </a:p>
        </p:txBody>
      </p:sp>
      <p:sp>
        <p:nvSpPr>
          <p:cNvPr id="1021" name="t"/>
          <p:cNvSpPr txBox="1"/>
          <p:nvPr/>
        </p:nvSpPr>
        <p:spPr>
          <a:xfrm>
            <a:off x="2697480" y="5879592"/>
            <a:ext cx="12801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BBF24"/>
                </a:solidFill>
                <a:latin typeface="Calibri"/>
              </a:rPr>
              <a:t>&lt; 5 ms</a:t>
            </a:r>
          </a:p>
        </p:txBody>
      </p:sp>
      <p:sp>
        <p:nvSpPr>
          <p:cNvPr id="1022" name="t"/>
          <p:cNvSpPr txBox="1"/>
          <p:nvPr/>
        </p:nvSpPr>
        <p:spPr>
          <a:xfrm>
            <a:off x="502920" y="6099048"/>
            <a:ext cx="2194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GPS broadcast</a:t>
            </a:r>
          </a:p>
        </p:txBody>
      </p:sp>
      <p:sp>
        <p:nvSpPr>
          <p:cNvPr id="1023" name="t"/>
          <p:cNvSpPr txBox="1"/>
          <p:nvPr/>
        </p:nvSpPr>
        <p:spPr>
          <a:xfrm>
            <a:off x="2697480" y="6099048"/>
            <a:ext cx="12801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BBF24"/>
                </a:solidFill>
                <a:latin typeface="Calibri"/>
              </a:rPr>
              <a:t>every 5 s</a:t>
            </a:r>
          </a:p>
        </p:txBody>
      </p:sp>
      <p:sp>
        <p:nvSpPr>
          <p:cNvPr id="1024" name="t"/>
          <p:cNvSpPr txBox="1"/>
          <p:nvPr/>
        </p:nvSpPr>
        <p:spPr>
          <a:xfrm>
            <a:off x="502920" y="6318504"/>
            <a:ext cx="21945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94A3B8"/>
                </a:solidFill>
                <a:latin typeface="Calibri"/>
              </a:rPr>
              <a:t>Concurrent sockets</a:t>
            </a:r>
          </a:p>
        </p:txBody>
      </p:sp>
      <p:sp>
        <p:nvSpPr>
          <p:cNvPr id="1025" name="t"/>
          <p:cNvSpPr txBox="1"/>
          <p:nvPr/>
        </p:nvSpPr>
        <p:spPr>
          <a:xfrm>
            <a:off x="2697480" y="6318504"/>
            <a:ext cx="128016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BBF24"/>
                </a:solidFill>
                <a:latin typeface="Calibri"/>
              </a:rPr>
              <a:t>1000+</a:t>
            </a:r>
          </a:p>
        </p:txBody>
      </p:sp>
      <p:sp>
        <p:nvSpPr>
          <p:cNvPr id="1026" name="s"/>
          <p:cNvSpPr/>
          <p:nvPr/>
        </p:nvSpPr>
        <p:spPr>
          <a:xfrm>
            <a:off x="4251960" y="502920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0B1739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1027" name="r"/>
          <p:cNvSpPr/>
          <p:nvPr/>
        </p:nvSpPr>
        <p:spPr>
          <a:xfrm>
            <a:off x="4251960" y="5029200"/>
            <a:ext cx="37033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" name="t"/>
          <p:cNvSpPr txBox="1"/>
          <p:nvPr/>
        </p:nvSpPr>
        <p:spPr>
          <a:xfrm>
            <a:off x="4389120" y="5120640"/>
            <a:ext cx="3657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F97316"/>
                </a:solidFill>
                <a:latin typeface="Calibri"/>
              </a:rPr>
              <a:t>[*]  CORE ALGORITHMS</a:t>
            </a:r>
          </a:p>
        </p:txBody>
      </p:sp>
      <p:sp>
        <p:nvSpPr>
          <p:cNvPr id="1029" name="t"/>
          <p:cNvSpPr txBox="1"/>
          <p:nvPr/>
        </p:nvSpPr>
        <p:spPr>
          <a:xfrm>
            <a:off x="4389120" y="5440680"/>
            <a:ext cx="146304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97316"/>
                </a:solidFill>
                <a:latin typeface="Calibri"/>
              </a:rPr>
              <a:t>K-Means++</a:t>
            </a:r>
          </a:p>
        </p:txBody>
      </p:sp>
      <p:sp>
        <p:nvSpPr>
          <p:cNvPr id="1030" name="t"/>
          <p:cNvSpPr txBox="1"/>
          <p:nvPr/>
        </p:nvSpPr>
        <p:spPr>
          <a:xfrm>
            <a:off x="5852160" y="5440680"/>
            <a:ext cx="201168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C8D2E0"/>
                </a:solidFill>
                <a:latin typeface="Calibri"/>
              </a:rPr>
              <a:t>Order clustering by GPS</a:t>
            </a:r>
          </a:p>
        </p:txBody>
      </p:sp>
      <p:sp>
        <p:nvSpPr>
          <p:cNvPr id="1031" name="t"/>
          <p:cNvSpPr txBox="1"/>
          <p:nvPr/>
        </p:nvSpPr>
        <p:spPr>
          <a:xfrm>
            <a:off x="4389120" y="5660136"/>
            <a:ext cx="146304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97316"/>
                </a:solidFill>
                <a:latin typeface="Calibri"/>
              </a:rPr>
              <a:t>Greedy Nearest</a:t>
            </a:r>
          </a:p>
        </p:txBody>
      </p:sp>
      <p:sp>
        <p:nvSpPr>
          <p:cNvPr id="1032" name="t"/>
          <p:cNvSpPr txBox="1"/>
          <p:nvPr/>
        </p:nvSpPr>
        <p:spPr>
          <a:xfrm>
            <a:off x="5852160" y="5660136"/>
            <a:ext cx="201168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C8D2E0"/>
                </a:solidFill>
                <a:latin typeface="Calibri"/>
              </a:rPr>
              <a:t>Agent &lt;-&gt; cluster pairing</a:t>
            </a:r>
          </a:p>
        </p:txBody>
      </p:sp>
      <p:sp>
        <p:nvSpPr>
          <p:cNvPr id="1033" name="t"/>
          <p:cNvSpPr txBox="1"/>
          <p:nvPr/>
        </p:nvSpPr>
        <p:spPr>
          <a:xfrm>
            <a:off x="4389120" y="5879592"/>
            <a:ext cx="146304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97316"/>
                </a:solidFill>
                <a:latin typeface="Calibri"/>
              </a:rPr>
              <a:t>Priority-Weighted</a:t>
            </a:r>
          </a:p>
        </p:txBody>
      </p:sp>
      <p:sp>
        <p:nvSpPr>
          <p:cNvPr id="1034" name="t"/>
          <p:cNvSpPr txBox="1"/>
          <p:nvPr/>
        </p:nvSpPr>
        <p:spPr>
          <a:xfrm>
            <a:off x="5852160" y="5879592"/>
            <a:ext cx="201168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C8D2E0"/>
                </a:solidFill>
                <a:latin typeface="Calibri"/>
              </a:rPr>
              <a:t>Route sequencing</a:t>
            </a:r>
          </a:p>
        </p:txBody>
      </p:sp>
      <p:sp>
        <p:nvSpPr>
          <p:cNvPr id="1035" name="t"/>
          <p:cNvSpPr txBox="1"/>
          <p:nvPr/>
        </p:nvSpPr>
        <p:spPr>
          <a:xfrm>
            <a:off x="4389120" y="6099048"/>
            <a:ext cx="146304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97316"/>
                </a:solidFill>
                <a:latin typeface="Calibri"/>
              </a:rPr>
              <a:t>Heuristic P-Score</a:t>
            </a:r>
          </a:p>
        </p:txBody>
      </p:sp>
      <p:sp>
        <p:nvSpPr>
          <p:cNvPr id="1036" name="t"/>
          <p:cNvSpPr txBox="1"/>
          <p:nvPr/>
        </p:nvSpPr>
        <p:spPr>
          <a:xfrm>
            <a:off x="5852160" y="6099048"/>
            <a:ext cx="201168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C8D2E0"/>
                </a:solidFill>
                <a:latin typeface="Calibri"/>
              </a:rPr>
              <a:t>Crisis-mode allocation</a:t>
            </a:r>
          </a:p>
        </p:txBody>
      </p:sp>
      <p:sp>
        <p:nvSpPr>
          <p:cNvPr id="1037" name="t"/>
          <p:cNvSpPr txBox="1"/>
          <p:nvPr/>
        </p:nvSpPr>
        <p:spPr>
          <a:xfrm>
            <a:off x="4389120" y="6318504"/>
            <a:ext cx="146304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F97316"/>
                </a:solidFill>
                <a:latin typeface="Calibri"/>
              </a:rPr>
              <a:t>Max-Heap Ranking</a:t>
            </a:r>
          </a:p>
        </p:txBody>
      </p:sp>
      <p:sp>
        <p:nvSpPr>
          <p:cNvPr id="1038" name="t"/>
          <p:cNvSpPr txBox="1"/>
          <p:nvPr/>
        </p:nvSpPr>
        <p:spPr>
          <a:xfrm>
            <a:off x="5852160" y="6318504"/>
            <a:ext cx="201168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dirty="0">
                <a:solidFill>
                  <a:srgbClr val="C8D2E0"/>
                </a:solidFill>
                <a:latin typeface="Calibri"/>
              </a:rPr>
              <a:t>Descending P order</a:t>
            </a:r>
          </a:p>
        </p:txBody>
      </p:sp>
      <p:sp>
        <p:nvSpPr>
          <p:cNvPr id="1039" name="s"/>
          <p:cNvSpPr/>
          <p:nvPr/>
        </p:nvSpPr>
        <p:spPr>
          <a:xfrm>
            <a:off x="8138160" y="502920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7264C"/>
          </a:solidFill>
          <a:ln>
            <a:noFill/>
          </a:ln>
          <a:effectLst>
            <a:outerShdw blurRad="50800" dist="38100" dir="2700000" rotWithShape="0">
              <a:srgbClr val="000000">
                <a:alpha val="35000"/>
              </a:srgbClr>
            </a:outerShdw>
          </a:effectLst>
        </p:spPr>
        <p:txBody>
          <a:bodyPr wrap="square" anchor="ctr" rtlCol="0" lIns="91440" tIns="91440" rIns="91440" bIns="91440"/>
          <a:lstStyle/>
          <a:p/>
        </p:txBody>
      </p:sp>
      <p:sp>
        <p:nvSpPr>
          <p:cNvPr id="1040" name="r"/>
          <p:cNvSpPr/>
          <p:nvPr/>
        </p:nvSpPr>
        <p:spPr>
          <a:xfrm>
            <a:off x="8138160" y="502920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" name="t"/>
          <p:cNvSpPr txBox="1"/>
          <p:nvPr/>
        </p:nvSpPr>
        <p:spPr>
          <a:xfrm>
            <a:off x="8275320" y="5120640"/>
            <a:ext cx="3657600" cy="27432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/>
              </a:rPr>
              <a:t>[*]  ORDER LIFECYCLE</a:t>
            </a:r>
          </a:p>
        </p:txBody>
      </p:sp>
      <p:sp>
        <p:nvSpPr>
          <p:cNvPr id="1042" name="c"/>
          <p:cNvSpPr/>
          <p:nvPr/>
        </p:nvSpPr>
        <p:spPr>
          <a:xfrm>
            <a:off x="8321040" y="544068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" name="t"/>
          <p:cNvSpPr txBox="1"/>
          <p:nvPr/>
        </p:nvSpPr>
        <p:spPr>
          <a:xfrm>
            <a:off x="8321040" y="5468112"/>
            <a:ext cx="201168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4" name="t"/>
          <p:cNvSpPr txBox="1"/>
          <p:nvPr/>
        </p:nvSpPr>
        <p:spPr>
          <a:xfrm>
            <a:off x="8641080" y="5468112"/>
            <a:ext cx="228600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CREATED</a:t>
            </a:r>
          </a:p>
        </p:txBody>
      </p:sp>
      <p:cxnSp>
        <p:nvCxnSpPr>
          <p:cNvPr id="1045" name="ln"/>
          <p:cNvCxnSpPr/>
          <p:nvPr/>
        </p:nvCxnSpPr>
        <p:spPr>
          <a:xfrm flipH="0" flipV="0">
            <a:off x="8421624" y="5641848"/>
            <a:ext cx="1" cy="73152"/>
          </a:xfrm>
          <a:prstGeom prst="line">
            <a:avLst/>
          </a:prstGeom>
          <a:ln w="15000">
            <a:solidFill>
              <a:srgbClr val="3B82F6"/>
            </a:solidFill>
          </a:ln>
        </p:spPr>
      </p:cxnSp>
      <p:sp>
        <p:nvSpPr>
          <p:cNvPr id="1046" name="c"/>
          <p:cNvSpPr/>
          <p:nvPr/>
        </p:nvSpPr>
        <p:spPr>
          <a:xfrm>
            <a:off x="8321040" y="5715000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" name="t"/>
          <p:cNvSpPr txBox="1"/>
          <p:nvPr/>
        </p:nvSpPr>
        <p:spPr>
          <a:xfrm>
            <a:off x="8321040" y="5742432"/>
            <a:ext cx="201168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48" name="t"/>
          <p:cNvSpPr txBox="1"/>
          <p:nvPr/>
        </p:nvSpPr>
        <p:spPr>
          <a:xfrm>
            <a:off x="8641080" y="5742432"/>
            <a:ext cx="228600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ASSIGNED</a:t>
            </a:r>
          </a:p>
        </p:txBody>
      </p:sp>
      <p:cxnSp>
        <p:nvCxnSpPr>
          <p:cNvPr id="1049" name="ln"/>
          <p:cNvCxnSpPr/>
          <p:nvPr/>
        </p:nvCxnSpPr>
        <p:spPr>
          <a:xfrm flipH="0" flipV="0">
            <a:off x="8421624" y="5916168"/>
            <a:ext cx="1" cy="73152"/>
          </a:xfrm>
          <a:prstGeom prst="line">
            <a:avLst/>
          </a:prstGeom>
          <a:ln w="15000">
            <a:solidFill>
              <a:srgbClr val="F97316"/>
            </a:solidFill>
          </a:ln>
        </p:spPr>
      </p:cxnSp>
      <p:sp>
        <p:nvSpPr>
          <p:cNvPr id="1050" name="c"/>
          <p:cNvSpPr/>
          <p:nvPr/>
        </p:nvSpPr>
        <p:spPr>
          <a:xfrm>
            <a:off x="8321040" y="598932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1" name="t"/>
          <p:cNvSpPr txBox="1"/>
          <p:nvPr/>
        </p:nvSpPr>
        <p:spPr>
          <a:xfrm>
            <a:off x="8321040" y="6016752"/>
            <a:ext cx="201168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52" name="t"/>
          <p:cNvSpPr txBox="1"/>
          <p:nvPr/>
        </p:nvSpPr>
        <p:spPr>
          <a:xfrm>
            <a:off x="8641080" y="6016752"/>
            <a:ext cx="228600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OUT FOR DELIVERY</a:t>
            </a:r>
          </a:p>
        </p:txBody>
      </p:sp>
      <p:cxnSp>
        <p:nvCxnSpPr>
          <p:cNvPr id="1053" name="ln"/>
          <p:cNvCxnSpPr/>
          <p:nvPr/>
        </p:nvCxnSpPr>
        <p:spPr>
          <a:xfrm flipH="0" flipV="0">
            <a:off x="8421624" y="6190488"/>
            <a:ext cx="1" cy="73152"/>
          </a:xfrm>
          <a:prstGeom prst="line">
            <a:avLst/>
          </a:prstGeom>
          <a:ln w="15000">
            <a:solidFill>
              <a:srgbClr val="8B5CF6"/>
            </a:solidFill>
          </a:ln>
        </p:spPr>
      </p:cxnSp>
      <p:sp>
        <p:nvSpPr>
          <p:cNvPr id="1054" name="c"/>
          <p:cNvSpPr/>
          <p:nvPr/>
        </p:nvSpPr>
        <p:spPr>
          <a:xfrm>
            <a:off x="8321040" y="626364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5" name="t"/>
          <p:cNvSpPr txBox="1"/>
          <p:nvPr/>
        </p:nvSpPr>
        <p:spPr>
          <a:xfrm>
            <a:off x="8321040" y="6291072"/>
            <a:ext cx="201168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56" name="t"/>
          <p:cNvSpPr txBox="1"/>
          <p:nvPr/>
        </p:nvSpPr>
        <p:spPr>
          <a:xfrm>
            <a:off x="8641080" y="6291072"/>
            <a:ext cx="2286000" cy="201168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057" name="t"/>
          <p:cNvSpPr txBox="1"/>
          <p:nvPr/>
        </p:nvSpPr>
        <p:spPr>
          <a:xfrm>
            <a:off x="8275320" y="6400800"/>
            <a:ext cx="3474720" cy="164592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700" b="1" dirty="0">
                <a:solidFill>
                  <a:srgbClr val="FBBF24"/>
                </a:solidFill>
                <a:latin typeface="Calibri"/>
              </a:rPr>
              <a:t>OTP + Photo proof verification at delivery</a:t>
            </a:r>
          </a:p>
        </p:txBody>
      </p:sp>
      <p:sp>
        <p:nvSpPr>
          <p:cNvPr id="1058" name="t"/>
          <p:cNvSpPr txBox="1"/>
          <p:nvPr/>
        </p:nvSpPr>
        <p:spPr>
          <a:xfrm>
            <a:off x="365760" y="6629400"/>
            <a:ext cx="100584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800" b="1" dirty="0">
                <a:solidFill>
                  <a:srgbClr val="94A3B8"/>
                </a:solidFill>
                <a:latin typeface="Calibri"/>
              </a:rPr>
              <a:t>Production-grade backend  -  Docker + K8s ready  -  REST + WebSocket  -  Multi-database (MongoDB + Redis)</a:t>
            </a:r>
          </a:p>
        </p:txBody>
      </p:sp>
      <p:sp>
        <p:nvSpPr>
          <p:cNvPr id="1059" name="t"/>
          <p:cNvSpPr txBox="1"/>
          <p:nvPr/>
        </p:nvSpPr>
        <p:spPr>
          <a:xfrm>
            <a:off x="11521440" y="6629400"/>
            <a:ext cx="457200" cy="18288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r">
              <a:buNone/>
            </a:pPr>
            <a:r>
              <a:rPr lang="en-US" sz="1200" b="1" dirty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transition spd="med">
    <p:split orient="horz" dir="out"/>
  </p:transition>
  <p:clrMapOvr>
    <a:masterClrMapping/>
  </p:clrMapOvr>
</p:sld>
</file>

<file path=ppt/theme/theme1.xml><?xml version="1.0" encoding="utf-8"?>
<a:theme xmlns:a="http://schemas.openxmlformats.org/drawingml/2006/main" name="CylDist">
  <a:themeElements>
    <a:clrScheme name="CylDist">
      <a:dk1>
        <a:srgbClr val="0B1739"/>
      </a:dk1>
      <a:lt1>
        <a:srgbClr val="FFFFFF"/>
      </a:lt1>
      <a:dk2>
        <a:srgbClr val="17264C"/>
      </a:dk2>
      <a:lt2>
        <a:srgbClr val="F8FAFC"/>
      </a:lt2>
      <a:accent1>
        <a:srgbClr val="3B82F6"/>
      </a:accent1>
      <a:accent2>
        <a:srgbClr val="F97316"/>
      </a:accent2>
      <a:accent3>
        <a:srgbClr val="10B981"/>
      </a:accent3>
      <a:accent4>
        <a:srgbClr val="FBBF24"/>
      </a:accent4>
      <a:accent5>
        <a:srgbClr val="8B5CF6"/>
      </a:accent5>
      <a:accent6>
        <a:srgbClr val="14B8A6"/>
      </a:accent6>
      <a:hlink>
        <a:srgbClr val="3B82F6"/>
      </a:hlink>
      <a:folHlink>
        <a:srgbClr val="8B5CF6"/>
      </a:folHlink>
    </a:clrScheme>
    <a:fontScheme name="CylDi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rgbClr val="FFFFFF"/>
        </a:solidFill>
        <a:solidFill>
          <a:srgbClr val="FFFFFF"/>
        </a:solidFill>
        <a:solidFill>
          <a:srgbClr val="FFFFFF"/>
        </a:solidFill>
      </a:fillStyleLst>
      <a:lnStyleLst>
        <a:ln w="9525">
          <a:solidFill>
            <a:srgbClr val="000000"/>
          </a:solidFill>
        </a:ln>
        <a:ln w="9525">
          <a:solidFill>
            <a:srgbClr val="000000"/>
          </a:solidFill>
        </a:ln>
        <a:ln w="9525">
          <a:solidFill>
            <a:srgbClr val="000000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FFFFFF"/>
        </a:solidFill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9</Slides>
  <Company>Team CylDist</Company>
</Properties>
</file>

<file path=docProps/core.xml><?xml version="1.0" encoding="utf-8"?>
<cp:coreProperties xmlns:cp="http://schemas.openxmlformats.org/package/2006/metadata/core-properties" xmlns:dc="http://purl.org/dc/elements/1.1/">
  <dc:title>Cylinder Distribution Platform - Backend API</dc:title>
  <dc:creator>Team CylDist</dc:creator>
  <dc:subject>College Engineering Project</dc:subject>
</cp:coreProperties>
</file>
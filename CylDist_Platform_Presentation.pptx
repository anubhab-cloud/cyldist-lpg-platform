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Master" Target="slideMasters/slideMaster1.xml"/><Relationship Id="rId11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2" name="c"/>
          <p:cNvSpPr/>
          <p:nvPr/>
        </p:nvSpPr>
        <p:spPr>
          <a:xfrm>
            <a:off x="9601200" y="-1828800"/>
            <a:ext cx="4114800" cy="41148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3" name="c"/>
          <p:cNvSpPr/>
          <p:nvPr/>
        </p:nvSpPr>
        <p:spPr>
          <a:xfrm>
            <a:off x="10058400" y="-1371600"/>
            <a:ext cx="2926080" cy="292608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104" name="c"/>
          <p:cNvSpPr/>
          <p:nvPr/>
        </p:nvSpPr>
        <p:spPr>
          <a:xfrm>
            <a:off x="9326880" y="0"/>
            <a:ext cx="1463040" cy="146304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05" name="c"/>
          <p:cNvSpPr/>
          <p:nvPr/>
        </p:nvSpPr>
        <p:spPr>
          <a:xfrm>
            <a:off x="-914400" y="5029200"/>
            <a:ext cx="2560320" cy="25603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6" name="c"/>
          <p:cNvSpPr/>
          <p:nvPr/>
        </p:nvSpPr>
        <p:spPr>
          <a:xfrm>
            <a:off x="0" y="5486400"/>
            <a:ext cx="1280160" cy="12801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7" name="c"/>
          <p:cNvSpPr/>
          <p:nvPr/>
        </p:nvSpPr>
        <p:spPr>
          <a:xfrm>
            <a:off x="7772400" y="4114800"/>
            <a:ext cx="164592" cy="164592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08" name="c"/>
          <p:cNvSpPr/>
          <p:nvPr/>
        </p:nvSpPr>
        <p:spPr>
          <a:xfrm>
            <a:off x="8503920" y="4572000"/>
            <a:ext cx="109728" cy="109728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9" name="c"/>
          <p:cNvSpPr/>
          <p:nvPr/>
        </p:nvSpPr>
        <p:spPr>
          <a:xfrm>
            <a:off x="8046720" y="5029200"/>
            <a:ext cx="137160" cy="1371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0" name="s"/>
          <p:cNvSpPr/>
          <p:nvPr/>
        </p:nvSpPr>
        <p:spPr>
          <a:xfrm>
            <a:off x="548640" y="45720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BACKEND API  |  v1.0</a:t>
            </a:r>
          </a:p>
        </p:txBody>
      </p:sp>
      <p:sp>
        <p:nvSpPr>
          <p:cNvPr id="111" name="r"/>
          <p:cNvSpPr/>
          <p:nvPr/>
        </p:nvSpPr>
        <p:spPr>
          <a:xfrm>
            <a:off x="548640" y="1188720"/>
            <a:ext cx="73152" cy="21031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2" name="t"/>
          <p:cNvSpPr txBox="1"/>
          <p:nvPr/>
        </p:nvSpPr>
        <p:spPr>
          <a:xfrm>
            <a:off x="777240" y="1097280"/>
            <a:ext cx="100584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0" b="1" dirty="0">
                <a:solidFill>
                  <a:srgbClr val="FFFFFF"/>
                </a:solidFill>
                <a:latin typeface="Calibri"/>
              </a:rPr>
              <a:t>CYLINDER</a:t>
            </a:r>
          </a:p>
        </p:txBody>
      </p:sp>
      <p:sp>
        <p:nvSpPr>
          <p:cNvPr id="113" name="t"/>
          <p:cNvSpPr txBox="1"/>
          <p:nvPr/>
        </p:nvSpPr>
        <p:spPr>
          <a:xfrm>
            <a:off x="777240" y="1874519"/>
            <a:ext cx="100584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0" b="1" dirty="0">
                <a:solidFill>
                  <a:srgbClr val="F97316"/>
                </a:solidFill>
                <a:latin typeface="Calibri"/>
              </a:rPr>
              <a:t>DISTRIBUTION</a:t>
            </a:r>
          </a:p>
        </p:txBody>
      </p:sp>
      <p:sp>
        <p:nvSpPr>
          <p:cNvPr id="114" name="t"/>
          <p:cNvSpPr txBox="1"/>
          <p:nvPr/>
        </p:nvSpPr>
        <p:spPr>
          <a:xfrm>
            <a:off x="777240" y="2651760"/>
            <a:ext cx="100584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0" b="1" dirty="0">
                <a:solidFill>
                  <a:srgbClr val="FFFFFF"/>
                </a:solidFill>
                <a:latin typeface="Calibri"/>
              </a:rPr>
              <a:t>PLATFORM.</a:t>
            </a:r>
          </a:p>
        </p:txBody>
      </p:sp>
      <p:sp>
        <p:nvSpPr>
          <p:cNvPr id="115" name="r"/>
          <p:cNvSpPr/>
          <p:nvPr/>
        </p:nvSpPr>
        <p:spPr>
          <a:xfrm>
            <a:off x="777240" y="3520440"/>
            <a:ext cx="41148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6" name="t"/>
          <p:cNvSpPr txBox="1"/>
          <p:nvPr/>
        </p:nvSpPr>
        <p:spPr>
          <a:xfrm>
            <a:off x="777240" y="3611880"/>
            <a:ext cx="73152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dirty="0">
                <a:solidFill>
                  <a:srgbClr val="94A3B8"/>
                </a:solidFill>
                <a:latin typeface="Calibri"/>
              </a:rPr>
              <a:t>Production-Grade LPG Delivery Backend</a:t>
            </a:r>
          </a:p>
        </p:txBody>
      </p:sp>
      <p:sp>
        <p:nvSpPr>
          <p:cNvPr id="117" name="s"/>
          <p:cNvSpPr/>
          <p:nvPr/>
        </p:nvSpPr>
        <p:spPr>
          <a:xfrm>
            <a:off x="777240" y="4297680"/>
            <a:ext cx="6858000" cy="1828800"/>
          </a:xfrm>
          <a:prstGeom prst="roundRect">
            <a:avLst>
              <a:gd name="adj" fmla="val 8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t" rtlCol="0" lIns="91440" tIns="91440" rIns="91440" bIns="91440"/>
          <a:lstStyle/>
          <a:p/>
        </p:txBody>
      </p:sp>
      <p:sp>
        <p:nvSpPr>
          <p:cNvPr id="118" name="r"/>
          <p:cNvSpPr/>
          <p:nvPr/>
        </p:nvSpPr>
        <p:spPr>
          <a:xfrm>
            <a:off x="777240" y="4297680"/>
            <a:ext cx="73152" cy="1828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9" name="t"/>
          <p:cNvSpPr txBox="1"/>
          <p:nvPr/>
        </p:nvSpPr>
        <p:spPr>
          <a:xfrm>
            <a:off x="1005840" y="4434840"/>
            <a:ext cx="6400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800" b="1" dirty="0">
                <a:solidFill>
                  <a:srgbClr val="FBBF24"/>
                </a:solidFill>
                <a:latin typeface="Calibri"/>
              </a:rPr>
              <a:t>TEAM CYLDIST</a:t>
            </a:r>
          </a:p>
        </p:txBody>
      </p:sp>
      <p:sp>
        <p:nvSpPr>
          <p:cNvPr id="120" name="t"/>
          <p:cNvSpPr txBox="1"/>
          <p:nvPr/>
        </p:nvSpPr>
        <p:spPr>
          <a:xfrm>
            <a:off x="1005840" y="4800600"/>
            <a:ext cx="6400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Department of Computer Engineering</a:t>
            </a:r>
          </a:p>
        </p:txBody>
      </p:sp>
      <p:sp>
        <p:nvSpPr>
          <p:cNvPr id="121" name="t"/>
          <p:cNvSpPr txBox="1"/>
          <p:nvPr/>
        </p:nvSpPr>
        <p:spPr>
          <a:xfrm>
            <a:off x="1005840" y="5212080"/>
            <a:ext cx="32004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Member 1  -  Lead Developer</a:t>
            </a:r>
          </a:p>
        </p:txBody>
      </p:sp>
      <p:sp>
        <p:nvSpPr>
          <p:cNvPr id="122" name="t"/>
          <p:cNvSpPr txBox="1"/>
          <p:nvPr/>
        </p:nvSpPr>
        <p:spPr>
          <a:xfrm>
            <a:off x="1005840" y="5486400"/>
            <a:ext cx="32004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Member 2  -  Backend Engineer</a:t>
            </a:r>
          </a:p>
        </p:txBody>
      </p:sp>
      <p:sp>
        <p:nvSpPr>
          <p:cNvPr id="123" name="t"/>
          <p:cNvSpPr txBox="1"/>
          <p:nvPr/>
        </p:nvSpPr>
        <p:spPr>
          <a:xfrm>
            <a:off x="4206240" y="5212080"/>
            <a:ext cx="32004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Member 3  -  DevOps &amp; DB</a:t>
            </a:r>
          </a:p>
        </p:txBody>
      </p:sp>
      <p:sp>
        <p:nvSpPr>
          <p:cNvPr id="124" name="t"/>
          <p:cNvSpPr txBox="1"/>
          <p:nvPr/>
        </p:nvSpPr>
        <p:spPr>
          <a:xfrm>
            <a:off x="4206240" y="5486400"/>
            <a:ext cx="32004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Member 4  -  Frontend &amp; QA</a:t>
            </a:r>
          </a:p>
        </p:txBody>
      </p:sp>
      <p:sp>
        <p:nvSpPr>
          <p:cNvPr id="125" name="t"/>
          <p:cNvSpPr txBox="1"/>
          <p:nvPr/>
        </p:nvSpPr>
        <p:spPr>
          <a:xfrm>
            <a:off x="1005840" y="5806440"/>
            <a:ext cx="64008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[Your College Name]  |  Academic Year 2025-26</a:t>
            </a:r>
          </a:p>
        </p:txBody>
      </p:sp>
      <p:sp>
        <p:nvSpPr>
          <p:cNvPr id="126" name="r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7" name="t"/>
          <p:cNvSpPr txBox="1"/>
          <p:nvPr/>
        </p:nvSpPr>
        <p:spPr>
          <a:xfrm>
            <a:off x="11521440" y="640080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01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129" name="r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130" name="r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31" name="c"/>
          <p:cNvSpPr/>
          <p:nvPr/>
        </p:nvSpPr>
        <p:spPr>
          <a:xfrm>
            <a:off x="-548640" y="5943600"/>
            <a:ext cx="2011680" cy="20116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32" name="c"/>
          <p:cNvSpPr/>
          <p:nvPr/>
        </p:nvSpPr>
        <p:spPr>
          <a:xfrm>
            <a:off x="-731520" y="5760720"/>
            <a:ext cx="1188720" cy="118872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133" name="t"/>
          <p:cNvSpPr txBox="1"/>
          <p:nvPr/>
        </p:nvSpPr>
        <p:spPr>
          <a:xfrm>
            <a:off x="457200" y="365760"/>
            <a:ext cx="1828800" cy="1371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7200" b="1" dirty="0">
                <a:solidFill>
                  <a:srgbClr val="F97316"/>
                </a:solidFill>
                <a:latin typeface="Calibri"/>
              </a:rPr>
              <a:t>02</a:t>
            </a:r>
          </a:p>
        </p:txBody>
      </p:sp>
      <p:sp>
        <p:nvSpPr>
          <p:cNvPr id="134" name="r"/>
          <p:cNvSpPr/>
          <p:nvPr/>
        </p:nvSpPr>
        <p:spPr>
          <a:xfrm>
            <a:off x="457200" y="1463040"/>
            <a:ext cx="146304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35" name="t"/>
          <p:cNvSpPr txBox="1"/>
          <p:nvPr/>
        </p:nvSpPr>
        <p:spPr>
          <a:xfrm>
            <a:off x="457200" y="1554480"/>
            <a:ext cx="3657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INTRODUCTION</a:t>
            </a:r>
          </a:p>
        </p:txBody>
      </p:sp>
      <p:sp>
        <p:nvSpPr>
          <p:cNvPr id="136" name="t"/>
          <p:cNvSpPr txBox="1"/>
          <p:nvPr/>
        </p:nvSpPr>
        <p:spPr>
          <a:xfrm>
            <a:off x="457200" y="2103120"/>
            <a:ext cx="36576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>Digital LPG</a:t>
            </a:r>
          </a:p>
        </p:txBody>
      </p:sp>
      <p:sp>
        <p:nvSpPr>
          <p:cNvPr id="137" name="t"/>
          <p:cNvSpPr txBox="1"/>
          <p:nvPr/>
        </p:nvSpPr>
        <p:spPr>
          <a:xfrm>
            <a:off x="457200" y="2606040"/>
            <a:ext cx="36576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>Distribution</a:t>
            </a:r>
          </a:p>
        </p:txBody>
      </p:sp>
      <p:sp>
        <p:nvSpPr>
          <p:cNvPr id="138" name="t"/>
          <p:cNvSpPr txBox="1"/>
          <p:nvPr/>
        </p:nvSpPr>
        <p:spPr>
          <a:xfrm>
            <a:off x="457200" y="3108960"/>
            <a:ext cx="36576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200" b="1" dirty="0">
                <a:solidFill>
                  <a:srgbClr val="FBBF24"/>
                </a:solidFill>
                <a:latin typeface="Calibri"/>
              </a:rPr>
              <a:t>Reimagined.</a:t>
            </a:r>
          </a:p>
        </p:txBody>
      </p:sp>
      <p:sp>
        <p:nvSpPr>
          <p:cNvPr id="139" name="t"/>
          <p:cNvSpPr txBox="1"/>
          <p:nvPr/>
        </p:nvSpPr>
        <p:spPr>
          <a:xfrm>
            <a:off x="457200" y="3840480"/>
            <a:ext cx="3657600" cy="8229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A production-grade backend that</a:t>
            </a:r>
          </a:p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transforms how LPG cylinders are</a:t>
            </a:r>
          </a:p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booked, tracked, and delivered.</a:t>
            </a:r>
          </a:p>
        </p:txBody>
      </p:sp>
      <p:sp>
        <p:nvSpPr>
          <p:cNvPr id="140" name="s"/>
          <p:cNvSpPr/>
          <p:nvPr/>
        </p:nvSpPr>
        <p:spPr>
          <a:xfrm>
            <a:off x="457200" y="48463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17264C"/>
          </a:solidFill>
          <a:ln>
            <a:noFill/>
          </a:ln>
        </p:spPr>
        <p:txBody>
          <a:bodyPr wrap="square" anchor="t" rtlCol="0" lIns="91440" tIns="91440" rIns="91440" bIns="91440"/>
          <a:lstStyle/>
          <a:p/>
        </p:txBody>
      </p:sp>
      <p:sp>
        <p:nvSpPr>
          <p:cNvPr id="141" name="t"/>
          <p:cNvSpPr txBox="1"/>
          <p:nvPr/>
        </p:nvSpPr>
        <p:spPr>
          <a:xfrm>
            <a:off x="640080" y="4983480"/>
            <a:ext cx="2743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PROJECT IMPACT</a:t>
            </a:r>
          </a:p>
        </p:txBody>
      </p:sp>
      <p:sp>
        <p:nvSpPr>
          <p:cNvPr id="142" name="t"/>
          <p:cNvSpPr txBox="1"/>
          <p:nvPr/>
        </p:nvSpPr>
        <p:spPr>
          <a:xfrm>
            <a:off x="640080" y="5349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BBF24"/>
                </a:solidFill>
                <a:latin typeface="Calibri"/>
              </a:rPr>
              <a:t>3+</a:t>
            </a:r>
          </a:p>
        </p:txBody>
      </p:sp>
      <p:sp>
        <p:nvSpPr>
          <p:cNvPr id="143" name="t"/>
          <p:cNvSpPr txBox="1"/>
          <p:nvPr/>
        </p:nvSpPr>
        <p:spPr>
          <a:xfrm>
            <a:off x="640080" y="5715000"/>
            <a:ext cx="1371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User Roles</a:t>
            </a:r>
          </a:p>
        </p:txBody>
      </p:sp>
      <p:sp>
        <p:nvSpPr>
          <p:cNvPr id="144" name="t"/>
          <p:cNvSpPr txBox="1"/>
          <p:nvPr/>
        </p:nvSpPr>
        <p:spPr>
          <a:xfrm>
            <a:off x="2103120" y="5349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BBF24"/>
                </a:solidFill>
                <a:latin typeface="Calibri"/>
              </a:rPr>
              <a:t>30+</a:t>
            </a:r>
          </a:p>
        </p:txBody>
      </p:sp>
      <p:sp>
        <p:nvSpPr>
          <p:cNvPr id="145" name="t"/>
          <p:cNvSpPr txBox="1"/>
          <p:nvPr/>
        </p:nvSpPr>
        <p:spPr>
          <a:xfrm>
            <a:off x="2103120" y="5715000"/>
            <a:ext cx="1371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API Endpoints</a:t>
            </a:r>
          </a:p>
        </p:txBody>
      </p:sp>
      <p:sp>
        <p:nvSpPr>
          <p:cNvPr id="146" name="t"/>
          <p:cNvSpPr txBox="1"/>
          <p:nvPr/>
        </p:nvSpPr>
        <p:spPr>
          <a:xfrm>
            <a:off x="640080" y="594360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BBF24"/>
                </a:solidFill>
                <a:latin typeface="Calibri"/>
              </a:rPr>
              <a:t>10+</a:t>
            </a:r>
          </a:p>
        </p:txBody>
      </p:sp>
      <p:sp>
        <p:nvSpPr>
          <p:cNvPr id="147" name="t"/>
          <p:cNvSpPr txBox="1"/>
          <p:nvPr/>
        </p:nvSpPr>
        <p:spPr>
          <a:xfrm>
            <a:off x="640080" y="6309360"/>
            <a:ext cx="1371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Core Features</a:t>
            </a:r>
          </a:p>
        </p:txBody>
      </p:sp>
      <p:sp>
        <p:nvSpPr>
          <p:cNvPr id="148" name="t"/>
          <p:cNvSpPr txBox="1"/>
          <p:nvPr/>
        </p:nvSpPr>
        <p:spPr>
          <a:xfrm>
            <a:off x="2103120" y="594360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BBF24"/>
                </a:solidFill>
                <a:latin typeface="Calibri"/>
              </a:rPr>
              <a:t>2</a:t>
            </a:r>
          </a:p>
        </p:txBody>
      </p:sp>
      <p:sp>
        <p:nvSpPr>
          <p:cNvPr id="149" name="t"/>
          <p:cNvSpPr txBox="1"/>
          <p:nvPr/>
        </p:nvSpPr>
        <p:spPr>
          <a:xfrm>
            <a:off x="2103120" y="6309360"/>
            <a:ext cx="1371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Databases</a:t>
            </a:r>
          </a:p>
        </p:txBody>
      </p:sp>
      <p:sp>
        <p:nvSpPr>
          <p:cNvPr id="150" name="t"/>
          <p:cNvSpPr txBox="1"/>
          <p:nvPr/>
        </p:nvSpPr>
        <p:spPr>
          <a:xfrm>
            <a:off x="4572000" y="502920"/>
            <a:ext cx="6400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97316"/>
                </a:solidFill>
                <a:latin typeface="Calibri"/>
              </a:rPr>
              <a:t>KEY OBJECTIVES</a:t>
            </a:r>
          </a:p>
        </p:txBody>
      </p:sp>
      <p:sp>
        <p:nvSpPr>
          <p:cNvPr id="151" name="r"/>
          <p:cNvSpPr/>
          <p:nvPr/>
        </p:nvSpPr>
        <p:spPr>
          <a:xfrm>
            <a:off x="4572000" y="868680"/>
            <a:ext cx="7315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2" name="t"/>
          <p:cNvSpPr txBox="1"/>
          <p:nvPr/>
        </p:nvSpPr>
        <p:spPr>
          <a:xfrm>
            <a:off x="4572000" y="1005840"/>
            <a:ext cx="64008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800" b="1" dirty="0">
                <a:solidFill>
                  <a:srgbClr val="0B1739"/>
                </a:solidFill>
                <a:latin typeface="Calibri"/>
              </a:rPr>
              <a:t>Goals &amp; Mission</a:t>
            </a:r>
          </a:p>
        </p:txBody>
      </p:sp>
      <p:sp>
        <p:nvSpPr>
          <p:cNvPr id="153" name="s"/>
          <p:cNvSpPr/>
          <p:nvPr/>
        </p:nvSpPr>
        <p:spPr>
          <a:xfrm>
            <a:off x="4572000" y="1920240"/>
            <a:ext cx="3200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54" name="r"/>
          <p:cNvSpPr/>
          <p:nvPr/>
        </p:nvSpPr>
        <p:spPr>
          <a:xfrm>
            <a:off x="4572000" y="1920240"/>
            <a:ext cx="320040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5" name="c"/>
          <p:cNvSpPr/>
          <p:nvPr/>
        </p:nvSpPr>
        <p:spPr>
          <a:xfrm>
            <a:off x="4800600" y="23774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6" name="t"/>
          <p:cNvSpPr txBox="1"/>
          <p:nvPr/>
        </p:nvSpPr>
        <p:spPr>
          <a:xfrm>
            <a:off x="4800600" y="2468880"/>
            <a:ext cx="54864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7" name="t"/>
          <p:cNvSpPr txBox="1"/>
          <p:nvPr/>
        </p:nvSpPr>
        <p:spPr>
          <a:xfrm>
            <a:off x="5486400" y="2423160"/>
            <a:ext cx="210312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800" b="1" dirty="0">
                <a:solidFill>
                  <a:srgbClr val="0B1739"/>
                </a:solidFill>
                <a:latin typeface="Calibri"/>
              </a:rPr>
              <a:t>DIGITIZE</a:t>
            </a:r>
          </a:p>
        </p:txBody>
      </p:sp>
      <p:sp>
        <p:nvSpPr>
          <p:cNvPr id="158" name="r"/>
          <p:cNvSpPr/>
          <p:nvPr/>
        </p:nvSpPr>
        <p:spPr>
          <a:xfrm>
            <a:off x="5486400" y="2834640"/>
            <a:ext cx="54864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9" name="t"/>
          <p:cNvSpPr txBox="1"/>
          <p:nvPr/>
        </p:nvSpPr>
        <p:spPr>
          <a:xfrm>
            <a:off x="4846320" y="320040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Replace manual booking</a:t>
            </a:r>
          </a:p>
        </p:txBody>
      </p:sp>
      <p:sp>
        <p:nvSpPr>
          <p:cNvPr id="160" name="t"/>
          <p:cNvSpPr txBox="1"/>
          <p:nvPr/>
        </p:nvSpPr>
        <p:spPr>
          <a:xfrm>
            <a:off x="4846320" y="347472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with online + WhatsApp</a:t>
            </a:r>
          </a:p>
        </p:txBody>
      </p:sp>
      <p:sp>
        <p:nvSpPr>
          <p:cNvPr id="161" name="s"/>
          <p:cNvSpPr/>
          <p:nvPr/>
        </p:nvSpPr>
        <p:spPr>
          <a:xfrm>
            <a:off x="7955280" y="1920240"/>
            <a:ext cx="3200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62" name="r"/>
          <p:cNvSpPr/>
          <p:nvPr/>
        </p:nvSpPr>
        <p:spPr>
          <a:xfrm>
            <a:off x="7955280" y="1920240"/>
            <a:ext cx="320040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63" name="c"/>
          <p:cNvSpPr/>
          <p:nvPr/>
        </p:nvSpPr>
        <p:spPr>
          <a:xfrm>
            <a:off x="8183880" y="2377440"/>
            <a:ext cx="548640" cy="5486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64" name="t"/>
          <p:cNvSpPr txBox="1"/>
          <p:nvPr/>
        </p:nvSpPr>
        <p:spPr>
          <a:xfrm>
            <a:off x="8183880" y="2468880"/>
            <a:ext cx="54864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5" name="t"/>
          <p:cNvSpPr txBox="1"/>
          <p:nvPr/>
        </p:nvSpPr>
        <p:spPr>
          <a:xfrm>
            <a:off x="8869680" y="2423160"/>
            <a:ext cx="210312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800" b="1" dirty="0">
                <a:solidFill>
                  <a:srgbClr val="0B1739"/>
                </a:solidFill>
                <a:latin typeface="Calibri"/>
              </a:rPr>
              <a:t>TRACK</a:t>
            </a:r>
          </a:p>
        </p:txBody>
      </p:sp>
      <p:sp>
        <p:nvSpPr>
          <p:cNvPr id="166" name="r"/>
          <p:cNvSpPr/>
          <p:nvPr/>
        </p:nvSpPr>
        <p:spPr>
          <a:xfrm>
            <a:off x="8869680" y="2834640"/>
            <a:ext cx="54864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67" name="t"/>
          <p:cNvSpPr txBox="1"/>
          <p:nvPr/>
        </p:nvSpPr>
        <p:spPr>
          <a:xfrm>
            <a:off x="8229600" y="320040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Real-time GPS tracking</a:t>
            </a:r>
          </a:p>
        </p:txBody>
      </p:sp>
      <p:sp>
        <p:nvSpPr>
          <p:cNvPr id="168" name="t"/>
          <p:cNvSpPr txBox="1"/>
          <p:nvPr/>
        </p:nvSpPr>
        <p:spPr>
          <a:xfrm>
            <a:off x="8229600" y="347472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&amp; live customer chat</a:t>
            </a:r>
          </a:p>
        </p:txBody>
      </p:sp>
      <p:sp>
        <p:nvSpPr>
          <p:cNvPr id="169" name="s"/>
          <p:cNvSpPr/>
          <p:nvPr/>
        </p:nvSpPr>
        <p:spPr>
          <a:xfrm>
            <a:off x="4572000" y="4206240"/>
            <a:ext cx="3200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70" name="r"/>
          <p:cNvSpPr/>
          <p:nvPr/>
        </p:nvSpPr>
        <p:spPr>
          <a:xfrm>
            <a:off x="4572000" y="4206240"/>
            <a:ext cx="320040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1" name="c"/>
          <p:cNvSpPr/>
          <p:nvPr/>
        </p:nvSpPr>
        <p:spPr>
          <a:xfrm>
            <a:off x="4800600" y="4663440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2" name="t"/>
          <p:cNvSpPr txBox="1"/>
          <p:nvPr/>
        </p:nvSpPr>
        <p:spPr>
          <a:xfrm>
            <a:off x="4800600" y="4754880"/>
            <a:ext cx="54864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3" name="t"/>
          <p:cNvSpPr txBox="1"/>
          <p:nvPr/>
        </p:nvSpPr>
        <p:spPr>
          <a:xfrm>
            <a:off x="5486400" y="4709160"/>
            <a:ext cx="210312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800" b="1" dirty="0">
                <a:solidFill>
                  <a:srgbClr val="0B1739"/>
                </a:solidFill>
                <a:latin typeface="Calibri"/>
              </a:rPr>
              <a:t>SECURE</a:t>
            </a:r>
          </a:p>
        </p:txBody>
      </p:sp>
      <p:sp>
        <p:nvSpPr>
          <p:cNvPr id="174" name="r"/>
          <p:cNvSpPr/>
          <p:nvPr/>
        </p:nvSpPr>
        <p:spPr>
          <a:xfrm>
            <a:off x="5486400" y="5120640"/>
            <a:ext cx="54864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5" name="t"/>
          <p:cNvSpPr txBox="1"/>
          <p:nvPr/>
        </p:nvSpPr>
        <p:spPr>
          <a:xfrm>
            <a:off x="4846320" y="548640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JWT + RBAC + bcrypt</a:t>
            </a:r>
          </a:p>
        </p:txBody>
      </p:sp>
      <p:sp>
        <p:nvSpPr>
          <p:cNvPr id="176" name="t"/>
          <p:cNvSpPr txBox="1"/>
          <p:nvPr/>
        </p:nvSpPr>
        <p:spPr>
          <a:xfrm>
            <a:off x="4846320" y="576072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production security</a:t>
            </a:r>
          </a:p>
        </p:txBody>
      </p:sp>
      <p:sp>
        <p:nvSpPr>
          <p:cNvPr id="177" name="s"/>
          <p:cNvSpPr/>
          <p:nvPr/>
        </p:nvSpPr>
        <p:spPr>
          <a:xfrm>
            <a:off x="7955280" y="4206240"/>
            <a:ext cx="3200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78" name="r"/>
          <p:cNvSpPr/>
          <p:nvPr/>
        </p:nvSpPr>
        <p:spPr>
          <a:xfrm>
            <a:off x="7955280" y="4206240"/>
            <a:ext cx="32004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179" name="c"/>
          <p:cNvSpPr/>
          <p:nvPr/>
        </p:nvSpPr>
        <p:spPr>
          <a:xfrm>
            <a:off x="8183880" y="466344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180" name="t"/>
          <p:cNvSpPr txBox="1"/>
          <p:nvPr/>
        </p:nvSpPr>
        <p:spPr>
          <a:xfrm>
            <a:off x="8183880" y="4754880"/>
            <a:ext cx="54864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1" name="t"/>
          <p:cNvSpPr txBox="1"/>
          <p:nvPr/>
        </p:nvSpPr>
        <p:spPr>
          <a:xfrm>
            <a:off x="8869680" y="4709160"/>
            <a:ext cx="210312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800" b="1" dirty="0">
                <a:solidFill>
                  <a:srgbClr val="0B1739"/>
                </a:solidFill>
                <a:latin typeface="Calibri"/>
              </a:rPr>
              <a:t>SCALE</a:t>
            </a:r>
          </a:p>
        </p:txBody>
      </p:sp>
      <p:sp>
        <p:nvSpPr>
          <p:cNvPr id="182" name="r"/>
          <p:cNvSpPr/>
          <p:nvPr/>
        </p:nvSpPr>
        <p:spPr>
          <a:xfrm>
            <a:off x="8869680" y="5120640"/>
            <a:ext cx="54864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183" name="t"/>
          <p:cNvSpPr txBox="1"/>
          <p:nvPr/>
        </p:nvSpPr>
        <p:spPr>
          <a:xfrm>
            <a:off x="8229600" y="548640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Docker + Kubernetes</a:t>
            </a:r>
          </a:p>
        </p:txBody>
      </p:sp>
      <p:sp>
        <p:nvSpPr>
          <p:cNvPr id="184" name="t"/>
          <p:cNvSpPr txBox="1"/>
          <p:nvPr/>
        </p:nvSpPr>
        <p:spPr>
          <a:xfrm>
            <a:off x="8229600" y="576072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ready deployment</a:t>
            </a:r>
          </a:p>
        </p:txBody>
      </p:sp>
      <p:sp>
        <p:nvSpPr>
          <p:cNvPr id="185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02</a:t>
            </a:r>
          </a:p>
        </p:txBody>
      </p:sp>
    </p:spTree>
  </p:cSld>
  <p:transition spd="med">
    <p:push dir="l"/>
  </p:transition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187" name="r"/>
          <p:cNvSpPr/>
          <p:nvPr/>
        </p:nvSpPr>
        <p:spPr>
          <a:xfrm>
            <a:off x="0" y="0"/>
            <a:ext cx="12192000" cy="137160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188" name="r"/>
          <p:cNvSpPr/>
          <p:nvPr/>
        </p:nvSpPr>
        <p:spPr>
          <a:xfrm>
            <a:off x="0" y="1371600"/>
            <a:ext cx="1219200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9" name="t"/>
          <p:cNvSpPr txBox="1"/>
          <p:nvPr/>
        </p:nvSpPr>
        <p:spPr>
          <a:xfrm>
            <a:off x="457200" y="274320"/>
            <a:ext cx="18288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400" b="1" dirty="0">
                <a:solidFill>
                  <a:srgbClr val="F97316"/>
                </a:solidFill>
                <a:latin typeface="Calibri"/>
              </a:rPr>
              <a:t>03</a:t>
            </a:r>
          </a:p>
        </p:txBody>
      </p:sp>
      <p:sp>
        <p:nvSpPr>
          <p:cNvPr id="190" name="t"/>
          <p:cNvSpPr txBox="1"/>
          <p:nvPr/>
        </p:nvSpPr>
        <p:spPr>
          <a:xfrm>
            <a:off x="1691640" y="365760"/>
            <a:ext cx="7315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THE CHALLENGE</a:t>
            </a:r>
          </a:p>
        </p:txBody>
      </p:sp>
      <p:sp>
        <p:nvSpPr>
          <p:cNvPr id="191" name="t"/>
          <p:cNvSpPr txBox="1"/>
          <p:nvPr/>
        </p:nvSpPr>
        <p:spPr>
          <a:xfrm>
            <a:off x="1691640" y="777240"/>
            <a:ext cx="914400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Problem  vs  Solution</a:t>
            </a:r>
          </a:p>
        </p:txBody>
      </p:sp>
      <p:sp>
        <p:nvSpPr>
          <p:cNvPr id="192" name="s"/>
          <p:cNvSpPr/>
          <p:nvPr/>
        </p:nvSpPr>
        <p:spPr>
          <a:xfrm>
            <a:off x="457200" y="1691640"/>
            <a:ext cx="502920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93" name="r"/>
          <p:cNvSpPr/>
          <p:nvPr/>
        </p:nvSpPr>
        <p:spPr>
          <a:xfrm>
            <a:off x="457200" y="169164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194" name="r"/>
          <p:cNvSpPr/>
          <p:nvPr/>
        </p:nvSpPr>
        <p:spPr>
          <a:xfrm>
            <a:off x="457200" y="2194560"/>
            <a:ext cx="5029200" cy="274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195" name="c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96" name="t"/>
          <p:cNvSpPr txBox="1"/>
          <p:nvPr/>
        </p:nvSpPr>
        <p:spPr>
          <a:xfrm>
            <a:off x="640080" y="1874519"/>
            <a:ext cx="50292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600" b="1" dirty="0">
                <a:solidFill>
                  <a:srgbClr val="EF4444"/>
                </a:solidFill>
                <a:latin typeface="Calibri"/>
              </a:rPr>
              <a:t>X</a:t>
            </a:r>
          </a:p>
        </p:txBody>
      </p:sp>
      <p:sp>
        <p:nvSpPr>
          <p:cNvPr id="197" name="t"/>
          <p:cNvSpPr txBox="1"/>
          <p:nvPr/>
        </p:nvSpPr>
        <p:spPr>
          <a:xfrm>
            <a:off x="1280160" y="1828800"/>
            <a:ext cx="3657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TRADITIONAL SYSTEM</a:t>
            </a:r>
          </a:p>
        </p:txBody>
      </p:sp>
      <p:sp>
        <p:nvSpPr>
          <p:cNvPr id="198" name="t"/>
          <p:cNvSpPr txBox="1"/>
          <p:nvPr/>
        </p:nvSpPr>
        <p:spPr>
          <a:xfrm>
            <a:off x="1280160" y="2148840"/>
            <a:ext cx="3657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D0D0"/>
                </a:solidFill>
                <a:latin typeface="Calibri"/>
              </a:rPr>
              <a:t>Outdated  -  Manual  -  Inefficient</a:t>
            </a:r>
          </a:p>
        </p:txBody>
      </p:sp>
      <p:sp>
        <p:nvSpPr>
          <p:cNvPr id="199" name="c"/>
          <p:cNvSpPr/>
          <p:nvPr/>
        </p:nvSpPr>
        <p:spPr>
          <a:xfrm>
            <a:off x="777240" y="27889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00" name="t"/>
          <p:cNvSpPr txBox="1"/>
          <p:nvPr/>
        </p:nvSpPr>
        <p:spPr>
          <a:xfrm>
            <a:off x="777240" y="28072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01" name="t"/>
          <p:cNvSpPr txBox="1"/>
          <p:nvPr/>
        </p:nvSpPr>
        <p:spPr>
          <a:xfrm>
            <a:off x="1097280" y="2743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Manual booking via phone calls</a:t>
            </a:r>
          </a:p>
        </p:txBody>
      </p:sp>
      <p:sp>
        <p:nvSpPr>
          <p:cNvPr id="202" name="c"/>
          <p:cNvSpPr/>
          <p:nvPr/>
        </p:nvSpPr>
        <p:spPr>
          <a:xfrm>
            <a:off x="777240" y="32461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03" name="t"/>
          <p:cNvSpPr txBox="1"/>
          <p:nvPr/>
        </p:nvSpPr>
        <p:spPr>
          <a:xfrm>
            <a:off x="777240" y="32644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04" name="t"/>
          <p:cNvSpPr txBox="1"/>
          <p:nvPr/>
        </p:nvSpPr>
        <p:spPr>
          <a:xfrm>
            <a:off x="1097280" y="32004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No real-time delivery tracking</a:t>
            </a:r>
          </a:p>
        </p:txBody>
      </p:sp>
      <p:sp>
        <p:nvSpPr>
          <p:cNvPr id="205" name="c"/>
          <p:cNvSpPr/>
          <p:nvPr/>
        </p:nvSpPr>
        <p:spPr>
          <a:xfrm>
            <a:off x="777240" y="37033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06" name="t"/>
          <p:cNvSpPr txBox="1"/>
          <p:nvPr/>
        </p:nvSpPr>
        <p:spPr>
          <a:xfrm>
            <a:off x="777240" y="37216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07" name="t"/>
          <p:cNvSpPr txBox="1"/>
          <p:nvPr/>
        </p:nvSpPr>
        <p:spPr>
          <a:xfrm>
            <a:off x="1097280" y="36576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Opaque inventory management</a:t>
            </a:r>
          </a:p>
        </p:txBody>
      </p:sp>
      <p:sp>
        <p:nvSpPr>
          <p:cNvPr id="208" name="c"/>
          <p:cNvSpPr/>
          <p:nvPr/>
        </p:nvSpPr>
        <p:spPr>
          <a:xfrm>
            <a:off x="777240" y="41605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09" name="t"/>
          <p:cNvSpPr txBox="1"/>
          <p:nvPr/>
        </p:nvSpPr>
        <p:spPr>
          <a:xfrm>
            <a:off x="777240" y="41788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10" name="t"/>
          <p:cNvSpPr txBox="1"/>
          <p:nvPr/>
        </p:nvSpPr>
        <p:spPr>
          <a:xfrm>
            <a:off x="1097280" y="41148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Zero priority for emergencies</a:t>
            </a:r>
          </a:p>
        </p:txBody>
      </p:sp>
      <p:sp>
        <p:nvSpPr>
          <p:cNvPr id="211" name="c"/>
          <p:cNvSpPr/>
          <p:nvPr/>
        </p:nvSpPr>
        <p:spPr>
          <a:xfrm>
            <a:off x="777240" y="46177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12" name="t"/>
          <p:cNvSpPr txBox="1"/>
          <p:nvPr/>
        </p:nvSpPr>
        <p:spPr>
          <a:xfrm>
            <a:off x="777240" y="46360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13" name="t"/>
          <p:cNvSpPr txBox="1"/>
          <p:nvPr/>
        </p:nvSpPr>
        <p:spPr>
          <a:xfrm>
            <a:off x="1097280" y="45720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Paper-based record keeping</a:t>
            </a:r>
          </a:p>
        </p:txBody>
      </p:sp>
      <p:sp>
        <p:nvSpPr>
          <p:cNvPr id="214" name="c"/>
          <p:cNvSpPr/>
          <p:nvPr/>
        </p:nvSpPr>
        <p:spPr>
          <a:xfrm>
            <a:off x="777240" y="50749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15" name="t"/>
          <p:cNvSpPr txBox="1"/>
          <p:nvPr/>
        </p:nvSpPr>
        <p:spPr>
          <a:xfrm>
            <a:off x="777240" y="50932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16" name="t"/>
          <p:cNvSpPr txBox="1"/>
          <p:nvPr/>
        </p:nvSpPr>
        <p:spPr>
          <a:xfrm>
            <a:off x="1097280" y="5029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No customer communication</a:t>
            </a:r>
          </a:p>
        </p:txBody>
      </p:sp>
      <p:sp>
        <p:nvSpPr>
          <p:cNvPr id="217" name="c"/>
          <p:cNvSpPr/>
          <p:nvPr/>
        </p:nvSpPr>
        <p:spPr>
          <a:xfrm>
            <a:off x="777240" y="55321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18" name="t"/>
          <p:cNvSpPr txBox="1"/>
          <p:nvPr/>
        </p:nvSpPr>
        <p:spPr>
          <a:xfrm>
            <a:off x="777240" y="55504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19" name="t"/>
          <p:cNvSpPr txBox="1"/>
          <p:nvPr/>
        </p:nvSpPr>
        <p:spPr>
          <a:xfrm>
            <a:off x="1097280" y="54864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Inefficient route planning</a:t>
            </a:r>
          </a:p>
        </p:txBody>
      </p:sp>
      <p:sp>
        <p:nvSpPr>
          <p:cNvPr id="220" name="c"/>
          <p:cNvSpPr/>
          <p:nvPr/>
        </p:nvSpPr>
        <p:spPr>
          <a:xfrm>
            <a:off x="5577840" y="3657600"/>
            <a:ext cx="640080" cy="640080"/>
          </a:xfrm>
          <a:prstGeom prst="ellipse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221" name="a"/>
          <p:cNvSpPr/>
          <p:nvPr/>
        </p:nvSpPr>
        <p:spPr>
          <a:xfrm>
            <a:off x="5669280" y="3840480"/>
            <a:ext cx="457200" cy="274320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22" name="s"/>
          <p:cNvSpPr/>
          <p:nvPr/>
        </p:nvSpPr>
        <p:spPr>
          <a:xfrm>
            <a:off x="6400800" y="1691640"/>
            <a:ext cx="502920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223" name="r"/>
          <p:cNvSpPr/>
          <p:nvPr/>
        </p:nvSpPr>
        <p:spPr>
          <a:xfrm>
            <a:off x="6400800" y="169164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4" name="r"/>
          <p:cNvSpPr/>
          <p:nvPr/>
        </p:nvSpPr>
        <p:spPr>
          <a:xfrm>
            <a:off x="6400800" y="2194560"/>
            <a:ext cx="5029200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5" name="c"/>
          <p:cNvSpPr/>
          <p:nvPr/>
        </p:nvSpPr>
        <p:spPr>
          <a:xfrm>
            <a:off x="6583680" y="182880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6" name="t"/>
          <p:cNvSpPr txBox="1"/>
          <p:nvPr/>
        </p:nvSpPr>
        <p:spPr>
          <a:xfrm>
            <a:off x="6583680" y="1874519"/>
            <a:ext cx="50292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600" b="1" dirty="0">
                <a:solidFill>
                  <a:srgbClr val="10B981"/>
                </a:solidFill>
                <a:latin typeface="Calibri"/>
              </a:rPr>
              <a:t>v</a:t>
            </a:r>
          </a:p>
        </p:txBody>
      </p:sp>
      <p:sp>
        <p:nvSpPr>
          <p:cNvPr id="227" name="t"/>
          <p:cNvSpPr txBox="1"/>
          <p:nvPr/>
        </p:nvSpPr>
        <p:spPr>
          <a:xfrm>
            <a:off x="7223760" y="18288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OUR DIGITAL SOLUTION</a:t>
            </a:r>
          </a:p>
        </p:txBody>
      </p:sp>
      <p:sp>
        <p:nvSpPr>
          <p:cNvPr id="228" name="t"/>
          <p:cNvSpPr txBox="1"/>
          <p:nvPr/>
        </p:nvSpPr>
        <p:spPr>
          <a:xfrm>
            <a:off x="7223760" y="2148840"/>
            <a:ext cx="4114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D0FFD0"/>
                </a:solidFill>
                <a:latin typeface="Calibri"/>
              </a:rPr>
              <a:t>Modern  -  Automated  -  Scalable</a:t>
            </a:r>
          </a:p>
        </p:txBody>
      </p:sp>
      <p:sp>
        <p:nvSpPr>
          <p:cNvPr id="229" name="c"/>
          <p:cNvSpPr/>
          <p:nvPr/>
        </p:nvSpPr>
        <p:spPr>
          <a:xfrm>
            <a:off x="6720840" y="27889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0" name="t"/>
          <p:cNvSpPr txBox="1"/>
          <p:nvPr/>
        </p:nvSpPr>
        <p:spPr>
          <a:xfrm>
            <a:off x="6720840" y="28072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31" name="t"/>
          <p:cNvSpPr txBox="1"/>
          <p:nvPr/>
        </p:nvSpPr>
        <p:spPr>
          <a:xfrm>
            <a:off x="7040880" y="2743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Online + WhatsApp booking</a:t>
            </a:r>
          </a:p>
        </p:txBody>
      </p:sp>
      <p:sp>
        <p:nvSpPr>
          <p:cNvPr id="232" name="c"/>
          <p:cNvSpPr/>
          <p:nvPr/>
        </p:nvSpPr>
        <p:spPr>
          <a:xfrm>
            <a:off x="6720840" y="32461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3" name="t"/>
          <p:cNvSpPr txBox="1"/>
          <p:nvPr/>
        </p:nvSpPr>
        <p:spPr>
          <a:xfrm>
            <a:off x="6720840" y="32644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34" name="t"/>
          <p:cNvSpPr txBox="1"/>
          <p:nvPr/>
        </p:nvSpPr>
        <p:spPr>
          <a:xfrm>
            <a:off x="7040880" y="32004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Live GPS delivery tracking</a:t>
            </a:r>
          </a:p>
        </p:txBody>
      </p:sp>
      <p:sp>
        <p:nvSpPr>
          <p:cNvPr id="235" name="c"/>
          <p:cNvSpPr/>
          <p:nvPr/>
        </p:nvSpPr>
        <p:spPr>
          <a:xfrm>
            <a:off x="6720840" y="37033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6" name="t"/>
          <p:cNvSpPr txBox="1"/>
          <p:nvPr/>
        </p:nvSpPr>
        <p:spPr>
          <a:xfrm>
            <a:off x="6720840" y="37216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37" name="t"/>
          <p:cNvSpPr txBox="1"/>
          <p:nvPr/>
        </p:nvSpPr>
        <p:spPr>
          <a:xfrm>
            <a:off x="7040880" y="36576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Automated inventory engine</a:t>
            </a:r>
          </a:p>
        </p:txBody>
      </p:sp>
      <p:sp>
        <p:nvSpPr>
          <p:cNvPr id="238" name="c"/>
          <p:cNvSpPr/>
          <p:nvPr/>
        </p:nvSpPr>
        <p:spPr>
          <a:xfrm>
            <a:off x="6720840" y="41605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9" name="t"/>
          <p:cNvSpPr txBox="1"/>
          <p:nvPr/>
        </p:nvSpPr>
        <p:spPr>
          <a:xfrm>
            <a:off x="6720840" y="41788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40" name="t"/>
          <p:cNvSpPr txBox="1"/>
          <p:nvPr/>
        </p:nvSpPr>
        <p:spPr>
          <a:xfrm>
            <a:off x="7040880" y="41148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Crisis prioritization system</a:t>
            </a:r>
          </a:p>
        </p:txBody>
      </p:sp>
      <p:sp>
        <p:nvSpPr>
          <p:cNvPr id="241" name="c"/>
          <p:cNvSpPr/>
          <p:nvPr/>
        </p:nvSpPr>
        <p:spPr>
          <a:xfrm>
            <a:off x="6720840" y="46177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2" name="t"/>
          <p:cNvSpPr txBox="1"/>
          <p:nvPr/>
        </p:nvSpPr>
        <p:spPr>
          <a:xfrm>
            <a:off x="6720840" y="46360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43" name="t"/>
          <p:cNvSpPr txBox="1"/>
          <p:nvPr/>
        </p:nvSpPr>
        <p:spPr>
          <a:xfrm>
            <a:off x="7040880" y="45720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Digital order management</a:t>
            </a:r>
          </a:p>
        </p:txBody>
      </p:sp>
      <p:sp>
        <p:nvSpPr>
          <p:cNvPr id="244" name="c"/>
          <p:cNvSpPr/>
          <p:nvPr/>
        </p:nvSpPr>
        <p:spPr>
          <a:xfrm>
            <a:off x="6720840" y="50749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5" name="t"/>
          <p:cNvSpPr txBox="1"/>
          <p:nvPr/>
        </p:nvSpPr>
        <p:spPr>
          <a:xfrm>
            <a:off x="6720840" y="50932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46" name="t"/>
          <p:cNvSpPr txBox="1"/>
          <p:nvPr/>
        </p:nvSpPr>
        <p:spPr>
          <a:xfrm>
            <a:off x="7040880" y="5029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Real-time agent-customer chat</a:t>
            </a:r>
          </a:p>
        </p:txBody>
      </p:sp>
      <p:sp>
        <p:nvSpPr>
          <p:cNvPr id="247" name="c"/>
          <p:cNvSpPr/>
          <p:nvPr/>
        </p:nvSpPr>
        <p:spPr>
          <a:xfrm>
            <a:off x="6720840" y="55321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8" name="t"/>
          <p:cNvSpPr txBox="1"/>
          <p:nvPr/>
        </p:nvSpPr>
        <p:spPr>
          <a:xfrm>
            <a:off x="6720840" y="55504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49" name="t"/>
          <p:cNvSpPr txBox="1"/>
          <p:nvPr/>
        </p:nvSpPr>
        <p:spPr>
          <a:xfrm>
            <a:off x="7040880" y="54864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Smart route optimization</a:t>
            </a:r>
          </a:p>
        </p:txBody>
      </p:sp>
      <p:sp>
        <p:nvSpPr>
          <p:cNvPr id="250" name="r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1" name="t"/>
          <p:cNvSpPr txBox="1"/>
          <p:nvPr/>
        </p:nvSpPr>
        <p:spPr>
          <a:xfrm>
            <a:off x="457200" y="6519672"/>
            <a:ext cx="1828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IMPACT</a:t>
            </a:r>
          </a:p>
        </p:txBody>
      </p:sp>
      <p:sp>
        <p:nvSpPr>
          <p:cNvPr id="252" name="t"/>
          <p:cNvSpPr txBox="1"/>
          <p:nvPr/>
        </p:nvSpPr>
        <p:spPr>
          <a:xfrm>
            <a:off x="1463040" y="6519672"/>
            <a:ext cx="9144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>100% digital workflow  |  Real-time visibility  |  Emergency-aware  |  Cloud scalable</a:t>
            </a:r>
          </a:p>
        </p:txBody>
      </p:sp>
      <p:sp>
        <p:nvSpPr>
          <p:cNvPr id="253" name="t"/>
          <p:cNvSpPr txBox="1"/>
          <p:nvPr/>
        </p:nvSpPr>
        <p:spPr>
          <a:xfrm>
            <a:off x="11521440" y="6519672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03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255" name="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256" name="r"/>
          <p:cNvSpPr/>
          <p:nvPr/>
        </p:nvSpPr>
        <p:spPr>
          <a:xfrm>
            <a:off x="0" y="10972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7" name="t"/>
          <p:cNvSpPr txBox="1"/>
          <p:nvPr/>
        </p:nvSpPr>
        <p:spPr>
          <a:xfrm>
            <a:off x="457200" y="22860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04</a:t>
            </a:r>
          </a:p>
        </p:txBody>
      </p:sp>
      <p:sp>
        <p:nvSpPr>
          <p:cNvPr id="258" name="t"/>
          <p:cNvSpPr txBox="1"/>
          <p:nvPr/>
        </p:nvSpPr>
        <p:spPr>
          <a:xfrm>
            <a:off x="1371600" y="274320"/>
            <a:ext cx="7315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SYSTEM DESIGN</a:t>
            </a:r>
          </a:p>
        </p:txBody>
      </p:sp>
      <p:sp>
        <p:nvSpPr>
          <p:cNvPr id="259" name="t"/>
          <p:cNvSpPr txBox="1"/>
          <p:nvPr/>
        </p:nvSpPr>
        <p:spPr>
          <a:xfrm>
            <a:off x="1371600" y="64008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Architecture &amp; Workflow</a:t>
            </a:r>
          </a:p>
        </p:txBody>
      </p:sp>
      <p:sp>
        <p:nvSpPr>
          <p:cNvPr id="260" name="t"/>
          <p:cNvSpPr txBox="1"/>
          <p:nvPr/>
        </p:nvSpPr>
        <p:spPr>
          <a:xfrm>
            <a:off x="457200" y="1371600"/>
            <a:ext cx="3657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ARCHITECTURE FLOW</a:t>
            </a:r>
          </a:p>
        </p:txBody>
      </p:sp>
      <p:sp>
        <p:nvSpPr>
          <p:cNvPr id="261" name="c"/>
          <p:cNvSpPr/>
          <p:nvPr/>
        </p:nvSpPr>
        <p:spPr>
          <a:xfrm>
            <a:off x="640080" y="1828800"/>
            <a:ext cx="914400" cy="9144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62" name="c"/>
          <p:cNvSpPr/>
          <p:nvPr/>
        </p:nvSpPr>
        <p:spPr>
          <a:xfrm>
            <a:off x="731520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63" name="t"/>
          <p:cNvSpPr txBox="1"/>
          <p:nvPr/>
        </p:nvSpPr>
        <p:spPr>
          <a:xfrm>
            <a:off x="640080" y="2788920"/>
            <a:ext cx="914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CUSTOMER</a:t>
            </a:r>
          </a:p>
        </p:txBody>
      </p:sp>
      <p:sp>
        <p:nvSpPr>
          <p:cNvPr id="264" name="c"/>
          <p:cNvSpPr/>
          <p:nvPr/>
        </p:nvSpPr>
        <p:spPr>
          <a:xfrm>
            <a:off x="2194560" y="1828800"/>
            <a:ext cx="914400" cy="9144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65" name="c"/>
          <p:cNvSpPr/>
          <p:nvPr/>
        </p:nvSpPr>
        <p:spPr>
          <a:xfrm>
            <a:off x="2286000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66" name="t"/>
          <p:cNvSpPr txBox="1"/>
          <p:nvPr/>
        </p:nvSpPr>
        <p:spPr>
          <a:xfrm>
            <a:off x="2194560" y="2788920"/>
            <a:ext cx="914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ADMIN</a:t>
            </a:r>
          </a:p>
        </p:txBody>
      </p:sp>
      <p:sp>
        <p:nvSpPr>
          <p:cNvPr id="267" name="c"/>
          <p:cNvSpPr/>
          <p:nvPr/>
        </p:nvSpPr>
        <p:spPr>
          <a:xfrm>
            <a:off x="3749039" y="182880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8" name="c"/>
          <p:cNvSpPr/>
          <p:nvPr/>
        </p:nvSpPr>
        <p:spPr>
          <a:xfrm>
            <a:off x="3840479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69" name="t"/>
          <p:cNvSpPr txBox="1"/>
          <p:nvPr/>
        </p:nvSpPr>
        <p:spPr>
          <a:xfrm>
            <a:off x="3749039" y="2788920"/>
            <a:ext cx="914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AGENT</a:t>
            </a:r>
          </a:p>
        </p:txBody>
      </p:sp>
      <p:cxnSp>
        <p:nvCxnSpPr>
          <p:cNvPr id="270" name="ln"/>
          <p:cNvCxnSpPr/>
          <p:nvPr/>
        </p:nvCxnSpPr>
        <p:spPr>
          <a:xfrm flipH="0" flipV="0">
            <a:off x="1097280" y="2743200"/>
            <a:ext cx="1371600" cy="54864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cxnSp>
        <p:nvCxnSpPr>
          <p:cNvPr id="271" name="ln"/>
          <p:cNvCxnSpPr/>
          <p:nvPr/>
        </p:nvCxnSpPr>
        <p:spPr>
          <a:xfrm flipH="1" flipV="0">
            <a:off x="2468880" y="2743200"/>
            <a:ext cx="182880" cy="54864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cxnSp>
        <p:nvCxnSpPr>
          <p:cNvPr id="272" name="ln"/>
          <p:cNvCxnSpPr/>
          <p:nvPr/>
        </p:nvCxnSpPr>
        <p:spPr>
          <a:xfrm flipH="1" flipV="0">
            <a:off x="2468880" y="2743200"/>
            <a:ext cx="1737359" cy="54864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sp>
        <p:nvSpPr>
          <p:cNvPr id="273" name="s"/>
          <p:cNvSpPr/>
          <p:nvPr/>
        </p:nvSpPr>
        <p:spPr>
          <a:xfrm>
            <a:off x="457200" y="3383280"/>
            <a:ext cx="4297680" cy="914400"/>
          </a:xfrm>
          <a:prstGeom prst="roundRect">
            <a:avLst>
              <a:gd name="adj" fmla="val 8000"/>
            </a:avLst>
          </a:prstGeom>
          <a:solidFill>
            <a:srgbClr val="0B1739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274" name="r"/>
          <p:cNvSpPr/>
          <p:nvPr/>
        </p:nvSpPr>
        <p:spPr>
          <a:xfrm>
            <a:off x="457200" y="3383280"/>
            <a:ext cx="73152" cy="9144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5" name="t"/>
          <p:cNvSpPr txBox="1"/>
          <p:nvPr/>
        </p:nvSpPr>
        <p:spPr>
          <a:xfrm>
            <a:off x="640080" y="352044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EXPRESS.JS BACKEND API</a:t>
            </a:r>
          </a:p>
        </p:txBody>
      </p:sp>
      <p:sp>
        <p:nvSpPr>
          <p:cNvPr id="276" name="t"/>
          <p:cNvSpPr txBox="1"/>
          <p:nvPr/>
        </p:nvSpPr>
        <p:spPr>
          <a:xfrm>
            <a:off x="640080" y="3886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REST  |  Socket.IO  |  JWT  |  RBAC  |  Zod</a:t>
            </a:r>
          </a:p>
        </p:txBody>
      </p:sp>
      <p:cxnSp>
        <p:nvCxnSpPr>
          <p:cNvPr id="277" name="ln"/>
          <p:cNvCxnSpPr/>
          <p:nvPr/>
        </p:nvCxnSpPr>
        <p:spPr>
          <a:xfrm flipH="0" flipV="0">
            <a:off x="1554480" y="4343400"/>
            <a:ext cx="1" cy="4114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cxnSp>
        <p:nvCxnSpPr>
          <p:cNvPr id="278" name="ln"/>
          <p:cNvCxnSpPr/>
          <p:nvPr/>
        </p:nvCxnSpPr>
        <p:spPr>
          <a:xfrm flipH="0" flipV="0">
            <a:off x="3657600" y="4343400"/>
            <a:ext cx="1" cy="4114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sp>
        <p:nvSpPr>
          <p:cNvPr id="279" name="da"/>
          <p:cNvSpPr/>
          <p:nvPr/>
        </p:nvSpPr>
        <p:spPr>
          <a:xfrm>
            <a:off x="1417320" y="4663440"/>
            <a:ext cx="274320" cy="182880"/>
          </a:xfrm>
          <a:prstGeom prst="downArrow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0" name="da"/>
          <p:cNvSpPr/>
          <p:nvPr/>
        </p:nvSpPr>
        <p:spPr>
          <a:xfrm>
            <a:off x="3520440" y="4663440"/>
            <a:ext cx="274320" cy="182880"/>
          </a:xfrm>
          <a:prstGeom prst="downArrow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1" name="s"/>
          <p:cNvSpPr/>
          <p:nvPr/>
        </p:nvSpPr>
        <p:spPr>
          <a:xfrm>
            <a:off x="457200" y="4846320"/>
            <a:ext cx="2011680" cy="822960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282" name="t"/>
          <p:cNvSpPr txBox="1"/>
          <p:nvPr/>
        </p:nvSpPr>
        <p:spPr>
          <a:xfrm>
            <a:off x="640080" y="4983480"/>
            <a:ext cx="1828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MongoDB</a:t>
            </a:r>
          </a:p>
        </p:txBody>
      </p:sp>
      <p:sp>
        <p:nvSpPr>
          <p:cNvPr id="283" name="t"/>
          <p:cNvSpPr txBox="1"/>
          <p:nvPr/>
        </p:nvSpPr>
        <p:spPr>
          <a:xfrm>
            <a:off x="640080" y="5349240"/>
            <a:ext cx="1828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D0FFE0"/>
                </a:solidFill>
                <a:latin typeface="Calibri"/>
              </a:rPr>
              <a:t>Primary Database</a:t>
            </a:r>
          </a:p>
        </p:txBody>
      </p:sp>
      <p:sp>
        <p:nvSpPr>
          <p:cNvPr id="284" name="s"/>
          <p:cNvSpPr/>
          <p:nvPr/>
        </p:nvSpPr>
        <p:spPr>
          <a:xfrm>
            <a:off x="2697480" y="4846320"/>
            <a:ext cx="2011680" cy="822960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285" name="t"/>
          <p:cNvSpPr txBox="1"/>
          <p:nvPr/>
        </p:nvSpPr>
        <p:spPr>
          <a:xfrm>
            <a:off x="2880360" y="4983480"/>
            <a:ext cx="1828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Redis</a:t>
            </a:r>
          </a:p>
        </p:txBody>
      </p:sp>
      <p:sp>
        <p:nvSpPr>
          <p:cNvPr id="286" name="t"/>
          <p:cNvSpPr txBox="1"/>
          <p:nvPr/>
        </p:nvSpPr>
        <p:spPr>
          <a:xfrm>
            <a:off x="2880360" y="5349240"/>
            <a:ext cx="1828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D0D0"/>
                </a:solidFill>
                <a:latin typeface="Calibri"/>
              </a:rPr>
              <a:t>Cache + Real-Time</a:t>
            </a:r>
          </a:p>
        </p:txBody>
      </p:sp>
      <p:sp>
        <p:nvSpPr>
          <p:cNvPr id="287" name="s"/>
          <p:cNvSpPr/>
          <p:nvPr/>
        </p:nvSpPr>
        <p:spPr>
          <a:xfrm>
            <a:off x="5120640" y="1371600"/>
            <a:ext cx="640080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t" rtlCol="0" lIns="91440" tIns="91440" rIns="91440" bIns="91440"/>
          <a:lstStyle/>
          <a:p/>
        </p:txBody>
      </p:sp>
      <p:sp>
        <p:nvSpPr>
          <p:cNvPr id="288" name="r"/>
          <p:cNvSpPr/>
          <p:nvPr/>
        </p:nvSpPr>
        <p:spPr>
          <a:xfrm>
            <a:off x="5120640" y="137160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289" name="r"/>
          <p:cNvSpPr/>
          <p:nvPr/>
        </p:nvSpPr>
        <p:spPr>
          <a:xfrm>
            <a:off x="5120640" y="1828800"/>
            <a:ext cx="6400800" cy="1828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290" name="t"/>
          <p:cNvSpPr txBox="1"/>
          <p:nvPr/>
        </p:nvSpPr>
        <p:spPr>
          <a:xfrm>
            <a:off x="5349240" y="1508760"/>
            <a:ext cx="5943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97316"/>
                </a:solidFill>
                <a:latin typeface="Calibri"/>
              </a:rPr>
              <a:t>ORDER LIFECYCLE FLOW</a:t>
            </a:r>
          </a:p>
        </p:txBody>
      </p:sp>
      <p:sp>
        <p:nvSpPr>
          <p:cNvPr id="291" name="c"/>
          <p:cNvSpPr/>
          <p:nvPr/>
        </p:nvSpPr>
        <p:spPr>
          <a:xfrm>
            <a:off x="5440680" y="219456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2" name="t"/>
          <p:cNvSpPr txBox="1"/>
          <p:nvPr/>
        </p:nvSpPr>
        <p:spPr>
          <a:xfrm>
            <a:off x="5440680" y="224028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93" name="t"/>
          <p:cNvSpPr txBox="1"/>
          <p:nvPr/>
        </p:nvSpPr>
        <p:spPr>
          <a:xfrm>
            <a:off x="6126480" y="2286000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Customer places order</a:t>
            </a:r>
          </a:p>
        </p:txBody>
      </p:sp>
      <p:cxnSp>
        <p:nvCxnSpPr>
          <p:cNvPr id="294" name="ln"/>
          <p:cNvCxnSpPr/>
          <p:nvPr/>
        </p:nvCxnSpPr>
        <p:spPr>
          <a:xfrm flipH="0" flipV="0">
            <a:off x="5669280" y="2651760"/>
            <a:ext cx="1" cy="109728"/>
          </a:xfrm>
          <a:prstGeom prst="line">
            <a:avLst/>
          </a:prstGeom>
          <a:ln w="20000">
            <a:solidFill>
              <a:srgbClr val="3B82F6"/>
            </a:solidFill>
          </a:ln>
        </p:spPr>
      </p:cxnSp>
      <p:sp>
        <p:nvSpPr>
          <p:cNvPr id="295" name="c"/>
          <p:cNvSpPr/>
          <p:nvPr/>
        </p:nvSpPr>
        <p:spPr>
          <a:xfrm>
            <a:off x="5440680" y="2761488"/>
            <a:ext cx="457200" cy="4572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6" name="t"/>
          <p:cNvSpPr txBox="1"/>
          <p:nvPr/>
        </p:nvSpPr>
        <p:spPr>
          <a:xfrm>
            <a:off x="5440680" y="2807208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97" name="t"/>
          <p:cNvSpPr txBox="1"/>
          <p:nvPr/>
        </p:nvSpPr>
        <p:spPr>
          <a:xfrm>
            <a:off x="6126480" y="2852928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Admin assigns agent</a:t>
            </a:r>
          </a:p>
        </p:txBody>
      </p:sp>
      <p:cxnSp>
        <p:nvCxnSpPr>
          <p:cNvPr id="298" name="ln"/>
          <p:cNvCxnSpPr/>
          <p:nvPr/>
        </p:nvCxnSpPr>
        <p:spPr>
          <a:xfrm flipH="0" flipV="0">
            <a:off x="5669280" y="3218688"/>
            <a:ext cx="1" cy="109728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299" name="c"/>
          <p:cNvSpPr/>
          <p:nvPr/>
        </p:nvSpPr>
        <p:spPr>
          <a:xfrm>
            <a:off x="5440680" y="3328416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0" name="t"/>
          <p:cNvSpPr txBox="1"/>
          <p:nvPr/>
        </p:nvSpPr>
        <p:spPr>
          <a:xfrm>
            <a:off x="5440680" y="3374136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01" name="t"/>
          <p:cNvSpPr txBox="1"/>
          <p:nvPr/>
        </p:nvSpPr>
        <p:spPr>
          <a:xfrm>
            <a:off x="6126480" y="3419856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Agent picks cylinder</a:t>
            </a:r>
          </a:p>
        </p:txBody>
      </p:sp>
      <p:cxnSp>
        <p:nvCxnSpPr>
          <p:cNvPr id="302" name="ln"/>
          <p:cNvCxnSpPr/>
          <p:nvPr/>
        </p:nvCxnSpPr>
        <p:spPr>
          <a:xfrm flipH="0" flipV="0">
            <a:off x="5669280" y="3785616"/>
            <a:ext cx="1" cy="109728"/>
          </a:xfrm>
          <a:prstGeom prst="line">
            <a:avLst/>
          </a:prstGeom>
          <a:ln w="20000">
            <a:solidFill>
              <a:srgbClr val="8B5CF6"/>
            </a:solidFill>
          </a:ln>
        </p:spPr>
      </p:cxnSp>
      <p:sp>
        <p:nvSpPr>
          <p:cNvPr id="303" name="c"/>
          <p:cNvSpPr/>
          <p:nvPr/>
        </p:nvSpPr>
        <p:spPr>
          <a:xfrm>
            <a:off x="5440680" y="3895344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04" name="t"/>
          <p:cNvSpPr txBox="1"/>
          <p:nvPr/>
        </p:nvSpPr>
        <p:spPr>
          <a:xfrm>
            <a:off x="5440680" y="3941064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05" name="t"/>
          <p:cNvSpPr txBox="1"/>
          <p:nvPr/>
        </p:nvSpPr>
        <p:spPr>
          <a:xfrm>
            <a:off x="6126480" y="3986784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GPS tracking begins</a:t>
            </a:r>
          </a:p>
        </p:txBody>
      </p:sp>
      <p:cxnSp>
        <p:nvCxnSpPr>
          <p:cNvPr id="306" name="ln"/>
          <p:cNvCxnSpPr/>
          <p:nvPr/>
        </p:nvCxnSpPr>
        <p:spPr>
          <a:xfrm flipH="0" flipV="0">
            <a:off x="5669280" y="4352544"/>
            <a:ext cx="1" cy="109728"/>
          </a:xfrm>
          <a:prstGeom prst="line">
            <a:avLst/>
          </a:prstGeom>
          <a:ln w="20000">
            <a:solidFill>
              <a:srgbClr val="FBBF24"/>
            </a:solidFill>
          </a:ln>
        </p:spPr>
      </p:cxnSp>
      <p:sp>
        <p:nvSpPr>
          <p:cNvPr id="307" name="c"/>
          <p:cNvSpPr/>
          <p:nvPr/>
        </p:nvSpPr>
        <p:spPr>
          <a:xfrm>
            <a:off x="5440680" y="4462272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8" name="t"/>
          <p:cNvSpPr txBox="1"/>
          <p:nvPr/>
        </p:nvSpPr>
        <p:spPr>
          <a:xfrm>
            <a:off x="5440680" y="4507992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09" name="t"/>
          <p:cNvSpPr txBox="1"/>
          <p:nvPr/>
        </p:nvSpPr>
        <p:spPr>
          <a:xfrm>
            <a:off x="6126480" y="4553712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Live chat enabled</a:t>
            </a:r>
          </a:p>
        </p:txBody>
      </p:sp>
      <p:cxnSp>
        <p:nvCxnSpPr>
          <p:cNvPr id="310" name="ln"/>
          <p:cNvCxnSpPr/>
          <p:nvPr/>
        </p:nvCxnSpPr>
        <p:spPr>
          <a:xfrm flipH="0" flipV="0">
            <a:off x="5669280" y="4919472"/>
            <a:ext cx="1" cy="109728"/>
          </a:xfrm>
          <a:prstGeom prst="line">
            <a:avLst/>
          </a:prstGeom>
          <a:ln w="20000">
            <a:solidFill>
              <a:srgbClr val="14B8A6"/>
            </a:solidFill>
          </a:ln>
        </p:spPr>
      </p:cxnSp>
      <p:sp>
        <p:nvSpPr>
          <p:cNvPr id="311" name="c"/>
          <p:cNvSpPr/>
          <p:nvPr/>
        </p:nvSpPr>
        <p:spPr>
          <a:xfrm>
            <a:off x="5440680" y="5029200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2" name="t"/>
          <p:cNvSpPr txBox="1"/>
          <p:nvPr/>
        </p:nvSpPr>
        <p:spPr>
          <a:xfrm>
            <a:off x="5440680" y="507492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13" name="t"/>
          <p:cNvSpPr txBox="1"/>
          <p:nvPr/>
        </p:nvSpPr>
        <p:spPr>
          <a:xfrm>
            <a:off x="6126480" y="5120640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Delivery + OTP verify</a:t>
            </a:r>
          </a:p>
        </p:txBody>
      </p:sp>
      <p:cxnSp>
        <p:nvCxnSpPr>
          <p:cNvPr id="314" name="ln"/>
          <p:cNvCxnSpPr/>
          <p:nvPr/>
        </p:nvCxnSpPr>
        <p:spPr>
          <a:xfrm flipH="0" flipV="0">
            <a:off x="5669280" y="5486400"/>
            <a:ext cx="1" cy="109728"/>
          </a:xfrm>
          <a:prstGeom prst="line">
            <a:avLst/>
          </a:prstGeom>
          <a:ln w="20000">
            <a:solidFill>
              <a:srgbClr val="1E40AF"/>
            </a:solidFill>
          </a:ln>
        </p:spPr>
      </p:cxnSp>
      <p:sp>
        <p:nvSpPr>
          <p:cNvPr id="315" name="c"/>
          <p:cNvSpPr/>
          <p:nvPr/>
        </p:nvSpPr>
        <p:spPr>
          <a:xfrm>
            <a:off x="5440680" y="5596128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6" name="t"/>
          <p:cNvSpPr txBox="1"/>
          <p:nvPr/>
        </p:nvSpPr>
        <p:spPr>
          <a:xfrm>
            <a:off x="5440680" y="5641848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17" name="t"/>
          <p:cNvSpPr txBox="1"/>
          <p:nvPr/>
        </p:nvSpPr>
        <p:spPr>
          <a:xfrm>
            <a:off x="6126480" y="5687568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Order completed!</a:t>
            </a:r>
          </a:p>
        </p:txBody>
      </p:sp>
      <p:sp>
        <p:nvSpPr>
          <p:cNvPr id="318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04</a:t>
            </a:r>
          </a:p>
        </p:txBody>
      </p:sp>
    </p:spTree>
  </p:cSld>
  <p:transition spd="med">
    <p:wipe dir="l"/>
  </p:transition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320" name="r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21" name="c"/>
          <p:cNvSpPr/>
          <p:nvPr/>
        </p:nvSpPr>
        <p:spPr>
          <a:xfrm>
            <a:off x="10058400" y="-457200"/>
            <a:ext cx="2286000" cy="2286000"/>
          </a:xfrm>
          <a:prstGeom prst="ellipse">
            <a:avLst/>
          </a:prstGeom>
          <a:solidFill>
            <a:srgbClr val="17264C"/>
          </a:solidFill>
          <a:ln>
            <a:noFill/>
          </a:ln>
        </p:spPr>
        <p:txBody>
          <a:bodyPr/>
          <a:lstStyle/>
          <a:p/>
        </p:txBody>
      </p:sp>
      <p:sp>
        <p:nvSpPr>
          <p:cNvPr id="322" name="c"/>
          <p:cNvSpPr/>
          <p:nvPr/>
        </p:nvSpPr>
        <p:spPr>
          <a:xfrm>
            <a:off x="10515600" y="-182880"/>
            <a:ext cx="1463040" cy="14630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23" name="t"/>
          <p:cNvSpPr txBox="1"/>
          <p:nvPr/>
        </p:nvSpPr>
        <p:spPr>
          <a:xfrm>
            <a:off x="365760" y="274320"/>
            <a:ext cx="18288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5200" b="1" dirty="0">
                <a:solidFill>
                  <a:srgbClr val="F97316"/>
                </a:solidFill>
                <a:latin typeface="Calibri"/>
              </a:rPr>
              <a:t>05</a:t>
            </a:r>
          </a:p>
        </p:txBody>
      </p:sp>
      <p:sp>
        <p:nvSpPr>
          <p:cNvPr id="324" name="t"/>
          <p:cNvSpPr txBox="1"/>
          <p:nvPr/>
        </p:nvSpPr>
        <p:spPr>
          <a:xfrm>
            <a:off x="1371600" y="365760"/>
            <a:ext cx="7315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TECH STACK</a:t>
            </a:r>
          </a:p>
        </p:txBody>
      </p:sp>
      <p:sp>
        <p:nvSpPr>
          <p:cNvPr id="325" name="t"/>
          <p:cNvSpPr txBox="1"/>
          <p:nvPr/>
        </p:nvSpPr>
        <p:spPr>
          <a:xfrm>
            <a:off x="1371600" y="777240"/>
            <a:ext cx="914400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/>
              </a:rPr>
              <a:t>Modern Technologies</a:t>
            </a:r>
          </a:p>
        </p:txBody>
      </p:sp>
      <p:sp>
        <p:nvSpPr>
          <p:cNvPr id="326" name="t"/>
          <p:cNvSpPr txBox="1"/>
          <p:nvPr/>
        </p:nvSpPr>
        <p:spPr>
          <a:xfrm>
            <a:off x="1371600" y="1280160"/>
            <a:ext cx="100584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Built with industry-standard tools for scalability &amp; reliability</a:t>
            </a:r>
          </a:p>
        </p:txBody>
      </p:sp>
      <p:sp>
        <p:nvSpPr>
          <p:cNvPr id="327" name="s"/>
          <p:cNvSpPr/>
          <p:nvPr/>
        </p:nvSpPr>
        <p:spPr>
          <a:xfrm>
            <a:off x="365760" y="182880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0B981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28" name="r"/>
          <p:cNvSpPr/>
          <p:nvPr/>
        </p:nvSpPr>
        <p:spPr>
          <a:xfrm>
            <a:off x="365760" y="1828800"/>
            <a:ext cx="265176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29" name="t"/>
          <p:cNvSpPr txBox="1"/>
          <p:nvPr/>
        </p:nvSpPr>
        <p:spPr>
          <a:xfrm>
            <a:off x="548640" y="1965960"/>
            <a:ext cx="9144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330" name="t"/>
          <p:cNvSpPr txBox="1"/>
          <p:nvPr/>
        </p:nvSpPr>
        <p:spPr>
          <a:xfrm>
            <a:off x="548640" y="2697480"/>
            <a:ext cx="2468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Node</a:t>
            </a:r>
          </a:p>
        </p:txBody>
      </p:sp>
      <p:sp>
        <p:nvSpPr>
          <p:cNvPr id="331" name="r"/>
          <p:cNvSpPr/>
          <p:nvPr/>
        </p:nvSpPr>
        <p:spPr>
          <a:xfrm>
            <a:off x="548640" y="301752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32" name="t"/>
          <p:cNvSpPr txBox="1"/>
          <p:nvPr/>
        </p:nvSpPr>
        <p:spPr>
          <a:xfrm>
            <a:off x="548640" y="3200400"/>
            <a:ext cx="2468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>Runtime</a:t>
            </a:r>
          </a:p>
        </p:txBody>
      </p:sp>
      <p:sp>
        <p:nvSpPr>
          <p:cNvPr id="333" name="s"/>
          <p:cNvSpPr/>
          <p:nvPr/>
        </p:nvSpPr>
        <p:spPr>
          <a:xfrm>
            <a:off x="3154680" y="182880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3B82F6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34" name="r"/>
          <p:cNvSpPr/>
          <p:nvPr/>
        </p:nvSpPr>
        <p:spPr>
          <a:xfrm>
            <a:off x="3154680" y="1828800"/>
            <a:ext cx="265176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35" name="t"/>
          <p:cNvSpPr txBox="1"/>
          <p:nvPr/>
        </p:nvSpPr>
        <p:spPr>
          <a:xfrm>
            <a:off x="3337560" y="1965960"/>
            <a:ext cx="9144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36" name="t"/>
          <p:cNvSpPr txBox="1"/>
          <p:nvPr/>
        </p:nvSpPr>
        <p:spPr>
          <a:xfrm>
            <a:off x="3337560" y="2697480"/>
            <a:ext cx="2468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Express</a:t>
            </a:r>
          </a:p>
        </p:txBody>
      </p:sp>
      <p:sp>
        <p:nvSpPr>
          <p:cNvPr id="337" name="r"/>
          <p:cNvSpPr/>
          <p:nvPr/>
        </p:nvSpPr>
        <p:spPr>
          <a:xfrm>
            <a:off x="3337560" y="301752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38" name="t"/>
          <p:cNvSpPr txBox="1"/>
          <p:nvPr/>
        </p:nvSpPr>
        <p:spPr>
          <a:xfrm>
            <a:off x="3337560" y="3200400"/>
            <a:ext cx="2468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>Framework</a:t>
            </a:r>
          </a:p>
        </p:txBody>
      </p:sp>
      <p:sp>
        <p:nvSpPr>
          <p:cNvPr id="339" name="s"/>
          <p:cNvSpPr/>
          <p:nvPr/>
        </p:nvSpPr>
        <p:spPr>
          <a:xfrm>
            <a:off x="5943600" y="182880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228B22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40" name="r"/>
          <p:cNvSpPr/>
          <p:nvPr/>
        </p:nvSpPr>
        <p:spPr>
          <a:xfrm>
            <a:off x="5943600" y="1828800"/>
            <a:ext cx="265176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41" name="t"/>
          <p:cNvSpPr txBox="1"/>
          <p:nvPr/>
        </p:nvSpPr>
        <p:spPr>
          <a:xfrm>
            <a:off x="6126480" y="1965960"/>
            <a:ext cx="9144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42" name="t"/>
          <p:cNvSpPr txBox="1"/>
          <p:nvPr/>
        </p:nvSpPr>
        <p:spPr>
          <a:xfrm>
            <a:off x="6126480" y="2697480"/>
            <a:ext cx="2468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MongoDB</a:t>
            </a:r>
          </a:p>
        </p:txBody>
      </p:sp>
      <p:sp>
        <p:nvSpPr>
          <p:cNvPr id="343" name="r"/>
          <p:cNvSpPr/>
          <p:nvPr/>
        </p:nvSpPr>
        <p:spPr>
          <a:xfrm>
            <a:off x="6126480" y="301752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44" name="t"/>
          <p:cNvSpPr txBox="1"/>
          <p:nvPr/>
        </p:nvSpPr>
        <p:spPr>
          <a:xfrm>
            <a:off x="6126480" y="3200400"/>
            <a:ext cx="2468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>Database</a:t>
            </a:r>
          </a:p>
        </p:txBody>
      </p:sp>
      <p:sp>
        <p:nvSpPr>
          <p:cNvPr id="345" name="s"/>
          <p:cNvSpPr/>
          <p:nvPr/>
        </p:nvSpPr>
        <p:spPr>
          <a:xfrm>
            <a:off x="8732520" y="182880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EF4444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46" name="r"/>
          <p:cNvSpPr/>
          <p:nvPr/>
        </p:nvSpPr>
        <p:spPr>
          <a:xfrm>
            <a:off x="8732520" y="1828800"/>
            <a:ext cx="265176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47" name="t"/>
          <p:cNvSpPr txBox="1"/>
          <p:nvPr/>
        </p:nvSpPr>
        <p:spPr>
          <a:xfrm>
            <a:off x="8915400" y="1965960"/>
            <a:ext cx="9144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348" name="t"/>
          <p:cNvSpPr txBox="1"/>
          <p:nvPr/>
        </p:nvSpPr>
        <p:spPr>
          <a:xfrm>
            <a:off x="8915400" y="2697480"/>
            <a:ext cx="2468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Redis</a:t>
            </a:r>
          </a:p>
        </p:txBody>
      </p:sp>
      <p:sp>
        <p:nvSpPr>
          <p:cNvPr id="349" name="r"/>
          <p:cNvSpPr/>
          <p:nvPr/>
        </p:nvSpPr>
        <p:spPr>
          <a:xfrm>
            <a:off x="8915400" y="301752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50" name="t"/>
          <p:cNvSpPr txBox="1"/>
          <p:nvPr/>
        </p:nvSpPr>
        <p:spPr>
          <a:xfrm>
            <a:off x="8915400" y="3200400"/>
            <a:ext cx="2468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>Cache/RT</a:t>
            </a:r>
          </a:p>
        </p:txBody>
      </p:sp>
      <p:sp>
        <p:nvSpPr>
          <p:cNvPr id="351" name="s"/>
          <p:cNvSpPr/>
          <p:nvPr/>
        </p:nvSpPr>
        <p:spPr>
          <a:xfrm>
            <a:off x="365760" y="3931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52" name="r"/>
          <p:cNvSpPr/>
          <p:nvPr/>
        </p:nvSpPr>
        <p:spPr>
          <a:xfrm>
            <a:off x="365760" y="3931920"/>
            <a:ext cx="265176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53" name="t"/>
          <p:cNvSpPr txBox="1"/>
          <p:nvPr/>
        </p:nvSpPr>
        <p:spPr>
          <a:xfrm>
            <a:off x="548640" y="4069080"/>
            <a:ext cx="9144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54" name="t"/>
          <p:cNvSpPr txBox="1"/>
          <p:nvPr/>
        </p:nvSpPr>
        <p:spPr>
          <a:xfrm>
            <a:off x="548640" y="4800600"/>
            <a:ext cx="2468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Socket.IO</a:t>
            </a:r>
          </a:p>
        </p:txBody>
      </p:sp>
      <p:sp>
        <p:nvSpPr>
          <p:cNvPr id="355" name="r"/>
          <p:cNvSpPr/>
          <p:nvPr/>
        </p:nvSpPr>
        <p:spPr>
          <a:xfrm>
            <a:off x="548640" y="512064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56" name="t"/>
          <p:cNvSpPr txBox="1"/>
          <p:nvPr/>
        </p:nvSpPr>
        <p:spPr>
          <a:xfrm>
            <a:off x="548640" y="5303520"/>
            <a:ext cx="2468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>WebSocket</a:t>
            </a:r>
          </a:p>
        </p:txBody>
      </p:sp>
      <p:sp>
        <p:nvSpPr>
          <p:cNvPr id="357" name="s"/>
          <p:cNvSpPr/>
          <p:nvPr/>
        </p:nvSpPr>
        <p:spPr>
          <a:xfrm>
            <a:off x="3154680" y="3931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E40A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58" name="r"/>
          <p:cNvSpPr/>
          <p:nvPr/>
        </p:nvSpPr>
        <p:spPr>
          <a:xfrm>
            <a:off x="3154680" y="3931920"/>
            <a:ext cx="265176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59" name="t"/>
          <p:cNvSpPr txBox="1"/>
          <p:nvPr/>
        </p:nvSpPr>
        <p:spPr>
          <a:xfrm>
            <a:off x="3337560" y="4069080"/>
            <a:ext cx="9144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60" name="t"/>
          <p:cNvSpPr txBox="1"/>
          <p:nvPr/>
        </p:nvSpPr>
        <p:spPr>
          <a:xfrm>
            <a:off x="3337560" y="4800600"/>
            <a:ext cx="2468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61" name="r"/>
          <p:cNvSpPr/>
          <p:nvPr/>
        </p:nvSpPr>
        <p:spPr>
          <a:xfrm>
            <a:off x="3337560" y="512064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62" name="t"/>
          <p:cNvSpPr txBox="1"/>
          <p:nvPr/>
        </p:nvSpPr>
        <p:spPr>
          <a:xfrm>
            <a:off x="3337560" y="5303520"/>
            <a:ext cx="2468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>Container</a:t>
            </a:r>
          </a:p>
        </p:txBody>
      </p:sp>
      <p:sp>
        <p:nvSpPr>
          <p:cNvPr id="363" name="s"/>
          <p:cNvSpPr/>
          <p:nvPr/>
        </p:nvSpPr>
        <p:spPr>
          <a:xfrm>
            <a:off x="5943600" y="3931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3B82F6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64" name="r"/>
          <p:cNvSpPr/>
          <p:nvPr/>
        </p:nvSpPr>
        <p:spPr>
          <a:xfrm>
            <a:off x="5943600" y="3931920"/>
            <a:ext cx="265176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65" name="t"/>
          <p:cNvSpPr txBox="1"/>
          <p:nvPr/>
        </p:nvSpPr>
        <p:spPr>
          <a:xfrm>
            <a:off x="6126480" y="4069080"/>
            <a:ext cx="9144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366" name="t"/>
          <p:cNvSpPr txBox="1"/>
          <p:nvPr/>
        </p:nvSpPr>
        <p:spPr>
          <a:xfrm>
            <a:off x="6126480" y="4800600"/>
            <a:ext cx="2468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K8s</a:t>
            </a:r>
          </a:p>
        </p:txBody>
      </p:sp>
      <p:sp>
        <p:nvSpPr>
          <p:cNvPr id="367" name="r"/>
          <p:cNvSpPr/>
          <p:nvPr/>
        </p:nvSpPr>
        <p:spPr>
          <a:xfrm>
            <a:off x="6126480" y="512064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68" name="t"/>
          <p:cNvSpPr txBox="1"/>
          <p:nvPr/>
        </p:nvSpPr>
        <p:spPr>
          <a:xfrm>
            <a:off x="6126480" y="5303520"/>
            <a:ext cx="2468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>Orchestration</a:t>
            </a:r>
          </a:p>
        </p:txBody>
      </p:sp>
      <p:sp>
        <p:nvSpPr>
          <p:cNvPr id="369" name="s"/>
          <p:cNvSpPr/>
          <p:nvPr/>
        </p:nvSpPr>
        <p:spPr>
          <a:xfrm>
            <a:off x="8732520" y="3931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F97316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70" name="r"/>
          <p:cNvSpPr/>
          <p:nvPr/>
        </p:nvSpPr>
        <p:spPr>
          <a:xfrm>
            <a:off x="8732520" y="3931920"/>
            <a:ext cx="265176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71" name="t"/>
          <p:cNvSpPr txBox="1"/>
          <p:nvPr/>
        </p:nvSpPr>
        <p:spPr>
          <a:xfrm>
            <a:off x="8915400" y="4069080"/>
            <a:ext cx="9144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372" name="t"/>
          <p:cNvSpPr txBox="1"/>
          <p:nvPr/>
        </p:nvSpPr>
        <p:spPr>
          <a:xfrm>
            <a:off x="8915400" y="4800600"/>
            <a:ext cx="2468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JWT</a:t>
            </a:r>
          </a:p>
        </p:txBody>
      </p:sp>
      <p:sp>
        <p:nvSpPr>
          <p:cNvPr id="373" name="r"/>
          <p:cNvSpPr/>
          <p:nvPr/>
        </p:nvSpPr>
        <p:spPr>
          <a:xfrm>
            <a:off x="8915400" y="512064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74" name="t"/>
          <p:cNvSpPr txBox="1"/>
          <p:nvPr/>
        </p:nvSpPr>
        <p:spPr>
          <a:xfrm>
            <a:off x="8915400" y="5303520"/>
            <a:ext cx="2468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>Auth</a:t>
            </a:r>
          </a:p>
        </p:txBody>
      </p:sp>
      <p:sp>
        <p:nvSpPr>
          <p:cNvPr id="375" name="s"/>
          <p:cNvSpPr/>
          <p:nvPr/>
        </p:nvSpPr>
        <p:spPr>
          <a:xfrm>
            <a:off x="365760" y="594360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76" name="r"/>
          <p:cNvSpPr/>
          <p:nvPr/>
        </p:nvSpPr>
        <p:spPr>
          <a:xfrm>
            <a:off x="365760" y="5943600"/>
            <a:ext cx="111556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77" name="t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SUPPORTING LIBRARIES</a:t>
            </a:r>
          </a:p>
        </p:txBody>
      </p:sp>
      <p:sp>
        <p:nvSpPr>
          <p:cNvPr id="378" name="t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bcrypt | Helmet | CORS | Zod | Winston | Twilio | SendGrid | Razorpay | AWS S3 | Jest | Swagger</a:t>
            </a:r>
          </a:p>
        </p:txBody>
      </p:sp>
      <p:sp>
        <p:nvSpPr>
          <p:cNvPr id="379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05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81" name="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382" name="r"/>
          <p:cNvSpPr/>
          <p:nvPr/>
        </p:nvSpPr>
        <p:spPr>
          <a:xfrm>
            <a:off x="0" y="10972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83" name="t"/>
          <p:cNvSpPr txBox="1"/>
          <p:nvPr/>
        </p:nvSpPr>
        <p:spPr>
          <a:xfrm>
            <a:off x="457200" y="22860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06</a:t>
            </a:r>
          </a:p>
        </p:txBody>
      </p:sp>
      <p:sp>
        <p:nvSpPr>
          <p:cNvPr id="384" name="t"/>
          <p:cNvSpPr txBox="1"/>
          <p:nvPr/>
        </p:nvSpPr>
        <p:spPr>
          <a:xfrm>
            <a:off x="1371600" y="274320"/>
            <a:ext cx="9144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WHAT MAKES US DIFFERENT</a:t>
            </a:r>
          </a:p>
        </p:txBody>
      </p:sp>
      <p:sp>
        <p:nvSpPr>
          <p:cNvPr id="385" name="t"/>
          <p:cNvSpPr txBox="1"/>
          <p:nvPr/>
        </p:nvSpPr>
        <p:spPr>
          <a:xfrm>
            <a:off x="1371600" y="64008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Unique Features</a:t>
            </a:r>
          </a:p>
        </p:txBody>
      </p:sp>
      <p:sp>
        <p:nvSpPr>
          <p:cNvPr id="386" name="s"/>
          <p:cNvSpPr/>
          <p:nvPr/>
        </p:nvSpPr>
        <p:spPr>
          <a:xfrm>
            <a:off x="365760" y="13716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87" name="r"/>
          <p:cNvSpPr/>
          <p:nvPr/>
        </p:nvSpPr>
        <p:spPr>
          <a:xfrm>
            <a:off x="365760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88" name="r"/>
          <p:cNvSpPr/>
          <p:nvPr/>
        </p:nvSpPr>
        <p:spPr>
          <a:xfrm>
            <a:off x="365760" y="1920240"/>
            <a:ext cx="219456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89" name="c"/>
          <p:cNvSpPr/>
          <p:nvPr/>
        </p:nvSpPr>
        <p:spPr>
          <a:xfrm>
            <a:off x="594360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90" name="t"/>
          <p:cNvSpPr txBox="1"/>
          <p:nvPr/>
        </p:nvSpPr>
        <p:spPr>
          <a:xfrm>
            <a:off x="594360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3B82F6"/>
                </a:solidFill>
                <a:latin typeface="Calibri"/>
              </a:rPr>
              <a:t>01</a:t>
            </a:r>
          </a:p>
        </p:txBody>
      </p:sp>
      <p:sp>
        <p:nvSpPr>
          <p:cNvPr id="391" name="t"/>
          <p:cNvSpPr txBox="1"/>
          <p:nvPr/>
        </p:nvSpPr>
        <p:spPr>
          <a:xfrm>
            <a:off x="1234440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WhatsApp</a:t>
            </a:r>
          </a:p>
        </p:txBody>
      </p:sp>
      <p:sp>
        <p:nvSpPr>
          <p:cNvPr id="392" name="t"/>
          <p:cNvSpPr txBox="1"/>
          <p:nvPr/>
        </p:nvSpPr>
        <p:spPr>
          <a:xfrm>
            <a:off x="1234440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Booking</a:t>
            </a:r>
          </a:p>
        </p:txBody>
      </p:sp>
      <p:sp>
        <p:nvSpPr>
          <p:cNvPr id="393" name="t"/>
          <p:cNvSpPr txBox="1"/>
          <p:nvPr/>
        </p:nvSpPr>
        <p:spPr>
          <a:xfrm>
            <a:off x="548640" y="27432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API-based booking</a:t>
            </a:r>
          </a:p>
        </p:txBody>
      </p:sp>
      <p:sp>
        <p:nvSpPr>
          <p:cNvPr id="394" name="r"/>
          <p:cNvSpPr/>
          <p:nvPr/>
        </p:nvSpPr>
        <p:spPr>
          <a:xfrm>
            <a:off x="365760" y="3785616"/>
            <a:ext cx="21945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95" name="s"/>
          <p:cNvSpPr/>
          <p:nvPr/>
        </p:nvSpPr>
        <p:spPr>
          <a:xfrm>
            <a:off x="2679192" y="13716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96" name="r"/>
          <p:cNvSpPr/>
          <p:nvPr/>
        </p:nvSpPr>
        <p:spPr>
          <a:xfrm>
            <a:off x="2679192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97" name="r"/>
          <p:cNvSpPr/>
          <p:nvPr/>
        </p:nvSpPr>
        <p:spPr>
          <a:xfrm>
            <a:off x="2679192" y="1920240"/>
            <a:ext cx="219456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98" name="c"/>
          <p:cNvSpPr/>
          <p:nvPr/>
        </p:nvSpPr>
        <p:spPr>
          <a:xfrm>
            <a:off x="2907792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99" name="t"/>
          <p:cNvSpPr txBox="1"/>
          <p:nvPr/>
        </p:nvSpPr>
        <p:spPr>
          <a:xfrm>
            <a:off x="2907792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97316"/>
                </a:solidFill>
                <a:latin typeface="Calibri"/>
              </a:rPr>
              <a:t>02</a:t>
            </a:r>
          </a:p>
        </p:txBody>
      </p:sp>
      <p:sp>
        <p:nvSpPr>
          <p:cNvPr id="400" name="t"/>
          <p:cNvSpPr txBox="1"/>
          <p:nvPr/>
        </p:nvSpPr>
        <p:spPr>
          <a:xfrm>
            <a:off x="3547872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401" name="t"/>
          <p:cNvSpPr txBox="1"/>
          <p:nvPr/>
        </p:nvSpPr>
        <p:spPr>
          <a:xfrm>
            <a:off x="3547872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Store</a:t>
            </a:r>
          </a:p>
        </p:txBody>
      </p:sp>
      <p:sp>
        <p:nvSpPr>
          <p:cNvPr id="402" name="t"/>
          <p:cNvSpPr txBox="1"/>
          <p:nvPr/>
        </p:nvSpPr>
        <p:spPr>
          <a:xfrm>
            <a:off x="2862072" y="27432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Buy accessories</a:t>
            </a:r>
          </a:p>
        </p:txBody>
      </p:sp>
      <p:sp>
        <p:nvSpPr>
          <p:cNvPr id="403" name="r"/>
          <p:cNvSpPr/>
          <p:nvPr/>
        </p:nvSpPr>
        <p:spPr>
          <a:xfrm>
            <a:off x="2679192" y="3785616"/>
            <a:ext cx="219456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04" name="s"/>
          <p:cNvSpPr/>
          <p:nvPr/>
        </p:nvSpPr>
        <p:spPr>
          <a:xfrm>
            <a:off x="4992624" y="13716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05" name="r"/>
          <p:cNvSpPr/>
          <p:nvPr/>
        </p:nvSpPr>
        <p:spPr>
          <a:xfrm>
            <a:off x="4992624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406" name="r"/>
          <p:cNvSpPr/>
          <p:nvPr/>
        </p:nvSpPr>
        <p:spPr>
          <a:xfrm>
            <a:off x="4992624" y="1920240"/>
            <a:ext cx="2194560" cy="548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407" name="c"/>
          <p:cNvSpPr/>
          <p:nvPr/>
        </p:nvSpPr>
        <p:spPr>
          <a:xfrm>
            <a:off x="5221224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08" name="t"/>
          <p:cNvSpPr txBox="1"/>
          <p:nvPr/>
        </p:nvSpPr>
        <p:spPr>
          <a:xfrm>
            <a:off x="5221224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/>
              </a:rPr>
              <a:t>03</a:t>
            </a:r>
          </a:p>
        </p:txBody>
      </p:sp>
      <p:sp>
        <p:nvSpPr>
          <p:cNvPr id="409" name="t"/>
          <p:cNvSpPr txBox="1"/>
          <p:nvPr/>
        </p:nvSpPr>
        <p:spPr>
          <a:xfrm>
            <a:off x="5861304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Live GPS</a:t>
            </a:r>
          </a:p>
        </p:txBody>
      </p:sp>
      <p:sp>
        <p:nvSpPr>
          <p:cNvPr id="410" name="t"/>
          <p:cNvSpPr txBox="1"/>
          <p:nvPr/>
        </p:nvSpPr>
        <p:spPr>
          <a:xfrm>
            <a:off x="5861304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Tracking</a:t>
            </a:r>
          </a:p>
        </p:txBody>
      </p:sp>
      <p:sp>
        <p:nvSpPr>
          <p:cNvPr id="411" name="t"/>
          <p:cNvSpPr txBox="1"/>
          <p:nvPr/>
        </p:nvSpPr>
        <p:spPr>
          <a:xfrm>
            <a:off x="5175504" y="27432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5s update intervals</a:t>
            </a:r>
          </a:p>
        </p:txBody>
      </p:sp>
      <p:sp>
        <p:nvSpPr>
          <p:cNvPr id="412" name="r"/>
          <p:cNvSpPr/>
          <p:nvPr/>
        </p:nvSpPr>
        <p:spPr>
          <a:xfrm>
            <a:off x="4992624" y="3785616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413" name="s"/>
          <p:cNvSpPr/>
          <p:nvPr/>
        </p:nvSpPr>
        <p:spPr>
          <a:xfrm>
            <a:off x="7306056" y="13716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14" name="r"/>
          <p:cNvSpPr/>
          <p:nvPr/>
        </p:nvSpPr>
        <p:spPr>
          <a:xfrm>
            <a:off x="7306056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15" name="r"/>
          <p:cNvSpPr/>
          <p:nvPr/>
        </p:nvSpPr>
        <p:spPr>
          <a:xfrm>
            <a:off x="7306056" y="1920240"/>
            <a:ext cx="2194560" cy="548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16" name="c"/>
          <p:cNvSpPr/>
          <p:nvPr/>
        </p:nvSpPr>
        <p:spPr>
          <a:xfrm>
            <a:off x="7534656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17" name="t"/>
          <p:cNvSpPr txBox="1"/>
          <p:nvPr/>
        </p:nvSpPr>
        <p:spPr>
          <a:xfrm>
            <a:off x="7534656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8B5CF6"/>
                </a:solidFill>
                <a:latin typeface="Calibri"/>
              </a:rPr>
              <a:t>04</a:t>
            </a:r>
          </a:p>
        </p:txBody>
      </p:sp>
      <p:sp>
        <p:nvSpPr>
          <p:cNvPr id="418" name="t"/>
          <p:cNvSpPr txBox="1"/>
          <p:nvPr/>
        </p:nvSpPr>
        <p:spPr>
          <a:xfrm>
            <a:off x="8174736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Real-time</a:t>
            </a:r>
          </a:p>
        </p:txBody>
      </p:sp>
      <p:sp>
        <p:nvSpPr>
          <p:cNvPr id="419" name="t"/>
          <p:cNvSpPr txBox="1"/>
          <p:nvPr/>
        </p:nvSpPr>
        <p:spPr>
          <a:xfrm>
            <a:off x="8174736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Chat</a:t>
            </a:r>
          </a:p>
        </p:txBody>
      </p:sp>
      <p:sp>
        <p:nvSpPr>
          <p:cNvPr id="420" name="t"/>
          <p:cNvSpPr txBox="1"/>
          <p:nvPr/>
        </p:nvSpPr>
        <p:spPr>
          <a:xfrm>
            <a:off x="7488936" y="27432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Customer-Agent msg</a:t>
            </a:r>
          </a:p>
        </p:txBody>
      </p:sp>
      <p:sp>
        <p:nvSpPr>
          <p:cNvPr id="421" name="r"/>
          <p:cNvSpPr/>
          <p:nvPr/>
        </p:nvSpPr>
        <p:spPr>
          <a:xfrm>
            <a:off x="7306056" y="3785616"/>
            <a:ext cx="219456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22" name="s"/>
          <p:cNvSpPr/>
          <p:nvPr/>
        </p:nvSpPr>
        <p:spPr>
          <a:xfrm>
            <a:off x="9619488" y="13716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23" name="r"/>
          <p:cNvSpPr/>
          <p:nvPr/>
        </p:nvSpPr>
        <p:spPr>
          <a:xfrm>
            <a:off x="9619488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24" name="r"/>
          <p:cNvSpPr/>
          <p:nvPr/>
        </p:nvSpPr>
        <p:spPr>
          <a:xfrm>
            <a:off x="9619488" y="1920240"/>
            <a:ext cx="2194560" cy="548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25" name="c"/>
          <p:cNvSpPr/>
          <p:nvPr/>
        </p:nvSpPr>
        <p:spPr>
          <a:xfrm>
            <a:off x="9848088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26" name="t"/>
          <p:cNvSpPr txBox="1"/>
          <p:nvPr/>
        </p:nvSpPr>
        <p:spPr>
          <a:xfrm>
            <a:off x="9848088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/>
              </a:rPr>
              <a:t>05</a:t>
            </a:r>
          </a:p>
        </p:txBody>
      </p:sp>
      <p:sp>
        <p:nvSpPr>
          <p:cNvPr id="427" name="t"/>
          <p:cNvSpPr txBox="1"/>
          <p:nvPr/>
        </p:nvSpPr>
        <p:spPr>
          <a:xfrm>
            <a:off x="10488168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Crisis</a:t>
            </a:r>
          </a:p>
        </p:txBody>
      </p:sp>
      <p:sp>
        <p:nvSpPr>
          <p:cNvPr id="428" name="t"/>
          <p:cNvSpPr txBox="1"/>
          <p:nvPr/>
        </p:nvSpPr>
        <p:spPr>
          <a:xfrm>
            <a:off x="10488168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Engine</a:t>
            </a:r>
          </a:p>
        </p:txBody>
      </p:sp>
      <p:sp>
        <p:nvSpPr>
          <p:cNvPr id="429" name="t"/>
          <p:cNvSpPr txBox="1"/>
          <p:nvPr/>
        </p:nvSpPr>
        <p:spPr>
          <a:xfrm>
            <a:off x="9802368" y="27432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Emergency priority</a:t>
            </a:r>
          </a:p>
        </p:txBody>
      </p:sp>
      <p:sp>
        <p:nvSpPr>
          <p:cNvPr id="430" name="r"/>
          <p:cNvSpPr/>
          <p:nvPr/>
        </p:nvSpPr>
        <p:spPr>
          <a:xfrm>
            <a:off x="9619488" y="3785616"/>
            <a:ext cx="219456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31" name="s"/>
          <p:cNvSpPr/>
          <p:nvPr/>
        </p:nvSpPr>
        <p:spPr>
          <a:xfrm>
            <a:off x="365760" y="41148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32" name="r"/>
          <p:cNvSpPr/>
          <p:nvPr/>
        </p:nvSpPr>
        <p:spPr>
          <a:xfrm>
            <a:off x="365760" y="41148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433" name="r"/>
          <p:cNvSpPr/>
          <p:nvPr/>
        </p:nvSpPr>
        <p:spPr>
          <a:xfrm>
            <a:off x="365760" y="4663440"/>
            <a:ext cx="2194560" cy="5486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434" name="c"/>
          <p:cNvSpPr/>
          <p:nvPr/>
        </p:nvSpPr>
        <p:spPr>
          <a:xfrm>
            <a:off x="594360" y="4434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35" name="t"/>
          <p:cNvSpPr txBox="1"/>
          <p:nvPr/>
        </p:nvSpPr>
        <p:spPr>
          <a:xfrm>
            <a:off x="594360" y="45262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libri"/>
              </a:rPr>
              <a:t>06</a:t>
            </a:r>
          </a:p>
        </p:txBody>
      </p:sp>
      <p:sp>
        <p:nvSpPr>
          <p:cNvPr id="436" name="t"/>
          <p:cNvSpPr txBox="1"/>
          <p:nvPr/>
        </p:nvSpPr>
        <p:spPr>
          <a:xfrm>
            <a:off x="1234440" y="4389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Inventory</a:t>
            </a:r>
          </a:p>
        </p:txBody>
      </p:sp>
      <p:sp>
        <p:nvSpPr>
          <p:cNvPr id="437" name="t"/>
          <p:cNvSpPr txBox="1"/>
          <p:nvPr/>
        </p:nvSpPr>
        <p:spPr>
          <a:xfrm>
            <a:off x="1234440" y="47091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Manager</a:t>
            </a:r>
          </a:p>
        </p:txBody>
      </p:sp>
      <p:sp>
        <p:nvSpPr>
          <p:cNvPr id="438" name="t"/>
          <p:cNvSpPr txBox="1"/>
          <p:nvPr/>
        </p:nvSpPr>
        <p:spPr>
          <a:xfrm>
            <a:off x="548640" y="54864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Warehouse tracking</a:t>
            </a:r>
          </a:p>
        </p:txBody>
      </p:sp>
      <p:sp>
        <p:nvSpPr>
          <p:cNvPr id="439" name="r"/>
          <p:cNvSpPr/>
          <p:nvPr/>
        </p:nvSpPr>
        <p:spPr>
          <a:xfrm>
            <a:off x="365760" y="6528816"/>
            <a:ext cx="219456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440" name="s"/>
          <p:cNvSpPr/>
          <p:nvPr/>
        </p:nvSpPr>
        <p:spPr>
          <a:xfrm>
            <a:off x="2679192" y="41148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41" name="r"/>
          <p:cNvSpPr/>
          <p:nvPr/>
        </p:nvSpPr>
        <p:spPr>
          <a:xfrm>
            <a:off x="2679192" y="41148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442" name="r"/>
          <p:cNvSpPr/>
          <p:nvPr/>
        </p:nvSpPr>
        <p:spPr>
          <a:xfrm>
            <a:off x="2679192" y="4663440"/>
            <a:ext cx="2194560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443" name="c"/>
          <p:cNvSpPr/>
          <p:nvPr/>
        </p:nvSpPr>
        <p:spPr>
          <a:xfrm>
            <a:off x="2907792" y="4434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44" name="t"/>
          <p:cNvSpPr txBox="1"/>
          <p:nvPr/>
        </p:nvSpPr>
        <p:spPr>
          <a:xfrm>
            <a:off x="2907792" y="45262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1E40AF"/>
                </a:solidFill>
                <a:latin typeface="Calibri"/>
              </a:rPr>
              <a:t>07</a:t>
            </a:r>
          </a:p>
        </p:txBody>
      </p:sp>
      <p:sp>
        <p:nvSpPr>
          <p:cNvPr id="445" name="t"/>
          <p:cNvSpPr txBox="1"/>
          <p:nvPr/>
        </p:nvSpPr>
        <p:spPr>
          <a:xfrm>
            <a:off x="3547872" y="4389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JWT +</a:t>
            </a:r>
          </a:p>
        </p:txBody>
      </p:sp>
      <p:sp>
        <p:nvSpPr>
          <p:cNvPr id="446" name="t"/>
          <p:cNvSpPr txBox="1"/>
          <p:nvPr/>
        </p:nvSpPr>
        <p:spPr>
          <a:xfrm>
            <a:off x="3547872" y="47091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RBAC</a:t>
            </a:r>
          </a:p>
        </p:txBody>
      </p:sp>
      <p:sp>
        <p:nvSpPr>
          <p:cNvPr id="447" name="t"/>
          <p:cNvSpPr txBox="1"/>
          <p:nvPr/>
        </p:nvSpPr>
        <p:spPr>
          <a:xfrm>
            <a:off x="2862072" y="54864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Role-based access</a:t>
            </a:r>
          </a:p>
        </p:txBody>
      </p:sp>
      <p:sp>
        <p:nvSpPr>
          <p:cNvPr id="448" name="r"/>
          <p:cNvSpPr/>
          <p:nvPr/>
        </p:nvSpPr>
        <p:spPr>
          <a:xfrm>
            <a:off x="2679192" y="6528816"/>
            <a:ext cx="219456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449" name="s"/>
          <p:cNvSpPr/>
          <p:nvPr/>
        </p:nvSpPr>
        <p:spPr>
          <a:xfrm>
            <a:off x="4992624" y="41148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50" name="r"/>
          <p:cNvSpPr/>
          <p:nvPr/>
        </p:nvSpPr>
        <p:spPr>
          <a:xfrm>
            <a:off x="4992624" y="41148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51" name="r"/>
          <p:cNvSpPr/>
          <p:nvPr/>
        </p:nvSpPr>
        <p:spPr>
          <a:xfrm>
            <a:off x="4992624" y="4663440"/>
            <a:ext cx="2194560" cy="5486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52" name="c"/>
          <p:cNvSpPr/>
          <p:nvPr/>
        </p:nvSpPr>
        <p:spPr>
          <a:xfrm>
            <a:off x="5221224" y="4434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53" name="t"/>
          <p:cNvSpPr txBox="1"/>
          <p:nvPr/>
        </p:nvSpPr>
        <p:spPr>
          <a:xfrm>
            <a:off x="5221224" y="45262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BBF24"/>
                </a:solidFill>
                <a:latin typeface="Calibri"/>
              </a:rPr>
              <a:t>08</a:t>
            </a:r>
          </a:p>
        </p:txBody>
      </p:sp>
      <p:sp>
        <p:nvSpPr>
          <p:cNvPr id="454" name="t"/>
          <p:cNvSpPr txBox="1"/>
          <p:nvPr/>
        </p:nvSpPr>
        <p:spPr>
          <a:xfrm>
            <a:off x="5861304" y="4389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Multi-channel</a:t>
            </a:r>
          </a:p>
        </p:txBody>
      </p:sp>
      <p:sp>
        <p:nvSpPr>
          <p:cNvPr id="455" name="t"/>
          <p:cNvSpPr txBox="1"/>
          <p:nvPr/>
        </p:nvSpPr>
        <p:spPr>
          <a:xfrm>
            <a:off x="5861304" y="47091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Notify</a:t>
            </a:r>
          </a:p>
        </p:txBody>
      </p:sp>
      <p:sp>
        <p:nvSpPr>
          <p:cNvPr id="456" name="t"/>
          <p:cNvSpPr txBox="1"/>
          <p:nvPr/>
        </p:nvSpPr>
        <p:spPr>
          <a:xfrm>
            <a:off x="5175504" y="54864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SMS/Email/Push</a:t>
            </a:r>
          </a:p>
        </p:txBody>
      </p:sp>
      <p:sp>
        <p:nvSpPr>
          <p:cNvPr id="457" name="r"/>
          <p:cNvSpPr/>
          <p:nvPr/>
        </p:nvSpPr>
        <p:spPr>
          <a:xfrm>
            <a:off x="4992624" y="6528816"/>
            <a:ext cx="219456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58" name="s"/>
          <p:cNvSpPr/>
          <p:nvPr/>
        </p:nvSpPr>
        <p:spPr>
          <a:xfrm>
            <a:off x="7306056" y="41148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59" name="r"/>
          <p:cNvSpPr/>
          <p:nvPr/>
        </p:nvSpPr>
        <p:spPr>
          <a:xfrm>
            <a:off x="7306056" y="41148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460" name="r"/>
          <p:cNvSpPr/>
          <p:nvPr/>
        </p:nvSpPr>
        <p:spPr>
          <a:xfrm>
            <a:off x="7306056" y="4663440"/>
            <a:ext cx="2194560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461" name="c"/>
          <p:cNvSpPr/>
          <p:nvPr/>
        </p:nvSpPr>
        <p:spPr>
          <a:xfrm>
            <a:off x="7534656" y="4434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62" name="t"/>
          <p:cNvSpPr txBox="1"/>
          <p:nvPr/>
        </p:nvSpPr>
        <p:spPr>
          <a:xfrm>
            <a:off x="7534656" y="45262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EA580C"/>
                </a:solidFill>
                <a:latin typeface="Calibri"/>
              </a:rPr>
              <a:t>09</a:t>
            </a:r>
          </a:p>
        </p:txBody>
      </p:sp>
      <p:sp>
        <p:nvSpPr>
          <p:cNvPr id="463" name="t"/>
          <p:cNvSpPr txBox="1"/>
          <p:nvPr/>
        </p:nvSpPr>
        <p:spPr>
          <a:xfrm>
            <a:off x="8174736" y="4389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Swagger</a:t>
            </a:r>
          </a:p>
        </p:txBody>
      </p:sp>
      <p:sp>
        <p:nvSpPr>
          <p:cNvPr id="464" name="t"/>
          <p:cNvSpPr txBox="1"/>
          <p:nvPr/>
        </p:nvSpPr>
        <p:spPr>
          <a:xfrm>
            <a:off x="8174736" y="47091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API Docs</a:t>
            </a:r>
          </a:p>
        </p:txBody>
      </p:sp>
      <p:sp>
        <p:nvSpPr>
          <p:cNvPr id="465" name="t"/>
          <p:cNvSpPr txBox="1"/>
          <p:nvPr/>
        </p:nvSpPr>
        <p:spPr>
          <a:xfrm>
            <a:off x="7488936" y="54864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Interactive testing</a:t>
            </a:r>
          </a:p>
        </p:txBody>
      </p:sp>
      <p:sp>
        <p:nvSpPr>
          <p:cNvPr id="466" name="r"/>
          <p:cNvSpPr/>
          <p:nvPr/>
        </p:nvSpPr>
        <p:spPr>
          <a:xfrm>
            <a:off x="7306056" y="6528816"/>
            <a:ext cx="2194560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467" name="s"/>
          <p:cNvSpPr/>
          <p:nvPr/>
        </p:nvSpPr>
        <p:spPr>
          <a:xfrm>
            <a:off x="9619488" y="41148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68" name="r"/>
          <p:cNvSpPr/>
          <p:nvPr/>
        </p:nvSpPr>
        <p:spPr>
          <a:xfrm>
            <a:off x="9619488" y="41148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228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469" name="r"/>
          <p:cNvSpPr/>
          <p:nvPr/>
        </p:nvSpPr>
        <p:spPr>
          <a:xfrm>
            <a:off x="9619488" y="4663440"/>
            <a:ext cx="2194560" cy="54864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470" name="c"/>
          <p:cNvSpPr/>
          <p:nvPr/>
        </p:nvSpPr>
        <p:spPr>
          <a:xfrm>
            <a:off x="9848088" y="4434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71" name="t"/>
          <p:cNvSpPr txBox="1"/>
          <p:nvPr/>
        </p:nvSpPr>
        <p:spPr>
          <a:xfrm>
            <a:off x="9848088" y="45262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228B22"/>
                </a:solidFill>
                <a:latin typeface="Calibri"/>
              </a:rPr>
              <a:t>10</a:t>
            </a:r>
          </a:p>
        </p:txBody>
      </p:sp>
      <p:sp>
        <p:nvSpPr>
          <p:cNvPr id="472" name="t"/>
          <p:cNvSpPr txBox="1"/>
          <p:nvPr/>
        </p:nvSpPr>
        <p:spPr>
          <a:xfrm>
            <a:off x="10488168" y="4389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Docker +</a:t>
            </a:r>
          </a:p>
        </p:txBody>
      </p:sp>
      <p:sp>
        <p:nvSpPr>
          <p:cNvPr id="473" name="t"/>
          <p:cNvSpPr txBox="1"/>
          <p:nvPr/>
        </p:nvSpPr>
        <p:spPr>
          <a:xfrm>
            <a:off x="10488168" y="47091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K8s</a:t>
            </a:r>
          </a:p>
        </p:txBody>
      </p:sp>
      <p:sp>
        <p:nvSpPr>
          <p:cNvPr id="474" name="t"/>
          <p:cNvSpPr txBox="1"/>
          <p:nvPr/>
        </p:nvSpPr>
        <p:spPr>
          <a:xfrm>
            <a:off x="9802368" y="54864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Production deploy</a:t>
            </a:r>
          </a:p>
        </p:txBody>
      </p:sp>
      <p:sp>
        <p:nvSpPr>
          <p:cNvPr id="475" name="r"/>
          <p:cNvSpPr/>
          <p:nvPr/>
        </p:nvSpPr>
        <p:spPr>
          <a:xfrm>
            <a:off x="9619488" y="6528816"/>
            <a:ext cx="2194560" cy="5486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476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06</a:t>
            </a:r>
          </a:p>
        </p:txBody>
      </p:sp>
    </p:spTree>
  </p:cSld>
  <p:transition spd="med">
    <p:push dir="l"/>
  </p:transition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478" name="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479" name="r"/>
          <p:cNvSpPr/>
          <p:nvPr/>
        </p:nvSpPr>
        <p:spPr>
          <a:xfrm>
            <a:off x="0" y="10972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80" name="t"/>
          <p:cNvSpPr txBox="1"/>
          <p:nvPr/>
        </p:nvSpPr>
        <p:spPr>
          <a:xfrm>
            <a:off x="457200" y="22860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07</a:t>
            </a:r>
          </a:p>
        </p:txBody>
      </p:sp>
      <p:sp>
        <p:nvSpPr>
          <p:cNvPr id="481" name="t"/>
          <p:cNvSpPr txBox="1"/>
          <p:nvPr/>
        </p:nvSpPr>
        <p:spPr>
          <a:xfrm>
            <a:off x="1371600" y="274320"/>
            <a:ext cx="9144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DATA MODEL</a:t>
            </a:r>
          </a:p>
        </p:txBody>
      </p:sp>
      <p:sp>
        <p:nvSpPr>
          <p:cNvPr id="482" name="t"/>
          <p:cNvSpPr txBox="1"/>
          <p:nvPr/>
        </p:nvSpPr>
        <p:spPr>
          <a:xfrm>
            <a:off x="1371600" y="64008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Database Design &amp; ER Diagram</a:t>
            </a:r>
          </a:p>
        </p:txBody>
      </p:sp>
      <p:sp>
        <p:nvSpPr>
          <p:cNvPr id="483" name="r"/>
          <p:cNvSpPr/>
          <p:nvPr/>
        </p:nvSpPr>
        <p:spPr>
          <a:xfrm>
            <a:off x="365760" y="1554480"/>
            <a:ext cx="2743200" cy="457200"/>
          </a:xfrm>
          <a:prstGeom prst="roundRect">
            <a:avLst>
              <a:gd name="adj" fmla="val 6000"/>
            </a:avLst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484" name="r"/>
          <p:cNvSpPr/>
          <p:nvPr/>
        </p:nvSpPr>
        <p:spPr>
          <a:xfrm>
            <a:off x="365760" y="1828800"/>
            <a:ext cx="2743200" cy="1828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485" name="c"/>
          <p:cNvSpPr/>
          <p:nvPr/>
        </p:nvSpPr>
        <p:spPr>
          <a:xfrm>
            <a:off x="502920" y="164592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86" name="t"/>
          <p:cNvSpPr txBox="1"/>
          <p:nvPr/>
        </p:nvSpPr>
        <p:spPr>
          <a:xfrm>
            <a:off x="502920" y="1673352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800" b="1" dirty="0">
                <a:solidFill>
                  <a:srgbClr val="1E40AF"/>
                </a:solidFill>
                <a:latin typeface="Calibri"/>
              </a:rPr>
              <a:t>DB</a:t>
            </a:r>
          </a:p>
        </p:txBody>
      </p:sp>
      <p:sp>
        <p:nvSpPr>
          <p:cNvPr id="487" name="t"/>
          <p:cNvSpPr txBox="1"/>
          <p:nvPr/>
        </p:nvSpPr>
        <p:spPr>
          <a:xfrm>
            <a:off x="914400" y="1673352"/>
            <a:ext cx="2194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sp>
        <p:nvSpPr>
          <p:cNvPr id="488" name="s"/>
          <p:cNvSpPr/>
          <p:nvPr/>
        </p:nvSpPr>
        <p:spPr>
          <a:xfrm>
            <a:off x="365760" y="2011680"/>
            <a:ext cx="27432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89" name="r"/>
          <p:cNvSpPr/>
          <p:nvPr/>
        </p:nvSpPr>
        <p:spPr>
          <a:xfrm>
            <a:off x="365760" y="2011680"/>
            <a:ext cx="54864" cy="1463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490" name="t"/>
          <p:cNvSpPr txBox="1"/>
          <p:nvPr/>
        </p:nvSpPr>
        <p:spPr>
          <a:xfrm>
            <a:off x="548640" y="2148840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_id, name, email</a:t>
            </a:r>
          </a:p>
        </p:txBody>
      </p:sp>
      <p:sp>
        <p:nvSpPr>
          <p:cNvPr id="491" name="t"/>
          <p:cNvSpPr txBox="1"/>
          <p:nvPr/>
        </p:nvSpPr>
        <p:spPr>
          <a:xfrm>
            <a:off x="548640" y="2441448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role, phone</a:t>
            </a:r>
          </a:p>
        </p:txBody>
      </p:sp>
      <p:sp>
        <p:nvSpPr>
          <p:cNvPr id="492" name="t"/>
          <p:cNvSpPr txBox="1"/>
          <p:nvPr/>
        </p:nvSpPr>
        <p:spPr>
          <a:xfrm>
            <a:off x="548640" y="2734056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addresses</a:t>
            </a:r>
          </a:p>
        </p:txBody>
      </p:sp>
      <p:sp>
        <p:nvSpPr>
          <p:cNvPr id="493" name="t"/>
          <p:cNvSpPr txBox="1"/>
          <p:nvPr/>
        </p:nvSpPr>
        <p:spPr>
          <a:xfrm>
            <a:off x="548640" y="3026664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isOnDuty, kyc</a:t>
            </a:r>
          </a:p>
        </p:txBody>
      </p:sp>
      <p:sp>
        <p:nvSpPr>
          <p:cNvPr id="494" name="r"/>
          <p:cNvSpPr/>
          <p:nvPr/>
        </p:nvSpPr>
        <p:spPr>
          <a:xfrm>
            <a:off x="4206240" y="1554480"/>
            <a:ext cx="2743200" cy="457200"/>
          </a:xfrm>
          <a:prstGeom prst="roundRect">
            <a:avLst>
              <a:gd name="adj" fmla="val 6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95" name="r"/>
          <p:cNvSpPr/>
          <p:nvPr/>
        </p:nvSpPr>
        <p:spPr>
          <a:xfrm>
            <a:off x="4206240" y="1828800"/>
            <a:ext cx="2743200" cy="1828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96" name="c"/>
          <p:cNvSpPr/>
          <p:nvPr/>
        </p:nvSpPr>
        <p:spPr>
          <a:xfrm>
            <a:off x="4343400" y="164592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97" name="t"/>
          <p:cNvSpPr txBox="1"/>
          <p:nvPr/>
        </p:nvSpPr>
        <p:spPr>
          <a:xfrm>
            <a:off x="4343400" y="1673352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800" b="1" dirty="0">
                <a:solidFill>
                  <a:srgbClr val="F97316"/>
                </a:solidFill>
                <a:latin typeface="Calibri"/>
              </a:rPr>
              <a:t>DB</a:t>
            </a:r>
          </a:p>
        </p:txBody>
      </p:sp>
      <p:sp>
        <p:nvSpPr>
          <p:cNvPr id="498" name="t"/>
          <p:cNvSpPr txBox="1"/>
          <p:nvPr/>
        </p:nvSpPr>
        <p:spPr>
          <a:xfrm>
            <a:off x="4754880" y="1673352"/>
            <a:ext cx="2194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ORDER</a:t>
            </a:r>
          </a:p>
        </p:txBody>
      </p:sp>
      <p:sp>
        <p:nvSpPr>
          <p:cNvPr id="499" name="s"/>
          <p:cNvSpPr/>
          <p:nvPr/>
        </p:nvSpPr>
        <p:spPr>
          <a:xfrm>
            <a:off x="4206240" y="2011680"/>
            <a:ext cx="27432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00" name="r"/>
          <p:cNvSpPr/>
          <p:nvPr/>
        </p:nvSpPr>
        <p:spPr>
          <a:xfrm>
            <a:off x="4206240" y="2011680"/>
            <a:ext cx="54864" cy="14630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01" name="t"/>
          <p:cNvSpPr txBox="1"/>
          <p:nvPr/>
        </p:nvSpPr>
        <p:spPr>
          <a:xfrm>
            <a:off x="4389120" y="2148840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orderId, customerId</a:t>
            </a:r>
          </a:p>
        </p:txBody>
      </p:sp>
      <p:sp>
        <p:nvSpPr>
          <p:cNvPr id="502" name="t"/>
          <p:cNvSpPr txBox="1"/>
          <p:nvPr/>
        </p:nvSpPr>
        <p:spPr>
          <a:xfrm>
            <a:off x="4389120" y="2441448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agentId, warehouseId</a:t>
            </a:r>
          </a:p>
        </p:txBody>
      </p:sp>
      <p:sp>
        <p:nvSpPr>
          <p:cNvPr id="503" name="t"/>
          <p:cNvSpPr txBox="1"/>
          <p:nvPr/>
        </p:nvSpPr>
        <p:spPr>
          <a:xfrm>
            <a:off x="4389120" y="2734056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status, count</a:t>
            </a:r>
          </a:p>
        </p:txBody>
      </p:sp>
      <p:sp>
        <p:nvSpPr>
          <p:cNvPr id="504" name="t"/>
          <p:cNvSpPr txBox="1"/>
          <p:nvPr/>
        </p:nvSpPr>
        <p:spPr>
          <a:xfrm>
            <a:off x="4389120" y="3026664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timeline, priority</a:t>
            </a:r>
          </a:p>
        </p:txBody>
      </p:sp>
      <p:sp>
        <p:nvSpPr>
          <p:cNvPr id="505" name="r"/>
          <p:cNvSpPr/>
          <p:nvPr/>
        </p:nvSpPr>
        <p:spPr>
          <a:xfrm>
            <a:off x="8046720" y="1554480"/>
            <a:ext cx="2743200" cy="457200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506" name="r"/>
          <p:cNvSpPr/>
          <p:nvPr/>
        </p:nvSpPr>
        <p:spPr>
          <a:xfrm>
            <a:off x="8046720" y="1828800"/>
            <a:ext cx="2743200" cy="1828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507" name="c"/>
          <p:cNvSpPr/>
          <p:nvPr/>
        </p:nvSpPr>
        <p:spPr>
          <a:xfrm>
            <a:off x="8183880" y="164592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08" name="t"/>
          <p:cNvSpPr txBox="1"/>
          <p:nvPr/>
        </p:nvSpPr>
        <p:spPr>
          <a:xfrm>
            <a:off x="8183880" y="1673352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800" b="1" dirty="0">
                <a:solidFill>
                  <a:srgbClr val="10B981"/>
                </a:solidFill>
                <a:latin typeface="Calibri"/>
              </a:rPr>
              <a:t>DB</a:t>
            </a:r>
          </a:p>
        </p:txBody>
      </p:sp>
      <p:sp>
        <p:nvSpPr>
          <p:cNvPr id="509" name="t"/>
          <p:cNvSpPr txBox="1"/>
          <p:nvPr/>
        </p:nvSpPr>
        <p:spPr>
          <a:xfrm>
            <a:off x="8595360" y="1673352"/>
            <a:ext cx="2194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INVENTORY</a:t>
            </a:r>
          </a:p>
        </p:txBody>
      </p:sp>
      <p:sp>
        <p:nvSpPr>
          <p:cNvPr id="510" name="s"/>
          <p:cNvSpPr/>
          <p:nvPr/>
        </p:nvSpPr>
        <p:spPr>
          <a:xfrm>
            <a:off x="8046720" y="2011680"/>
            <a:ext cx="27432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11" name="r"/>
          <p:cNvSpPr/>
          <p:nvPr/>
        </p:nvSpPr>
        <p:spPr>
          <a:xfrm>
            <a:off x="8046720" y="2011680"/>
            <a:ext cx="54864" cy="1463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512" name="t"/>
          <p:cNvSpPr txBox="1"/>
          <p:nvPr/>
        </p:nvSpPr>
        <p:spPr>
          <a:xfrm>
            <a:off x="8229600" y="2148840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warehouseId, name</a:t>
            </a:r>
          </a:p>
        </p:txBody>
      </p:sp>
      <p:sp>
        <p:nvSpPr>
          <p:cNvPr id="513" name="t"/>
          <p:cNvSpPr txBox="1"/>
          <p:nvPr/>
        </p:nvSpPr>
        <p:spPr>
          <a:xfrm>
            <a:off x="8229600" y="2441448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totalCylinders</a:t>
            </a:r>
          </a:p>
        </p:txBody>
      </p:sp>
      <p:sp>
        <p:nvSpPr>
          <p:cNvPr id="514" name="t"/>
          <p:cNvSpPr txBox="1"/>
          <p:nvPr/>
        </p:nvSpPr>
        <p:spPr>
          <a:xfrm>
            <a:off x="8229600" y="2734056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available</a:t>
            </a:r>
          </a:p>
        </p:txBody>
      </p:sp>
      <p:sp>
        <p:nvSpPr>
          <p:cNvPr id="515" name="t"/>
          <p:cNvSpPr txBox="1"/>
          <p:nvPr/>
        </p:nvSpPr>
        <p:spPr>
          <a:xfrm>
            <a:off x="8229600" y="3026664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location, active</a:t>
            </a:r>
          </a:p>
        </p:txBody>
      </p:sp>
      <p:sp>
        <p:nvSpPr>
          <p:cNvPr id="516" name="r"/>
          <p:cNvSpPr/>
          <p:nvPr/>
        </p:nvSpPr>
        <p:spPr>
          <a:xfrm>
            <a:off x="365760" y="4389120"/>
            <a:ext cx="2743200" cy="457200"/>
          </a:xfrm>
          <a:prstGeom prst="roundRect">
            <a:avLst>
              <a:gd name="adj" fmla="val 6000"/>
            </a:avLst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17" name="r"/>
          <p:cNvSpPr/>
          <p:nvPr/>
        </p:nvSpPr>
        <p:spPr>
          <a:xfrm>
            <a:off x="365760" y="4663440"/>
            <a:ext cx="2743200" cy="1828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18" name="c"/>
          <p:cNvSpPr/>
          <p:nvPr/>
        </p:nvSpPr>
        <p:spPr>
          <a:xfrm>
            <a:off x="502920" y="448056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19" name="t"/>
          <p:cNvSpPr txBox="1"/>
          <p:nvPr/>
        </p:nvSpPr>
        <p:spPr>
          <a:xfrm>
            <a:off x="502920" y="4507992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800" b="1" dirty="0">
                <a:solidFill>
                  <a:srgbClr val="8B5CF6"/>
                </a:solidFill>
                <a:latin typeface="Calibri"/>
              </a:rPr>
              <a:t>DB</a:t>
            </a:r>
          </a:p>
        </p:txBody>
      </p:sp>
      <p:sp>
        <p:nvSpPr>
          <p:cNvPr id="520" name="t"/>
          <p:cNvSpPr txBox="1"/>
          <p:nvPr/>
        </p:nvSpPr>
        <p:spPr>
          <a:xfrm>
            <a:off x="914400" y="4507992"/>
            <a:ext cx="2194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CHAT MESSAGE</a:t>
            </a:r>
          </a:p>
        </p:txBody>
      </p:sp>
      <p:sp>
        <p:nvSpPr>
          <p:cNvPr id="521" name="s"/>
          <p:cNvSpPr/>
          <p:nvPr/>
        </p:nvSpPr>
        <p:spPr>
          <a:xfrm>
            <a:off x="365760" y="4846320"/>
            <a:ext cx="27432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22" name="r"/>
          <p:cNvSpPr/>
          <p:nvPr/>
        </p:nvSpPr>
        <p:spPr>
          <a:xfrm>
            <a:off x="365760" y="4846320"/>
            <a:ext cx="54864" cy="14630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23" name="t"/>
          <p:cNvSpPr txBox="1"/>
          <p:nvPr/>
        </p:nvSpPr>
        <p:spPr>
          <a:xfrm>
            <a:off x="548640" y="4983480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messageId, roomId</a:t>
            </a:r>
          </a:p>
        </p:txBody>
      </p:sp>
      <p:sp>
        <p:nvSpPr>
          <p:cNvPr id="524" name="t"/>
          <p:cNvSpPr txBox="1"/>
          <p:nvPr/>
        </p:nvSpPr>
        <p:spPr>
          <a:xfrm>
            <a:off x="548640" y="5276088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senderId, role</a:t>
            </a:r>
          </a:p>
        </p:txBody>
      </p:sp>
      <p:sp>
        <p:nvSpPr>
          <p:cNvPr id="525" name="t"/>
          <p:cNvSpPr txBox="1"/>
          <p:nvPr/>
        </p:nvSpPr>
        <p:spPr>
          <a:xfrm>
            <a:off x="548640" y="5568696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content, type</a:t>
            </a:r>
          </a:p>
        </p:txBody>
      </p:sp>
      <p:sp>
        <p:nvSpPr>
          <p:cNvPr id="526" name="t"/>
          <p:cNvSpPr txBox="1"/>
          <p:nvPr/>
        </p:nvSpPr>
        <p:spPr>
          <a:xfrm>
            <a:off x="548640" y="5861304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status, mediaUrl</a:t>
            </a:r>
          </a:p>
        </p:txBody>
      </p:sp>
      <p:sp>
        <p:nvSpPr>
          <p:cNvPr id="527" name="r"/>
          <p:cNvSpPr/>
          <p:nvPr/>
        </p:nvSpPr>
        <p:spPr>
          <a:xfrm>
            <a:off x="4206240" y="4389120"/>
            <a:ext cx="2743200" cy="457200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528" name="r"/>
          <p:cNvSpPr/>
          <p:nvPr/>
        </p:nvSpPr>
        <p:spPr>
          <a:xfrm>
            <a:off x="4206240" y="4663440"/>
            <a:ext cx="2743200" cy="1828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529" name="c"/>
          <p:cNvSpPr/>
          <p:nvPr/>
        </p:nvSpPr>
        <p:spPr>
          <a:xfrm>
            <a:off x="4343400" y="448056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30" name="t"/>
          <p:cNvSpPr txBox="1"/>
          <p:nvPr/>
        </p:nvSpPr>
        <p:spPr>
          <a:xfrm>
            <a:off x="4343400" y="4507992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800" b="1" dirty="0">
                <a:solidFill>
                  <a:srgbClr val="EF4444"/>
                </a:solidFill>
                <a:latin typeface="Calibri"/>
              </a:rPr>
              <a:t>DB</a:t>
            </a:r>
          </a:p>
        </p:txBody>
      </p:sp>
      <p:sp>
        <p:nvSpPr>
          <p:cNvPr id="531" name="t"/>
          <p:cNvSpPr txBox="1"/>
          <p:nvPr/>
        </p:nvSpPr>
        <p:spPr>
          <a:xfrm>
            <a:off x="4754880" y="4507992"/>
            <a:ext cx="2194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532" name="s"/>
          <p:cNvSpPr/>
          <p:nvPr/>
        </p:nvSpPr>
        <p:spPr>
          <a:xfrm>
            <a:off x="4206240" y="4846320"/>
            <a:ext cx="27432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33" name="r"/>
          <p:cNvSpPr/>
          <p:nvPr/>
        </p:nvSpPr>
        <p:spPr>
          <a:xfrm>
            <a:off x="4206240" y="4846320"/>
            <a:ext cx="54864" cy="1463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534" name="t"/>
          <p:cNvSpPr txBox="1"/>
          <p:nvPr/>
        </p:nvSpPr>
        <p:spPr>
          <a:xfrm>
            <a:off x="4389120" y="4983480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orderId, agentId</a:t>
            </a:r>
          </a:p>
        </p:txBody>
      </p:sp>
      <p:sp>
        <p:nvSpPr>
          <p:cNvPr id="535" name="t"/>
          <p:cNvSpPr txBox="1"/>
          <p:nvPr/>
        </p:nvSpPr>
        <p:spPr>
          <a:xfrm>
            <a:off x="4389120" y="5276088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lat, lng, time</a:t>
            </a:r>
          </a:p>
        </p:txBody>
      </p:sp>
      <p:sp>
        <p:nvSpPr>
          <p:cNvPr id="536" name="t"/>
          <p:cNvSpPr txBox="1"/>
          <p:nvPr/>
        </p:nvSpPr>
        <p:spPr>
          <a:xfrm>
            <a:off x="4389120" y="5568696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ETA, route</a:t>
            </a:r>
          </a:p>
        </p:txBody>
      </p:sp>
      <p:sp>
        <p:nvSpPr>
          <p:cNvPr id="537" name="t"/>
          <p:cNvSpPr txBox="1"/>
          <p:nvPr/>
        </p:nvSpPr>
        <p:spPr>
          <a:xfrm>
            <a:off x="4389120" y="5861304"/>
            <a:ext cx="24688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GPS tracking</a:t>
            </a:r>
          </a:p>
        </p:txBody>
      </p:sp>
      <p:cxnSp>
        <p:nvCxnSpPr>
          <p:cNvPr id="538" name="ln"/>
          <p:cNvCxnSpPr/>
          <p:nvPr/>
        </p:nvCxnSpPr>
        <p:spPr>
          <a:xfrm flipH="0" flipV="0">
            <a:off x="3108960" y="2011680"/>
            <a:ext cx="1097280" cy="1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539" name="t"/>
          <p:cNvSpPr txBox="1"/>
          <p:nvPr/>
        </p:nvSpPr>
        <p:spPr>
          <a:xfrm>
            <a:off x="3383280" y="1828800"/>
            <a:ext cx="6400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97316"/>
                </a:solidFill>
                <a:latin typeface="Calibri"/>
              </a:rPr>
              <a:t>1:N</a:t>
            </a:r>
          </a:p>
        </p:txBody>
      </p:sp>
      <p:cxnSp>
        <p:nvCxnSpPr>
          <p:cNvPr id="540" name="ln"/>
          <p:cNvCxnSpPr/>
          <p:nvPr/>
        </p:nvCxnSpPr>
        <p:spPr>
          <a:xfrm flipH="0" flipV="0">
            <a:off x="6949440" y="2011680"/>
            <a:ext cx="1097280" cy="1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541" name="t"/>
          <p:cNvSpPr txBox="1"/>
          <p:nvPr/>
        </p:nvSpPr>
        <p:spPr>
          <a:xfrm>
            <a:off x="7223760" y="1828800"/>
            <a:ext cx="6400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97316"/>
                </a:solidFill>
                <a:latin typeface="Calibri"/>
              </a:rPr>
              <a:t>N:1</a:t>
            </a:r>
          </a:p>
        </p:txBody>
      </p:sp>
      <p:cxnSp>
        <p:nvCxnSpPr>
          <p:cNvPr id="542" name="ln"/>
          <p:cNvCxnSpPr/>
          <p:nvPr/>
        </p:nvCxnSpPr>
        <p:spPr>
          <a:xfrm flipH="0" flipV="0">
            <a:off x="1737360" y="3520440"/>
            <a:ext cx="1" cy="868680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543" name="t"/>
          <p:cNvSpPr txBox="1"/>
          <p:nvPr/>
        </p:nvSpPr>
        <p:spPr>
          <a:xfrm>
            <a:off x="1828800" y="3886200"/>
            <a:ext cx="6400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97316"/>
                </a:solidFill>
                <a:latin typeface="Calibri"/>
              </a:rPr>
              <a:t>1:N</a:t>
            </a:r>
          </a:p>
        </p:txBody>
      </p:sp>
      <p:cxnSp>
        <p:nvCxnSpPr>
          <p:cNvPr id="544" name="ln"/>
          <p:cNvCxnSpPr/>
          <p:nvPr/>
        </p:nvCxnSpPr>
        <p:spPr>
          <a:xfrm flipH="0" flipV="0">
            <a:off x="5577840" y="3520440"/>
            <a:ext cx="1" cy="868680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545" name="t"/>
          <p:cNvSpPr txBox="1"/>
          <p:nvPr/>
        </p:nvSpPr>
        <p:spPr>
          <a:xfrm>
            <a:off x="5669280" y="3886200"/>
            <a:ext cx="6400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97316"/>
                </a:solidFill>
                <a:latin typeface="Calibri"/>
              </a:rPr>
              <a:t>1:1</a:t>
            </a:r>
          </a:p>
        </p:txBody>
      </p:sp>
      <p:cxnSp>
        <p:nvCxnSpPr>
          <p:cNvPr id="546" name="ln"/>
          <p:cNvCxnSpPr/>
          <p:nvPr/>
        </p:nvCxnSpPr>
        <p:spPr>
          <a:xfrm flipH="1" flipV="0">
            <a:off x="3108960" y="2468880"/>
            <a:ext cx="1097280" cy="1920240"/>
          </a:xfrm>
          <a:prstGeom prst="line">
            <a:avLst/>
          </a:prstGeom>
          <a:ln w="15000">
            <a:solidFill>
              <a:srgbClr val="F97316"/>
            </a:solidFill>
          </a:ln>
        </p:spPr>
      </p:cxnSp>
      <p:sp>
        <p:nvSpPr>
          <p:cNvPr id="547" name="s"/>
          <p:cNvSpPr/>
          <p:nvPr/>
        </p:nvSpPr>
        <p:spPr>
          <a:xfrm>
            <a:off x="8046720" y="43891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0B1739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48" name="r"/>
          <p:cNvSpPr/>
          <p:nvPr/>
        </p:nvSpPr>
        <p:spPr>
          <a:xfrm>
            <a:off x="8046720" y="4389120"/>
            <a:ext cx="365760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49" name="t"/>
          <p:cNvSpPr txBox="1"/>
          <p:nvPr/>
        </p:nvSpPr>
        <p:spPr>
          <a:xfrm>
            <a:off x="8229600" y="4526280"/>
            <a:ext cx="32004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RELATIONSHIPS</a:t>
            </a:r>
          </a:p>
        </p:txBody>
      </p:sp>
      <p:sp>
        <p:nvSpPr>
          <p:cNvPr id="550" name="t"/>
          <p:cNvSpPr txBox="1"/>
          <p:nvPr/>
        </p:nvSpPr>
        <p:spPr>
          <a:xfrm>
            <a:off x="8229600" y="4937760"/>
            <a:ext cx="347472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User (1) -&gt; (N) Orders</a:t>
            </a:r>
          </a:p>
        </p:txBody>
      </p:sp>
      <p:sp>
        <p:nvSpPr>
          <p:cNvPr id="551" name="t"/>
          <p:cNvSpPr txBox="1"/>
          <p:nvPr/>
        </p:nvSpPr>
        <p:spPr>
          <a:xfrm>
            <a:off x="8229600" y="5230368"/>
            <a:ext cx="347472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User (1) -&gt; (N) Orders [agent]</a:t>
            </a:r>
          </a:p>
        </p:txBody>
      </p:sp>
      <p:sp>
        <p:nvSpPr>
          <p:cNvPr id="552" name="t"/>
          <p:cNvSpPr txBox="1"/>
          <p:nvPr/>
        </p:nvSpPr>
        <p:spPr>
          <a:xfrm>
            <a:off x="8229600" y="5522976"/>
            <a:ext cx="347472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Inventory (1) -&gt; (N) Orders</a:t>
            </a:r>
          </a:p>
        </p:txBody>
      </p:sp>
      <p:sp>
        <p:nvSpPr>
          <p:cNvPr id="553" name="t"/>
          <p:cNvSpPr txBox="1"/>
          <p:nvPr/>
        </p:nvSpPr>
        <p:spPr>
          <a:xfrm>
            <a:off x="8229600" y="5815584"/>
            <a:ext cx="347472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Order (1) -&gt; (N) ChatMessages</a:t>
            </a:r>
          </a:p>
        </p:txBody>
      </p:sp>
      <p:sp>
        <p:nvSpPr>
          <p:cNvPr id="554" name="t"/>
          <p:cNvSpPr txBox="1"/>
          <p:nvPr/>
        </p:nvSpPr>
        <p:spPr>
          <a:xfrm>
            <a:off x="8229600" y="6108192"/>
            <a:ext cx="347472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Order (1) -&gt; (1) Delivery</a:t>
            </a:r>
          </a:p>
        </p:txBody>
      </p:sp>
      <p:sp>
        <p:nvSpPr>
          <p:cNvPr id="555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07</a:t>
            </a:r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557" name="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558" name="r"/>
          <p:cNvSpPr/>
          <p:nvPr/>
        </p:nvSpPr>
        <p:spPr>
          <a:xfrm>
            <a:off x="0" y="10972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59" name="t"/>
          <p:cNvSpPr txBox="1"/>
          <p:nvPr/>
        </p:nvSpPr>
        <p:spPr>
          <a:xfrm>
            <a:off x="457200" y="22860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08</a:t>
            </a:r>
          </a:p>
        </p:txBody>
      </p:sp>
      <p:sp>
        <p:nvSpPr>
          <p:cNvPr id="560" name="t"/>
          <p:cNvSpPr txBox="1"/>
          <p:nvPr/>
        </p:nvSpPr>
        <p:spPr>
          <a:xfrm>
            <a:off x="1371600" y="274320"/>
            <a:ext cx="9144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EXECUTION &amp; PROTECTION</a:t>
            </a:r>
          </a:p>
        </p:txBody>
      </p:sp>
      <p:sp>
        <p:nvSpPr>
          <p:cNvPr id="561" name="t"/>
          <p:cNvSpPr txBox="1"/>
          <p:nvPr/>
        </p:nvSpPr>
        <p:spPr>
          <a:xfrm>
            <a:off x="1371600" y="64008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Demo &amp; Security</a:t>
            </a:r>
          </a:p>
        </p:txBody>
      </p:sp>
      <p:sp>
        <p:nvSpPr>
          <p:cNvPr id="562" name="t"/>
          <p:cNvSpPr txBox="1"/>
          <p:nvPr/>
        </p:nvSpPr>
        <p:spPr>
          <a:xfrm>
            <a:off x="457200" y="1280160"/>
            <a:ext cx="3657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EXECUTION DEMO</a:t>
            </a:r>
          </a:p>
        </p:txBody>
      </p:sp>
      <p:sp>
        <p:nvSpPr>
          <p:cNvPr id="563" name="r"/>
          <p:cNvSpPr/>
          <p:nvPr/>
        </p:nvSpPr>
        <p:spPr>
          <a:xfrm>
            <a:off x="457200" y="1554480"/>
            <a:ext cx="7315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64" name="s"/>
          <p:cNvSpPr/>
          <p:nvPr/>
        </p:nvSpPr>
        <p:spPr>
          <a:xfrm>
            <a:off x="457200" y="1691640"/>
            <a:ext cx="548640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65" name="r"/>
          <p:cNvSpPr/>
          <p:nvPr/>
        </p:nvSpPr>
        <p:spPr>
          <a:xfrm>
            <a:off x="457200" y="1691640"/>
            <a:ext cx="5486400" cy="320040"/>
          </a:xfrm>
          <a:prstGeom prst="roundRect">
            <a:avLst>
              <a:gd name="adj" fmla="val 4000"/>
            </a:avLst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566" name="r"/>
          <p:cNvSpPr/>
          <p:nvPr/>
        </p:nvSpPr>
        <p:spPr>
          <a:xfrm>
            <a:off x="457200" y="1874519"/>
            <a:ext cx="5486400" cy="13716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567" name="c"/>
          <p:cNvSpPr/>
          <p:nvPr/>
        </p:nvSpPr>
        <p:spPr>
          <a:xfrm>
            <a:off x="594360" y="178308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568" name="c"/>
          <p:cNvSpPr/>
          <p:nvPr/>
        </p:nvSpPr>
        <p:spPr>
          <a:xfrm>
            <a:off x="777240" y="1783080"/>
            <a:ext cx="91440" cy="9144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69" name="c"/>
          <p:cNvSpPr/>
          <p:nvPr/>
        </p:nvSpPr>
        <p:spPr>
          <a:xfrm>
            <a:off x="960120" y="178308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570" name="t"/>
          <p:cNvSpPr txBox="1"/>
          <p:nvPr/>
        </p:nvSpPr>
        <p:spPr>
          <a:xfrm>
            <a:off x="1280160" y="1783080"/>
            <a:ext cx="3657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/api/v1/admin/dashboard</a:t>
            </a:r>
          </a:p>
        </p:txBody>
      </p:sp>
      <p:sp>
        <p:nvSpPr>
          <p:cNvPr id="571" name="r"/>
          <p:cNvSpPr/>
          <p:nvPr/>
        </p:nvSpPr>
        <p:spPr>
          <a:xfrm>
            <a:off x="457200" y="2011680"/>
            <a:ext cx="1097280" cy="214884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572" name="r"/>
          <p:cNvSpPr/>
          <p:nvPr/>
        </p:nvSpPr>
        <p:spPr>
          <a:xfrm>
            <a:off x="640080" y="2194560"/>
            <a:ext cx="77724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73" name="r"/>
          <p:cNvSpPr/>
          <p:nvPr/>
        </p:nvSpPr>
        <p:spPr>
          <a:xfrm>
            <a:off x="640080" y="2560320"/>
            <a:ext cx="777240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/>
        </p:txBody>
      </p:sp>
      <p:sp>
        <p:nvSpPr>
          <p:cNvPr id="574" name="r"/>
          <p:cNvSpPr/>
          <p:nvPr/>
        </p:nvSpPr>
        <p:spPr>
          <a:xfrm>
            <a:off x="640080" y="2926080"/>
            <a:ext cx="777240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/>
        </p:txBody>
      </p:sp>
      <p:sp>
        <p:nvSpPr>
          <p:cNvPr id="575" name="r"/>
          <p:cNvSpPr/>
          <p:nvPr/>
        </p:nvSpPr>
        <p:spPr>
          <a:xfrm>
            <a:off x="640080" y="3291840"/>
            <a:ext cx="777240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/>
        </p:txBody>
      </p:sp>
      <p:sp>
        <p:nvSpPr>
          <p:cNvPr id="576" name="r"/>
          <p:cNvSpPr/>
          <p:nvPr/>
        </p:nvSpPr>
        <p:spPr>
          <a:xfrm>
            <a:off x="640080" y="3657600"/>
            <a:ext cx="777240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/>
        </p:txBody>
      </p:sp>
      <p:sp>
        <p:nvSpPr>
          <p:cNvPr id="577" name="s"/>
          <p:cNvSpPr/>
          <p:nvPr/>
        </p:nvSpPr>
        <p:spPr>
          <a:xfrm>
            <a:off x="1691640" y="2194560"/>
            <a:ext cx="1280160" cy="731520"/>
          </a:xfrm>
          <a:prstGeom prst="roundRect">
            <a:avLst>
              <a:gd name="adj" fmla="val 3000"/>
            </a:avLst>
          </a:prstGeom>
          <a:solidFill>
            <a:srgbClr val="3B82F6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78" name="t"/>
          <p:cNvSpPr txBox="1"/>
          <p:nvPr/>
        </p:nvSpPr>
        <p:spPr>
          <a:xfrm>
            <a:off x="1828800" y="2286000"/>
            <a:ext cx="10972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/>
              </a:rPr>
              <a:t>150</a:t>
            </a:r>
          </a:p>
        </p:txBody>
      </p:sp>
      <p:sp>
        <p:nvSpPr>
          <p:cNvPr id="579" name="t"/>
          <p:cNvSpPr txBox="1"/>
          <p:nvPr/>
        </p:nvSpPr>
        <p:spPr>
          <a:xfrm>
            <a:off x="1828800" y="2651760"/>
            <a:ext cx="10972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Orders</a:t>
            </a:r>
          </a:p>
        </p:txBody>
      </p:sp>
      <p:sp>
        <p:nvSpPr>
          <p:cNvPr id="580" name="s"/>
          <p:cNvSpPr/>
          <p:nvPr/>
        </p:nvSpPr>
        <p:spPr>
          <a:xfrm>
            <a:off x="3063240" y="2194560"/>
            <a:ext cx="1280160" cy="731520"/>
          </a:xfrm>
          <a:prstGeom prst="roundRect">
            <a:avLst>
              <a:gd name="adj" fmla="val 3000"/>
            </a:avLst>
          </a:prstGeom>
          <a:solidFill>
            <a:srgbClr val="F97316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81" name="t"/>
          <p:cNvSpPr txBox="1"/>
          <p:nvPr/>
        </p:nvSpPr>
        <p:spPr>
          <a:xfrm>
            <a:off x="3200400" y="2286000"/>
            <a:ext cx="10972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582" name="t"/>
          <p:cNvSpPr txBox="1"/>
          <p:nvPr/>
        </p:nvSpPr>
        <p:spPr>
          <a:xfrm>
            <a:off x="3200400" y="2651760"/>
            <a:ext cx="10972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Agents</a:t>
            </a:r>
          </a:p>
        </p:txBody>
      </p:sp>
      <p:sp>
        <p:nvSpPr>
          <p:cNvPr id="583" name="s"/>
          <p:cNvSpPr/>
          <p:nvPr/>
        </p:nvSpPr>
        <p:spPr>
          <a:xfrm>
            <a:off x="4434840" y="2194560"/>
            <a:ext cx="1280160" cy="731520"/>
          </a:xfrm>
          <a:prstGeom prst="roundRect">
            <a:avLst>
              <a:gd name="adj" fmla="val 3000"/>
            </a:avLst>
          </a:prstGeom>
          <a:solidFill>
            <a:srgbClr val="10B981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84" name="t"/>
          <p:cNvSpPr txBox="1"/>
          <p:nvPr/>
        </p:nvSpPr>
        <p:spPr>
          <a:xfrm>
            <a:off x="4572000" y="2286000"/>
            <a:ext cx="10972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/>
              </a:rPr>
              <a:t>98%</a:t>
            </a:r>
          </a:p>
        </p:txBody>
      </p:sp>
      <p:sp>
        <p:nvSpPr>
          <p:cNvPr id="585" name="t"/>
          <p:cNvSpPr txBox="1"/>
          <p:nvPr/>
        </p:nvSpPr>
        <p:spPr>
          <a:xfrm>
            <a:off x="4572000" y="2651760"/>
            <a:ext cx="10972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Success</a:t>
            </a:r>
          </a:p>
        </p:txBody>
      </p:sp>
      <p:sp>
        <p:nvSpPr>
          <p:cNvPr id="586" name="r"/>
          <p:cNvSpPr/>
          <p:nvPr/>
        </p:nvSpPr>
        <p:spPr>
          <a:xfrm>
            <a:off x="1691640" y="3063240"/>
            <a:ext cx="4114800" cy="10058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587" name="r"/>
          <p:cNvSpPr/>
          <p:nvPr/>
        </p:nvSpPr>
        <p:spPr>
          <a:xfrm>
            <a:off x="1828800" y="3680460"/>
            <a:ext cx="365760" cy="3429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88" name="r"/>
          <p:cNvSpPr/>
          <p:nvPr/>
        </p:nvSpPr>
        <p:spPr>
          <a:xfrm>
            <a:off x="2377440" y="3406141"/>
            <a:ext cx="365760" cy="617219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89" name="r"/>
          <p:cNvSpPr/>
          <p:nvPr/>
        </p:nvSpPr>
        <p:spPr>
          <a:xfrm>
            <a:off x="2926080" y="3611881"/>
            <a:ext cx="365760" cy="411479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90" name="r"/>
          <p:cNvSpPr/>
          <p:nvPr/>
        </p:nvSpPr>
        <p:spPr>
          <a:xfrm>
            <a:off x="3474720" y="3268980"/>
            <a:ext cx="365760" cy="7543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91" name="r"/>
          <p:cNvSpPr/>
          <p:nvPr/>
        </p:nvSpPr>
        <p:spPr>
          <a:xfrm>
            <a:off x="4023360" y="3474720"/>
            <a:ext cx="36576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92" name="r"/>
          <p:cNvSpPr/>
          <p:nvPr/>
        </p:nvSpPr>
        <p:spPr>
          <a:xfrm>
            <a:off x="4572000" y="3200401"/>
            <a:ext cx="365760" cy="822959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93" name="r"/>
          <p:cNvSpPr/>
          <p:nvPr/>
        </p:nvSpPr>
        <p:spPr>
          <a:xfrm>
            <a:off x="5120640" y="3337560"/>
            <a:ext cx="36576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94" name="c"/>
          <p:cNvSpPr/>
          <p:nvPr/>
        </p:nvSpPr>
        <p:spPr>
          <a:xfrm>
            <a:off x="594360" y="4434840"/>
            <a:ext cx="320040" cy="3200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95" name="t"/>
          <p:cNvSpPr txBox="1"/>
          <p:nvPr/>
        </p:nvSpPr>
        <p:spPr>
          <a:xfrm>
            <a:off x="594360" y="4480560"/>
            <a:ext cx="3200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96" name="t"/>
          <p:cNvSpPr txBox="1"/>
          <p:nvPr/>
        </p:nvSpPr>
        <p:spPr>
          <a:xfrm>
            <a:off x="1051560" y="438912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0B1739"/>
                </a:solidFill>
                <a:latin typeface="Calibri"/>
              </a:rPr>
              <a:t>Admin Dashboard</a:t>
            </a:r>
          </a:p>
        </p:txBody>
      </p:sp>
      <p:sp>
        <p:nvSpPr>
          <p:cNvPr id="597" name="t"/>
          <p:cNvSpPr txBox="1"/>
          <p:nvPr/>
        </p:nvSpPr>
        <p:spPr>
          <a:xfrm>
            <a:off x="1051560" y="466344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Order management &amp; analytics</a:t>
            </a:r>
          </a:p>
        </p:txBody>
      </p:sp>
      <p:sp>
        <p:nvSpPr>
          <p:cNvPr id="598" name="c"/>
          <p:cNvSpPr/>
          <p:nvPr/>
        </p:nvSpPr>
        <p:spPr>
          <a:xfrm>
            <a:off x="594360" y="4937760"/>
            <a:ext cx="320040" cy="3200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99" name="t"/>
          <p:cNvSpPr txBox="1"/>
          <p:nvPr/>
        </p:nvSpPr>
        <p:spPr>
          <a:xfrm>
            <a:off x="594360" y="4983480"/>
            <a:ext cx="3200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00" name="t"/>
          <p:cNvSpPr txBox="1"/>
          <p:nvPr/>
        </p:nvSpPr>
        <p:spPr>
          <a:xfrm>
            <a:off x="1051560" y="489204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0B1739"/>
                </a:solidFill>
                <a:latin typeface="Calibri"/>
              </a:rPr>
              <a:t>Swagger API Docs</a:t>
            </a:r>
          </a:p>
        </p:txBody>
      </p:sp>
      <p:sp>
        <p:nvSpPr>
          <p:cNvPr id="601" name="t"/>
          <p:cNvSpPr txBox="1"/>
          <p:nvPr/>
        </p:nvSpPr>
        <p:spPr>
          <a:xfrm>
            <a:off x="1051560" y="516636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Interactive testing UI</a:t>
            </a:r>
          </a:p>
        </p:txBody>
      </p:sp>
      <p:sp>
        <p:nvSpPr>
          <p:cNvPr id="602" name="c"/>
          <p:cNvSpPr/>
          <p:nvPr/>
        </p:nvSpPr>
        <p:spPr>
          <a:xfrm>
            <a:off x="594360" y="5440680"/>
            <a:ext cx="320040" cy="3200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03" name="t"/>
          <p:cNvSpPr txBox="1"/>
          <p:nvPr/>
        </p:nvSpPr>
        <p:spPr>
          <a:xfrm>
            <a:off x="594360" y="5486400"/>
            <a:ext cx="3200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04" name="t"/>
          <p:cNvSpPr txBox="1"/>
          <p:nvPr/>
        </p:nvSpPr>
        <p:spPr>
          <a:xfrm>
            <a:off x="1051560" y="539496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0B1739"/>
                </a:solidFill>
                <a:latin typeface="Calibri"/>
              </a:rPr>
              <a:t>Live GPS Tracking</a:t>
            </a:r>
          </a:p>
        </p:txBody>
      </p:sp>
      <p:sp>
        <p:nvSpPr>
          <p:cNvPr id="605" name="t"/>
          <p:cNvSpPr txBox="1"/>
          <p:nvPr/>
        </p:nvSpPr>
        <p:spPr>
          <a:xfrm>
            <a:off x="1051560" y="566928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Real-time agent location</a:t>
            </a:r>
          </a:p>
        </p:txBody>
      </p:sp>
      <p:sp>
        <p:nvSpPr>
          <p:cNvPr id="606" name="c"/>
          <p:cNvSpPr/>
          <p:nvPr/>
        </p:nvSpPr>
        <p:spPr>
          <a:xfrm>
            <a:off x="594360" y="5943600"/>
            <a:ext cx="320040" cy="3200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07" name="t"/>
          <p:cNvSpPr txBox="1"/>
          <p:nvPr/>
        </p:nvSpPr>
        <p:spPr>
          <a:xfrm>
            <a:off x="594360" y="5989320"/>
            <a:ext cx="3200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08" name="t"/>
          <p:cNvSpPr txBox="1"/>
          <p:nvPr/>
        </p:nvSpPr>
        <p:spPr>
          <a:xfrm>
            <a:off x="1051560" y="589788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0B1739"/>
                </a:solidFill>
                <a:latin typeface="Calibri"/>
              </a:rPr>
              <a:t>Agent-Customer Chat</a:t>
            </a:r>
          </a:p>
        </p:txBody>
      </p:sp>
      <p:sp>
        <p:nvSpPr>
          <p:cNvPr id="609" name="t"/>
          <p:cNvSpPr txBox="1"/>
          <p:nvPr/>
        </p:nvSpPr>
        <p:spPr>
          <a:xfrm>
            <a:off x="1051560" y="617220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WebSocket messaging</a:t>
            </a:r>
          </a:p>
        </p:txBody>
      </p:sp>
      <p:sp>
        <p:nvSpPr>
          <p:cNvPr id="610" name="t"/>
          <p:cNvSpPr txBox="1"/>
          <p:nvPr/>
        </p:nvSpPr>
        <p:spPr>
          <a:xfrm>
            <a:off x="6400800" y="1280160"/>
            <a:ext cx="4572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SECURITY ARCHITECTURE</a:t>
            </a:r>
          </a:p>
        </p:txBody>
      </p:sp>
      <p:sp>
        <p:nvSpPr>
          <p:cNvPr id="611" name="r"/>
          <p:cNvSpPr/>
          <p:nvPr/>
        </p:nvSpPr>
        <p:spPr>
          <a:xfrm>
            <a:off x="6400800" y="1554480"/>
            <a:ext cx="7315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12" name="s"/>
          <p:cNvSpPr/>
          <p:nvPr/>
        </p:nvSpPr>
        <p:spPr>
          <a:xfrm>
            <a:off x="6400800" y="1691640"/>
            <a:ext cx="5120640" cy="4754880"/>
          </a:xfrm>
          <a:prstGeom prst="roundRect">
            <a:avLst>
              <a:gd name="adj" fmla="val 8000"/>
            </a:avLst>
          </a:prstGeom>
          <a:solidFill>
            <a:srgbClr val="0B1739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13" name="r"/>
          <p:cNvSpPr/>
          <p:nvPr/>
        </p:nvSpPr>
        <p:spPr>
          <a:xfrm>
            <a:off x="6400800" y="1691640"/>
            <a:ext cx="512064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14" name="c"/>
          <p:cNvSpPr/>
          <p:nvPr/>
        </p:nvSpPr>
        <p:spPr>
          <a:xfrm>
            <a:off x="6583680" y="1920240"/>
            <a:ext cx="457200" cy="4572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15" name="t"/>
          <p:cNvSpPr txBox="1"/>
          <p:nvPr/>
        </p:nvSpPr>
        <p:spPr>
          <a:xfrm>
            <a:off x="6583680" y="201168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616" name="t"/>
          <p:cNvSpPr txBox="1"/>
          <p:nvPr/>
        </p:nvSpPr>
        <p:spPr>
          <a:xfrm>
            <a:off x="7178040" y="1874519"/>
            <a:ext cx="3657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MULTI-LAYER</a:t>
            </a:r>
          </a:p>
        </p:txBody>
      </p:sp>
      <p:sp>
        <p:nvSpPr>
          <p:cNvPr id="617" name="t"/>
          <p:cNvSpPr txBox="1"/>
          <p:nvPr/>
        </p:nvSpPr>
        <p:spPr>
          <a:xfrm>
            <a:off x="7178040" y="2148840"/>
            <a:ext cx="3657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PROTECTION</a:t>
            </a:r>
          </a:p>
        </p:txBody>
      </p:sp>
      <p:sp>
        <p:nvSpPr>
          <p:cNvPr id="618" name="r"/>
          <p:cNvSpPr/>
          <p:nvPr/>
        </p:nvSpPr>
        <p:spPr>
          <a:xfrm>
            <a:off x="6583680" y="2697480"/>
            <a:ext cx="54864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19" name="t"/>
          <p:cNvSpPr txBox="1"/>
          <p:nvPr/>
        </p:nvSpPr>
        <p:spPr>
          <a:xfrm>
            <a:off x="6766560" y="269748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JWT AUTH</a:t>
            </a:r>
          </a:p>
        </p:txBody>
      </p:sp>
      <p:sp>
        <p:nvSpPr>
          <p:cNvPr id="620" name="t"/>
          <p:cNvSpPr txBox="1"/>
          <p:nvPr/>
        </p:nvSpPr>
        <p:spPr>
          <a:xfrm>
            <a:off x="6766560" y="297180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Access (15min) + Refresh (7d) tokens</a:t>
            </a:r>
          </a:p>
        </p:txBody>
      </p:sp>
      <p:sp>
        <p:nvSpPr>
          <p:cNvPr id="621" name="t"/>
          <p:cNvSpPr txBox="1"/>
          <p:nvPr/>
        </p:nvSpPr>
        <p:spPr>
          <a:xfrm>
            <a:off x="6766560" y="320040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Token rotation + reuse detection</a:t>
            </a:r>
          </a:p>
        </p:txBody>
      </p:sp>
      <p:sp>
        <p:nvSpPr>
          <p:cNvPr id="622" name="r"/>
          <p:cNvSpPr/>
          <p:nvPr/>
        </p:nvSpPr>
        <p:spPr>
          <a:xfrm>
            <a:off x="6583680" y="3566160"/>
            <a:ext cx="54864" cy="7772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23" name="t"/>
          <p:cNvSpPr txBox="1"/>
          <p:nvPr/>
        </p:nvSpPr>
        <p:spPr>
          <a:xfrm>
            <a:off x="6766560" y="356616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RATE LIMITING</a:t>
            </a:r>
          </a:p>
        </p:txBody>
      </p:sp>
      <p:sp>
        <p:nvSpPr>
          <p:cNvPr id="624" name="t"/>
          <p:cNvSpPr txBox="1"/>
          <p:nvPr/>
        </p:nvSpPr>
        <p:spPr>
          <a:xfrm>
            <a:off x="6766560" y="384048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100 req/15min global limit</a:t>
            </a:r>
          </a:p>
        </p:txBody>
      </p:sp>
      <p:sp>
        <p:nvSpPr>
          <p:cNvPr id="625" name="t"/>
          <p:cNvSpPr txBox="1"/>
          <p:nvPr/>
        </p:nvSpPr>
        <p:spPr>
          <a:xfrm>
            <a:off x="6766560" y="406908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10 req/15min for auth endpoints</a:t>
            </a:r>
          </a:p>
        </p:txBody>
      </p:sp>
      <p:sp>
        <p:nvSpPr>
          <p:cNvPr id="626" name="r"/>
          <p:cNvSpPr/>
          <p:nvPr/>
        </p:nvSpPr>
        <p:spPr>
          <a:xfrm>
            <a:off x="6583680" y="4434840"/>
            <a:ext cx="54864" cy="777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27" name="t"/>
          <p:cNvSpPr txBox="1"/>
          <p:nvPr/>
        </p:nvSpPr>
        <p:spPr>
          <a:xfrm>
            <a:off x="6766560" y="443484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ENCRYPTION</a:t>
            </a:r>
          </a:p>
        </p:txBody>
      </p:sp>
      <p:sp>
        <p:nvSpPr>
          <p:cNvPr id="628" name="t"/>
          <p:cNvSpPr txBox="1"/>
          <p:nvPr/>
        </p:nvSpPr>
        <p:spPr>
          <a:xfrm>
            <a:off x="6766560" y="470916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bcrypt 12-round password hashing</a:t>
            </a:r>
          </a:p>
        </p:txBody>
      </p:sp>
      <p:sp>
        <p:nvSpPr>
          <p:cNvPr id="629" name="t"/>
          <p:cNvSpPr txBox="1"/>
          <p:nvPr/>
        </p:nvSpPr>
        <p:spPr>
          <a:xfrm>
            <a:off x="6766560" y="493776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Helmet + CSP + HTTPS enforced</a:t>
            </a:r>
          </a:p>
        </p:txBody>
      </p:sp>
      <p:sp>
        <p:nvSpPr>
          <p:cNvPr id="630" name="r"/>
          <p:cNvSpPr/>
          <p:nvPr/>
        </p:nvSpPr>
        <p:spPr>
          <a:xfrm>
            <a:off x="6583680" y="5303520"/>
            <a:ext cx="54864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31" name="t"/>
          <p:cNvSpPr txBox="1"/>
          <p:nvPr/>
        </p:nvSpPr>
        <p:spPr>
          <a:xfrm>
            <a:off x="6766560" y="530352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RBAC</a:t>
            </a:r>
          </a:p>
        </p:txBody>
      </p:sp>
      <p:sp>
        <p:nvSpPr>
          <p:cNvPr id="632" name="t"/>
          <p:cNvSpPr txBox="1"/>
          <p:nvPr/>
        </p:nvSpPr>
        <p:spPr>
          <a:xfrm>
            <a:off x="6766560" y="557784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Role-based access control:</a:t>
            </a:r>
          </a:p>
        </p:txBody>
      </p:sp>
      <p:sp>
        <p:nvSpPr>
          <p:cNvPr id="633" name="t"/>
          <p:cNvSpPr txBox="1"/>
          <p:nvPr/>
        </p:nvSpPr>
        <p:spPr>
          <a:xfrm>
            <a:off x="6766560" y="580644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Admin | Customer | Delivery Agent</a:t>
            </a:r>
          </a:p>
        </p:txBody>
      </p:sp>
      <p:sp>
        <p:nvSpPr>
          <p:cNvPr id="634" name="s"/>
          <p:cNvSpPr/>
          <p:nvPr/>
        </p:nvSpPr>
        <p:spPr>
          <a:xfrm>
            <a:off x="6492240" y="6126480"/>
            <a:ext cx="713232" cy="27432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BBF24"/>
                </a:solidFill>
                <a:latin typeface="Calibri"/>
              </a:rPr>
              <a:t>Helmet</a:t>
            </a:r>
          </a:p>
        </p:txBody>
      </p:sp>
      <p:sp>
        <p:nvSpPr>
          <p:cNvPr id="635" name="s"/>
          <p:cNvSpPr/>
          <p:nvPr/>
        </p:nvSpPr>
        <p:spPr>
          <a:xfrm>
            <a:off x="7269480" y="6126480"/>
            <a:ext cx="713232" cy="27432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BBF24"/>
                </a:solidFill>
                <a:latin typeface="Calibri"/>
              </a:rPr>
              <a:t>CORS</a:t>
            </a:r>
          </a:p>
        </p:txBody>
      </p:sp>
      <p:sp>
        <p:nvSpPr>
          <p:cNvPr id="636" name="s"/>
          <p:cNvSpPr/>
          <p:nvPr/>
        </p:nvSpPr>
        <p:spPr>
          <a:xfrm>
            <a:off x="8046720" y="6126480"/>
            <a:ext cx="713232" cy="27432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BBF24"/>
                </a:solidFill>
                <a:latin typeface="Calibri"/>
              </a:rPr>
              <a:t>HPP</a:t>
            </a:r>
          </a:p>
        </p:txBody>
      </p:sp>
      <p:sp>
        <p:nvSpPr>
          <p:cNvPr id="637" name="s"/>
          <p:cNvSpPr/>
          <p:nvPr/>
        </p:nvSpPr>
        <p:spPr>
          <a:xfrm>
            <a:off x="8823960" y="6126480"/>
            <a:ext cx="713232" cy="27432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BBF24"/>
                </a:solidFill>
                <a:latin typeface="Calibri"/>
              </a:rPr>
              <a:t>Sanitize</a:t>
            </a:r>
          </a:p>
        </p:txBody>
      </p:sp>
      <p:sp>
        <p:nvSpPr>
          <p:cNvPr id="638" name="s"/>
          <p:cNvSpPr/>
          <p:nvPr/>
        </p:nvSpPr>
        <p:spPr>
          <a:xfrm>
            <a:off x="9601200" y="6126480"/>
            <a:ext cx="713232" cy="27432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BBF24"/>
                </a:solidFill>
                <a:latin typeface="Calibri"/>
              </a:rPr>
              <a:t>XSS</a:t>
            </a:r>
          </a:p>
        </p:txBody>
      </p:sp>
      <p:sp>
        <p:nvSpPr>
          <p:cNvPr id="639" name="s"/>
          <p:cNvSpPr/>
          <p:nvPr/>
        </p:nvSpPr>
        <p:spPr>
          <a:xfrm>
            <a:off x="10378440" y="6126480"/>
            <a:ext cx="713232" cy="27432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BBF24"/>
                </a:solidFill>
                <a:latin typeface="Calibri"/>
              </a:rPr>
              <a:t>Winston</a:t>
            </a:r>
          </a:p>
        </p:txBody>
      </p:sp>
      <p:sp>
        <p:nvSpPr>
          <p:cNvPr id="640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08</a:t>
            </a:r>
          </a:p>
        </p:txBody>
      </p:sp>
    </p:spTree>
  </p:cSld>
  <p:transition spd="med">
    <p:wipe dir="l"/>
  </p:transition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642" name="c"/>
          <p:cNvSpPr/>
          <p:nvPr/>
        </p:nvSpPr>
        <p:spPr>
          <a:xfrm>
            <a:off x="-457200" y="457200"/>
            <a:ext cx="2286000" cy="2286000"/>
          </a:xfrm>
          <a:prstGeom prst="ellipse">
            <a:avLst/>
          </a:prstGeom>
          <a:solidFill>
            <a:srgbClr val="17264C"/>
          </a:solidFill>
          <a:ln>
            <a:noFill/>
          </a:ln>
        </p:spPr>
        <p:txBody>
          <a:bodyPr/>
          <a:lstStyle/>
          <a:p/>
        </p:txBody>
      </p:sp>
      <p:sp>
        <p:nvSpPr>
          <p:cNvPr id="643" name="c"/>
          <p:cNvSpPr/>
          <p:nvPr/>
        </p:nvSpPr>
        <p:spPr>
          <a:xfrm>
            <a:off x="10058400" y="457200"/>
            <a:ext cx="2743200" cy="27432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44" name="c"/>
          <p:cNvSpPr/>
          <p:nvPr/>
        </p:nvSpPr>
        <p:spPr>
          <a:xfrm>
            <a:off x="10515600" y="274320"/>
            <a:ext cx="1828800" cy="182880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645" name="c"/>
          <p:cNvSpPr/>
          <p:nvPr/>
        </p:nvSpPr>
        <p:spPr>
          <a:xfrm>
            <a:off x="9601200" y="5486400"/>
            <a:ext cx="1828800" cy="18288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646" name="c"/>
          <p:cNvSpPr/>
          <p:nvPr/>
        </p:nvSpPr>
        <p:spPr>
          <a:xfrm>
            <a:off x="457200" y="5943600"/>
            <a:ext cx="1371600" cy="13716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647" name="r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48" name="t"/>
          <p:cNvSpPr txBox="1"/>
          <p:nvPr/>
        </p:nvSpPr>
        <p:spPr>
          <a:xfrm>
            <a:off x="457200" y="36576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09</a:t>
            </a:r>
          </a:p>
        </p:txBody>
      </p:sp>
      <p:sp>
        <p:nvSpPr>
          <p:cNvPr id="649" name="t"/>
          <p:cNvSpPr txBox="1"/>
          <p:nvPr/>
        </p:nvSpPr>
        <p:spPr>
          <a:xfrm>
            <a:off x="1371600" y="365760"/>
            <a:ext cx="9144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WRAPPING UP</a:t>
            </a:r>
          </a:p>
        </p:txBody>
      </p:sp>
      <p:sp>
        <p:nvSpPr>
          <p:cNvPr id="650" name="t"/>
          <p:cNvSpPr txBox="1"/>
          <p:nvPr/>
        </p:nvSpPr>
        <p:spPr>
          <a:xfrm>
            <a:off x="1371600" y="77724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Conclusion &amp; Future Scope</a:t>
            </a:r>
          </a:p>
        </p:txBody>
      </p:sp>
      <p:sp>
        <p:nvSpPr>
          <p:cNvPr id="651" name="s"/>
          <p:cNvSpPr/>
          <p:nvPr/>
        </p:nvSpPr>
        <p:spPr>
          <a:xfrm>
            <a:off x="365760" y="1463040"/>
            <a:ext cx="5486400" cy="3291840"/>
          </a:xfrm>
          <a:prstGeom prst="roundRect">
            <a:avLst>
              <a:gd name="adj" fmla="val 8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52" name="r"/>
          <p:cNvSpPr/>
          <p:nvPr/>
        </p:nvSpPr>
        <p:spPr>
          <a:xfrm>
            <a:off x="365760" y="1463040"/>
            <a:ext cx="54864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53" name="t"/>
          <p:cNvSpPr txBox="1"/>
          <p:nvPr/>
        </p:nvSpPr>
        <p:spPr>
          <a:xfrm>
            <a:off x="640080" y="1645920"/>
            <a:ext cx="4572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10B981"/>
                </a:solidFill>
                <a:latin typeface="Calibri"/>
              </a:rPr>
              <a:t>PROJECT ACHIEVEMENTS</a:t>
            </a:r>
          </a:p>
        </p:txBody>
      </p:sp>
      <p:sp>
        <p:nvSpPr>
          <p:cNvPr id="654" name="c"/>
          <p:cNvSpPr/>
          <p:nvPr/>
        </p:nvSpPr>
        <p:spPr>
          <a:xfrm>
            <a:off x="640080" y="22402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55" name="t"/>
          <p:cNvSpPr txBox="1"/>
          <p:nvPr/>
        </p:nvSpPr>
        <p:spPr>
          <a:xfrm>
            <a:off x="640080" y="22585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656" name="t"/>
          <p:cNvSpPr txBox="1"/>
          <p:nvPr/>
        </p:nvSpPr>
        <p:spPr>
          <a:xfrm>
            <a:off x="1005840" y="22402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Production-grade REST API</a:t>
            </a:r>
          </a:p>
        </p:txBody>
      </p:sp>
      <p:sp>
        <p:nvSpPr>
          <p:cNvPr id="657" name="c"/>
          <p:cNvSpPr/>
          <p:nvPr/>
        </p:nvSpPr>
        <p:spPr>
          <a:xfrm>
            <a:off x="3246120" y="22402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58" name="t"/>
          <p:cNvSpPr txBox="1"/>
          <p:nvPr/>
        </p:nvSpPr>
        <p:spPr>
          <a:xfrm>
            <a:off x="3246120" y="22585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659" name="t"/>
          <p:cNvSpPr txBox="1"/>
          <p:nvPr/>
        </p:nvSpPr>
        <p:spPr>
          <a:xfrm>
            <a:off x="3611880" y="22402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Real-time GPS + Live Chat</a:t>
            </a:r>
          </a:p>
        </p:txBody>
      </p:sp>
      <p:sp>
        <p:nvSpPr>
          <p:cNvPr id="660" name="c"/>
          <p:cNvSpPr/>
          <p:nvPr/>
        </p:nvSpPr>
        <p:spPr>
          <a:xfrm>
            <a:off x="640080" y="26974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61" name="t"/>
          <p:cNvSpPr txBox="1"/>
          <p:nvPr/>
        </p:nvSpPr>
        <p:spPr>
          <a:xfrm>
            <a:off x="640080" y="27157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662" name="t"/>
          <p:cNvSpPr txBox="1"/>
          <p:nvPr/>
        </p:nvSpPr>
        <p:spPr>
          <a:xfrm>
            <a:off x="1005840" y="26974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Crisis Prioritization Engine</a:t>
            </a:r>
          </a:p>
        </p:txBody>
      </p:sp>
      <p:sp>
        <p:nvSpPr>
          <p:cNvPr id="663" name="c"/>
          <p:cNvSpPr/>
          <p:nvPr/>
        </p:nvSpPr>
        <p:spPr>
          <a:xfrm>
            <a:off x="3246120" y="26974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64" name="t"/>
          <p:cNvSpPr txBox="1"/>
          <p:nvPr/>
        </p:nvSpPr>
        <p:spPr>
          <a:xfrm>
            <a:off x="3246120" y="27157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665" name="t"/>
          <p:cNvSpPr txBox="1"/>
          <p:nvPr/>
        </p:nvSpPr>
        <p:spPr>
          <a:xfrm>
            <a:off x="3611880" y="26974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Complete Order Lifecycle</a:t>
            </a:r>
          </a:p>
        </p:txBody>
      </p:sp>
      <p:sp>
        <p:nvSpPr>
          <p:cNvPr id="666" name="c"/>
          <p:cNvSpPr/>
          <p:nvPr/>
        </p:nvSpPr>
        <p:spPr>
          <a:xfrm>
            <a:off x="640080" y="31546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67" name="t"/>
          <p:cNvSpPr txBox="1"/>
          <p:nvPr/>
        </p:nvSpPr>
        <p:spPr>
          <a:xfrm>
            <a:off x="640080" y="31729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668" name="t"/>
          <p:cNvSpPr txBox="1"/>
          <p:nvPr/>
        </p:nvSpPr>
        <p:spPr>
          <a:xfrm>
            <a:off x="1005840" y="31546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Docker &amp; Kubernetes Deploy</a:t>
            </a:r>
          </a:p>
        </p:txBody>
      </p:sp>
      <p:sp>
        <p:nvSpPr>
          <p:cNvPr id="669" name="c"/>
          <p:cNvSpPr/>
          <p:nvPr/>
        </p:nvSpPr>
        <p:spPr>
          <a:xfrm>
            <a:off x="3246120" y="31546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70" name="t"/>
          <p:cNvSpPr txBox="1"/>
          <p:nvPr/>
        </p:nvSpPr>
        <p:spPr>
          <a:xfrm>
            <a:off x="3246120" y="31729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671" name="t"/>
          <p:cNvSpPr txBox="1"/>
          <p:nvPr/>
        </p:nvSpPr>
        <p:spPr>
          <a:xfrm>
            <a:off x="3611880" y="31546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Multi-layer Security (JWT/RBAC)</a:t>
            </a:r>
          </a:p>
        </p:txBody>
      </p:sp>
      <p:sp>
        <p:nvSpPr>
          <p:cNvPr id="672" name="c"/>
          <p:cNvSpPr/>
          <p:nvPr/>
        </p:nvSpPr>
        <p:spPr>
          <a:xfrm>
            <a:off x="640080" y="36118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73" name="t"/>
          <p:cNvSpPr txBox="1"/>
          <p:nvPr/>
        </p:nvSpPr>
        <p:spPr>
          <a:xfrm>
            <a:off x="640080" y="36301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674" name="t"/>
          <p:cNvSpPr txBox="1"/>
          <p:nvPr/>
        </p:nvSpPr>
        <p:spPr>
          <a:xfrm>
            <a:off x="1005840" y="36118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WhatsApp Integration</a:t>
            </a:r>
          </a:p>
        </p:txBody>
      </p:sp>
      <p:sp>
        <p:nvSpPr>
          <p:cNvPr id="675" name="c"/>
          <p:cNvSpPr/>
          <p:nvPr/>
        </p:nvSpPr>
        <p:spPr>
          <a:xfrm>
            <a:off x="3246120" y="36118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76" name="t"/>
          <p:cNvSpPr txBox="1"/>
          <p:nvPr/>
        </p:nvSpPr>
        <p:spPr>
          <a:xfrm>
            <a:off x="3246120" y="36301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677" name="t"/>
          <p:cNvSpPr txBox="1"/>
          <p:nvPr/>
        </p:nvSpPr>
        <p:spPr>
          <a:xfrm>
            <a:off x="3611880" y="36118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Swagger API Documentation</a:t>
            </a:r>
          </a:p>
        </p:txBody>
      </p:sp>
      <p:sp>
        <p:nvSpPr>
          <p:cNvPr id="678" name="c"/>
          <p:cNvSpPr/>
          <p:nvPr/>
        </p:nvSpPr>
        <p:spPr>
          <a:xfrm>
            <a:off x="640080" y="40690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79" name="t"/>
          <p:cNvSpPr txBox="1"/>
          <p:nvPr/>
        </p:nvSpPr>
        <p:spPr>
          <a:xfrm>
            <a:off x="640080" y="40873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680" name="t"/>
          <p:cNvSpPr txBox="1"/>
          <p:nvPr/>
        </p:nvSpPr>
        <p:spPr>
          <a:xfrm>
            <a:off x="1005840" y="40690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Inventory Management</a:t>
            </a:r>
          </a:p>
        </p:txBody>
      </p:sp>
      <p:sp>
        <p:nvSpPr>
          <p:cNvPr id="681" name="c"/>
          <p:cNvSpPr/>
          <p:nvPr/>
        </p:nvSpPr>
        <p:spPr>
          <a:xfrm>
            <a:off x="3246120" y="40690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82" name="t"/>
          <p:cNvSpPr txBox="1"/>
          <p:nvPr/>
        </p:nvSpPr>
        <p:spPr>
          <a:xfrm>
            <a:off x="3246120" y="40873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683" name="t"/>
          <p:cNvSpPr txBox="1"/>
          <p:nvPr/>
        </p:nvSpPr>
        <p:spPr>
          <a:xfrm>
            <a:off x="3611880" y="40690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Real-time Notifications</a:t>
            </a:r>
          </a:p>
        </p:txBody>
      </p:sp>
      <p:sp>
        <p:nvSpPr>
          <p:cNvPr id="684" name="s"/>
          <p:cNvSpPr/>
          <p:nvPr/>
        </p:nvSpPr>
        <p:spPr>
          <a:xfrm>
            <a:off x="6126480" y="1463040"/>
            <a:ext cx="5486400" cy="3291840"/>
          </a:xfrm>
          <a:prstGeom prst="roundRect">
            <a:avLst>
              <a:gd name="adj" fmla="val 8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85" name="r"/>
          <p:cNvSpPr/>
          <p:nvPr/>
        </p:nvSpPr>
        <p:spPr>
          <a:xfrm>
            <a:off x="6126480" y="1463040"/>
            <a:ext cx="548640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86" name="t"/>
          <p:cNvSpPr txBox="1"/>
          <p:nvPr/>
        </p:nvSpPr>
        <p:spPr>
          <a:xfrm>
            <a:off x="6400800" y="1645920"/>
            <a:ext cx="4572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F97316"/>
                </a:solidFill>
                <a:latin typeface="Calibri"/>
              </a:rPr>
              <a:t>FUTURE ENHANCEMENTS</a:t>
            </a:r>
          </a:p>
        </p:txBody>
      </p:sp>
      <p:sp>
        <p:nvSpPr>
          <p:cNvPr id="687" name="c"/>
          <p:cNvSpPr/>
          <p:nvPr/>
        </p:nvSpPr>
        <p:spPr>
          <a:xfrm>
            <a:off x="6400800" y="2240280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88" name="t"/>
          <p:cNvSpPr txBox="1"/>
          <p:nvPr/>
        </p:nvSpPr>
        <p:spPr>
          <a:xfrm>
            <a:off x="6400800" y="231343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689" name="t"/>
          <p:cNvSpPr txBox="1"/>
          <p:nvPr/>
        </p:nvSpPr>
        <p:spPr>
          <a:xfrm>
            <a:off x="6903720" y="219456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Demand Prediction</a:t>
            </a:r>
          </a:p>
        </p:txBody>
      </p:sp>
      <p:sp>
        <p:nvSpPr>
          <p:cNvPr id="690" name="t"/>
          <p:cNvSpPr txBox="1"/>
          <p:nvPr/>
        </p:nvSpPr>
        <p:spPr>
          <a:xfrm>
            <a:off x="6903720" y="245059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ML consumption forecast</a:t>
            </a:r>
          </a:p>
        </p:txBody>
      </p:sp>
      <p:sp>
        <p:nvSpPr>
          <p:cNvPr id="691" name="c"/>
          <p:cNvSpPr/>
          <p:nvPr/>
        </p:nvSpPr>
        <p:spPr>
          <a:xfrm>
            <a:off x="6400800" y="274320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92" name="t"/>
          <p:cNvSpPr txBox="1"/>
          <p:nvPr/>
        </p:nvSpPr>
        <p:spPr>
          <a:xfrm>
            <a:off x="6400800" y="281635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APP</a:t>
            </a:r>
          </a:p>
        </p:txBody>
      </p:sp>
      <p:sp>
        <p:nvSpPr>
          <p:cNvPr id="693" name="t"/>
          <p:cNvSpPr txBox="1"/>
          <p:nvPr/>
        </p:nvSpPr>
        <p:spPr>
          <a:xfrm>
            <a:off x="6903720" y="269748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Mobile App</a:t>
            </a:r>
          </a:p>
        </p:txBody>
      </p:sp>
      <p:sp>
        <p:nvSpPr>
          <p:cNvPr id="694" name="t"/>
          <p:cNvSpPr txBox="1"/>
          <p:nvPr/>
        </p:nvSpPr>
        <p:spPr>
          <a:xfrm>
            <a:off x="6903720" y="295351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React Native / Flutter</a:t>
            </a:r>
          </a:p>
        </p:txBody>
      </p:sp>
      <p:sp>
        <p:nvSpPr>
          <p:cNvPr id="695" name="c"/>
          <p:cNvSpPr/>
          <p:nvPr/>
        </p:nvSpPr>
        <p:spPr>
          <a:xfrm>
            <a:off x="6400800" y="3246120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96" name="t"/>
          <p:cNvSpPr txBox="1"/>
          <p:nvPr/>
        </p:nvSpPr>
        <p:spPr>
          <a:xfrm>
            <a:off x="6400800" y="331927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PAY</a:t>
            </a:r>
          </a:p>
        </p:txBody>
      </p:sp>
      <p:sp>
        <p:nvSpPr>
          <p:cNvPr id="697" name="t"/>
          <p:cNvSpPr txBox="1"/>
          <p:nvPr/>
        </p:nvSpPr>
        <p:spPr>
          <a:xfrm>
            <a:off x="6903720" y="320040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Online Payments</a:t>
            </a:r>
          </a:p>
        </p:txBody>
      </p:sp>
      <p:sp>
        <p:nvSpPr>
          <p:cNvPr id="698" name="t"/>
          <p:cNvSpPr txBox="1"/>
          <p:nvPr/>
        </p:nvSpPr>
        <p:spPr>
          <a:xfrm>
            <a:off x="6903720" y="345643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Razorpay / UPI / Stripe</a:t>
            </a:r>
          </a:p>
        </p:txBody>
      </p:sp>
      <p:sp>
        <p:nvSpPr>
          <p:cNvPr id="699" name="c"/>
          <p:cNvSpPr/>
          <p:nvPr/>
        </p:nvSpPr>
        <p:spPr>
          <a:xfrm>
            <a:off x="6400800" y="374904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00" name="t"/>
          <p:cNvSpPr txBox="1"/>
          <p:nvPr/>
        </p:nvSpPr>
        <p:spPr>
          <a:xfrm>
            <a:off x="6400800" y="382219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MAP</a:t>
            </a:r>
          </a:p>
        </p:txBody>
      </p:sp>
      <p:sp>
        <p:nvSpPr>
          <p:cNvPr id="701" name="t"/>
          <p:cNvSpPr txBox="1"/>
          <p:nvPr/>
        </p:nvSpPr>
        <p:spPr>
          <a:xfrm>
            <a:off x="6903720" y="370332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Route Optimization</a:t>
            </a:r>
          </a:p>
        </p:txBody>
      </p:sp>
      <p:sp>
        <p:nvSpPr>
          <p:cNvPr id="702" name="t"/>
          <p:cNvSpPr txBox="1"/>
          <p:nvPr/>
        </p:nvSpPr>
        <p:spPr>
          <a:xfrm>
            <a:off x="6903720" y="395935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Google Maps integration</a:t>
            </a:r>
          </a:p>
        </p:txBody>
      </p:sp>
      <p:sp>
        <p:nvSpPr>
          <p:cNvPr id="703" name="c"/>
          <p:cNvSpPr/>
          <p:nvPr/>
        </p:nvSpPr>
        <p:spPr>
          <a:xfrm>
            <a:off x="6400800" y="4251960"/>
            <a:ext cx="365760" cy="36576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704" name="t"/>
          <p:cNvSpPr txBox="1"/>
          <p:nvPr/>
        </p:nvSpPr>
        <p:spPr>
          <a:xfrm>
            <a:off x="6400800" y="432511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IoT</a:t>
            </a:r>
          </a:p>
        </p:txBody>
      </p:sp>
      <p:sp>
        <p:nvSpPr>
          <p:cNvPr id="705" name="t"/>
          <p:cNvSpPr txBox="1"/>
          <p:nvPr/>
        </p:nvSpPr>
        <p:spPr>
          <a:xfrm>
            <a:off x="6903720" y="420624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Smart Sensors</a:t>
            </a:r>
          </a:p>
        </p:txBody>
      </p:sp>
      <p:sp>
        <p:nvSpPr>
          <p:cNvPr id="706" name="t"/>
          <p:cNvSpPr txBox="1"/>
          <p:nvPr/>
        </p:nvSpPr>
        <p:spPr>
          <a:xfrm>
            <a:off x="6903720" y="446227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Cylinder gas-level IoT</a:t>
            </a:r>
          </a:p>
        </p:txBody>
      </p:sp>
      <p:sp>
        <p:nvSpPr>
          <p:cNvPr id="707" name="s"/>
          <p:cNvSpPr/>
          <p:nvPr/>
        </p:nvSpPr>
        <p:spPr>
          <a:xfrm>
            <a:off x="2286000" y="4937760"/>
            <a:ext cx="7498079" cy="1371600"/>
          </a:xfrm>
          <a:prstGeom prst="roundRect">
            <a:avLst>
              <a:gd name="adj" fmla="val 12000"/>
            </a:avLst>
          </a:prstGeom>
          <a:solidFill>
            <a:srgbClr val="F97316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708" name="r"/>
          <p:cNvSpPr/>
          <p:nvPr/>
        </p:nvSpPr>
        <p:spPr>
          <a:xfrm>
            <a:off x="2286000" y="4937760"/>
            <a:ext cx="7498079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709" name="c"/>
          <p:cNvSpPr/>
          <p:nvPr/>
        </p:nvSpPr>
        <p:spPr>
          <a:xfrm>
            <a:off x="2468880" y="5349240"/>
            <a:ext cx="457200" cy="45720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710" name="c"/>
          <p:cNvSpPr/>
          <p:nvPr/>
        </p:nvSpPr>
        <p:spPr>
          <a:xfrm>
            <a:off x="9144000" y="5349240"/>
            <a:ext cx="457200" cy="45720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711" name="t"/>
          <p:cNvSpPr txBox="1"/>
          <p:nvPr/>
        </p:nvSpPr>
        <p:spPr>
          <a:xfrm>
            <a:off x="2286000" y="5074920"/>
            <a:ext cx="7498079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712" name="t"/>
          <p:cNvSpPr txBox="1"/>
          <p:nvPr/>
        </p:nvSpPr>
        <p:spPr>
          <a:xfrm>
            <a:off x="2286000" y="5760720"/>
            <a:ext cx="7498079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dirty="0">
                <a:solidFill>
                  <a:srgbClr val="FFEFD5"/>
                </a:solidFill>
                <a:latin typeface="Calibri"/>
              </a:rPr>
              <a:t>Questions  &amp;  Discussion  Welcome</a:t>
            </a:r>
          </a:p>
        </p:txBody>
      </p:sp>
      <p:sp>
        <p:nvSpPr>
          <p:cNvPr id="713" name="t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Team CylDist  -  Department of Computer Engineering  -  2025-26</a:t>
            </a:r>
          </a:p>
        </p:txBody>
      </p:sp>
      <p:sp>
        <p:nvSpPr>
          <p:cNvPr id="714" name="r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CylDist">
  <a:themeElements>
    <a:clrScheme name="CylDist">
      <a:dk1>
        <a:srgbClr val="0B1739"/>
      </a:dk1>
      <a:lt1>
        <a:srgbClr val="FFFFFF"/>
      </a:lt1>
      <a:dk2>
        <a:srgbClr val="17264C"/>
      </a:dk2>
      <a:lt2>
        <a:srgbClr val="F8FAFC"/>
      </a:lt2>
      <a:accent1>
        <a:srgbClr val="3B82F6"/>
      </a:accent1>
      <a:accent2>
        <a:srgbClr val="F97316"/>
      </a:accent2>
      <a:accent3>
        <a:srgbClr val="10B981"/>
      </a:accent3>
      <a:accent4>
        <a:srgbClr val="FBBF24"/>
      </a:accent4>
      <a:accent5>
        <a:srgbClr val="8B5CF6"/>
      </a:accent5>
      <a:accent6>
        <a:srgbClr val="14B8A6"/>
      </a:accent6>
      <a:hlink>
        <a:srgbClr val="3B82F6"/>
      </a:hlink>
      <a:folHlink>
        <a:srgbClr val="8B5CF6"/>
      </a:folHlink>
    </a:clrScheme>
    <a:fontScheme name="CylDist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rgbClr val="FFFFFF"/>
        </a:solidFill>
        <a:solidFill>
          <a:srgbClr val="FFFFFF"/>
        </a:solidFill>
        <a:solidFill>
          <a:srgbClr val="FFFFFF"/>
        </a:solidFill>
      </a:fillStyleLst>
      <a:lnStyleLst>
        <a:ln w="9525">
          <a:solidFill>
            <a:srgbClr val="000000"/>
          </a:solidFill>
        </a:ln>
        <a:ln w="9525">
          <a:solidFill>
            <a:srgbClr val="000000"/>
          </a:solidFill>
        </a:ln>
        <a:ln w="9525">
          <a:solidFill>
            <a:srgbClr val="000000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rgbClr val="FFFFFF"/>
        </a:solidFill>
        <a:solidFill>
          <a:srgbClr val="FFFFFF"/>
        </a:solidFill>
        <a:solidFill>
          <a:srgbClr val="FFFFFF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9</Slides>
  <Company>Team CylDist</Company>
</Properties>
</file>

<file path=docProps/core.xml><?xml version="1.0" encoding="utf-8"?>
<cp:coreProperties xmlns:cp="http://schemas.openxmlformats.org/package/2006/metadata/core-properties" xmlns:dc="http://purl.org/dc/elements/1.1/">
  <dc:title>Cylinder Distribution Platform - Backend API</dc:title>
  <dc:creator>Team CylDist</dc:creator>
  <dc:subject>College Engineering Project</dc:subject>
</cp:coreProperties>
</file>
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c"/>
          <p:cNvSpPr/>
          <p:nvPr/>
        </p:nvSpPr>
        <p:spPr>
          <a:xfrm>
            <a:off x="10515600" y="-1828800"/>
            <a:ext cx="4114800" cy="41148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c"/>
          <p:cNvSpPr/>
          <p:nvPr/>
        </p:nvSpPr>
        <p:spPr>
          <a:xfrm>
            <a:off x="10972800" y="-1371600"/>
            <a:ext cx="2926080" cy="29260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c"/>
          <p:cNvSpPr/>
          <p:nvPr/>
        </p:nvSpPr>
        <p:spPr>
          <a:xfrm>
            <a:off x="-914400" y="5029200"/>
            <a:ext cx="2560320" cy="25603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c"/>
          <p:cNvSpPr/>
          <p:nvPr/>
        </p:nvSpPr>
        <p:spPr>
          <a:xfrm>
            <a:off x="0" y="5486400"/>
            <a:ext cx="1280160" cy="12801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ps"/>
          <p:cNvSpPr/>
          <p:nvPr/>
        </p:nvSpPr>
        <p:spPr>
          <a:xfrm>
            <a:off x="6858000" y="3657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ps"/>
          <p:cNvSpPr/>
          <p:nvPr/>
        </p:nvSpPr>
        <p:spPr>
          <a:xfrm>
            <a:off x="7589520" y="8229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8" name="ps"/>
          <p:cNvSpPr/>
          <p:nvPr/>
        </p:nvSpPr>
        <p:spPr>
          <a:xfrm>
            <a:off x="6858000" y="12801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ps"/>
          <p:cNvSpPr/>
          <p:nvPr/>
        </p:nvSpPr>
        <p:spPr>
          <a:xfrm>
            <a:off x="8321040" y="3657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" name="ps"/>
          <p:cNvSpPr/>
          <p:nvPr/>
        </p:nvSpPr>
        <p:spPr>
          <a:xfrm>
            <a:off x="8321040" y="12801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hd"/>
          <p:cNvSpPr/>
          <p:nvPr/>
        </p:nvSpPr>
        <p:spPr>
          <a:xfrm>
            <a:off x="8503920" y="5639280"/>
            <a:ext cx="2194560" cy="60000"/>
          </a:xfrm>
          <a:prstGeom prst="ellipse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ps"/>
          <p:cNvSpPr/>
          <p:nvPr/>
        </p:nvSpPr>
        <p:spPr>
          <a:xfrm>
            <a:off x="8503920" y="2304288"/>
            <a:ext cx="2194560" cy="3108960"/>
          </a:xfrm>
          <a:prstGeom prst="can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13" name="ps"/>
          <p:cNvSpPr/>
          <p:nvPr/>
        </p:nvSpPr>
        <p:spPr>
          <a:xfrm>
            <a:off x="9052560" y="2011680"/>
            <a:ext cx="1097280" cy="292608"/>
          </a:xfrm>
          <a:prstGeom prst="can">
            <a:avLst/>
          </a:prstGeom>
          <a:solidFill>
            <a:srgbClr val="5A6680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14" name="ps"/>
          <p:cNvSpPr/>
          <p:nvPr/>
        </p:nvSpPr>
        <p:spPr>
          <a:xfrm>
            <a:off x="9326880" y="1828800"/>
            <a:ext cx="548640" cy="2194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s"/>
          <p:cNvSpPr/>
          <p:nvPr/>
        </p:nvSpPr>
        <p:spPr>
          <a:xfrm>
            <a:off x="9571200" y="1719072"/>
            <a:ext cx="60000" cy="600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ps"/>
          <p:cNvSpPr/>
          <p:nvPr/>
        </p:nvSpPr>
        <p:spPr>
          <a:xfrm>
            <a:off x="8613648" y="4023360"/>
            <a:ext cx="1975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t"/>
          <p:cNvSpPr txBox="1"/>
          <p:nvPr/>
        </p:nvSpPr>
        <p:spPr>
          <a:xfrm>
            <a:off x="8613648" y="4059936"/>
            <a:ext cx="1975104" cy="438912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200" b="1" dirty="0">
                <a:solidFill>
                  <a:srgbClr val="F97316"/>
                </a:solidFill>
                <a:latin typeface="Calibri"/>
              </a:rPr>
              <a:t>LPG</a:t>
            </a:r>
          </a:p>
        </p:txBody>
      </p:sp>
      <p:sp>
        <p:nvSpPr>
          <p:cNvPr id="118" name="c"/>
          <p:cNvSpPr/>
          <p:nvPr/>
        </p:nvSpPr>
        <p:spPr>
          <a:xfrm>
            <a:off x="7772400" y="2286000"/>
            <a:ext cx="228600" cy="228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c"/>
          <p:cNvSpPr/>
          <p:nvPr/>
        </p:nvSpPr>
        <p:spPr>
          <a:xfrm>
            <a:off x="7315200" y="365760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c"/>
          <p:cNvSpPr/>
          <p:nvPr/>
        </p:nvSpPr>
        <p:spPr>
          <a:xfrm>
            <a:off x="8229600" y="548640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c"/>
          <p:cNvSpPr/>
          <p:nvPr/>
        </p:nvSpPr>
        <p:spPr>
          <a:xfrm>
            <a:off x="11430000" y="3200400"/>
            <a:ext cx="201168" cy="20116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c"/>
          <p:cNvSpPr/>
          <p:nvPr/>
        </p:nvSpPr>
        <p:spPr>
          <a:xfrm>
            <a:off x="11430000" y="457200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3" name="s"/>
          <p:cNvSpPr/>
          <p:nvPr/>
        </p:nvSpPr>
        <p:spPr>
          <a:xfrm>
            <a:off x="548640" y="45720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BACKEND API  |  v1.0</a:t>
            </a:r>
          </a:p>
        </p:txBody>
      </p:sp>
      <p:sp>
        <p:nvSpPr>
          <p:cNvPr id="124" name="r"/>
          <p:cNvSpPr/>
          <p:nvPr/>
        </p:nvSpPr>
        <p:spPr>
          <a:xfrm>
            <a:off x="548640" y="1188720"/>
            <a:ext cx="73152" cy="21031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t"/>
          <p:cNvSpPr txBox="1"/>
          <p:nvPr/>
        </p:nvSpPr>
        <p:spPr>
          <a:xfrm>
            <a:off x="777240" y="1097280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CYLINDER</a:t>
            </a:r>
          </a:p>
        </p:txBody>
      </p:sp>
      <p:sp>
        <p:nvSpPr>
          <p:cNvPr id="126" name="t"/>
          <p:cNvSpPr txBox="1"/>
          <p:nvPr/>
        </p:nvSpPr>
        <p:spPr>
          <a:xfrm>
            <a:off x="777240" y="1874519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97316"/>
                </a:solidFill>
                <a:latin typeface="Calibri"/>
              </a:rPr>
              <a:t>DISTRIBUTION</a:t>
            </a:r>
          </a:p>
        </p:txBody>
      </p:sp>
      <p:sp>
        <p:nvSpPr>
          <p:cNvPr id="127" name="t"/>
          <p:cNvSpPr txBox="1"/>
          <p:nvPr/>
        </p:nvSpPr>
        <p:spPr>
          <a:xfrm>
            <a:off x="777240" y="2651760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PLATFORM.</a:t>
            </a:r>
          </a:p>
        </p:txBody>
      </p:sp>
      <p:sp>
        <p:nvSpPr>
          <p:cNvPr id="128" name="r"/>
          <p:cNvSpPr/>
          <p:nvPr/>
        </p:nvSpPr>
        <p:spPr>
          <a:xfrm>
            <a:off x="777240" y="3520440"/>
            <a:ext cx="41148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9" name="t"/>
          <p:cNvSpPr txBox="1"/>
          <p:nvPr/>
        </p:nvSpPr>
        <p:spPr>
          <a:xfrm>
            <a:off x="777240" y="3611880"/>
            <a:ext cx="73152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dirty="0">
                <a:solidFill>
                  <a:srgbClr val="94A3B8"/>
                </a:solidFill>
                <a:latin typeface="Calibri"/>
              </a:rPr>
              <a:t>Production-Grade LPG Delivery Backend</a:t>
            </a:r>
          </a:p>
        </p:txBody>
      </p:sp>
      <p:sp>
        <p:nvSpPr>
          <p:cNvPr id="130" name="s"/>
          <p:cNvSpPr/>
          <p:nvPr/>
        </p:nvSpPr>
        <p:spPr>
          <a:xfrm>
            <a:off x="777240" y="4297680"/>
            <a:ext cx="6858000" cy="182880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31" name="r"/>
          <p:cNvSpPr/>
          <p:nvPr/>
        </p:nvSpPr>
        <p:spPr>
          <a:xfrm>
            <a:off x="777240" y="4297680"/>
            <a:ext cx="73152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t"/>
          <p:cNvSpPr txBox="1"/>
          <p:nvPr/>
        </p:nvSpPr>
        <p:spPr>
          <a:xfrm>
            <a:off x="1005840" y="4434840"/>
            <a:ext cx="6400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FBBF24"/>
                </a:solidFill>
                <a:latin typeface="Calibri"/>
              </a:rPr>
              <a:t>TEAM CYLDIST</a:t>
            </a:r>
          </a:p>
        </p:txBody>
      </p:sp>
      <p:sp>
        <p:nvSpPr>
          <p:cNvPr id="133" name="t"/>
          <p:cNvSpPr txBox="1"/>
          <p:nvPr/>
        </p:nvSpPr>
        <p:spPr>
          <a:xfrm>
            <a:off x="1005840" y="480060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Department of Computer Engineering</a:t>
            </a:r>
          </a:p>
        </p:txBody>
      </p:sp>
      <p:sp>
        <p:nvSpPr>
          <p:cNvPr id="134" name="t"/>
          <p:cNvSpPr txBox="1"/>
          <p:nvPr/>
        </p:nvSpPr>
        <p:spPr>
          <a:xfrm>
            <a:off x="10058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1  -  Lead Developer</a:t>
            </a:r>
          </a:p>
        </p:txBody>
      </p:sp>
      <p:sp>
        <p:nvSpPr>
          <p:cNvPr id="135" name="t"/>
          <p:cNvSpPr txBox="1"/>
          <p:nvPr/>
        </p:nvSpPr>
        <p:spPr>
          <a:xfrm>
            <a:off x="10058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2  -  Backend Engineer</a:t>
            </a:r>
          </a:p>
        </p:txBody>
      </p:sp>
      <p:sp>
        <p:nvSpPr>
          <p:cNvPr id="136" name="t"/>
          <p:cNvSpPr txBox="1"/>
          <p:nvPr/>
        </p:nvSpPr>
        <p:spPr>
          <a:xfrm>
            <a:off x="42062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3  -  DevOps &amp; DB</a:t>
            </a:r>
          </a:p>
        </p:txBody>
      </p:sp>
      <p:sp>
        <p:nvSpPr>
          <p:cNvPr id="137" name="t"/>
          <p:cNvSpPr txBox="1"/>
          <p:nvPr/>
        </p:nvSpPr>
        <p:spPr>
          <a:xfrm>
            <a:off x="42062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4  -  Frontend &amp; QA</a:t>
            </a:r>
          </a:p>
        </p:txBody>
      </p:sp>
      <p:sp>
        <p:nvSpPr>
          <p:cNvPr id="138" name="t"/>
          <p:cNvSpPr txBox="1"/>
          <p:nvPr/>
        </p:nvSpPr>
        <p:spPr>
          <a:xfrm>
            <a:off x="1005840" y="5806440"/>
            <a:ext cx="64008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[Your College Name]  |  Academic Year 2025-26</a:t>
            </a:r>
          </a:p>
        </p:txBody>
      </p:sp>
      <p:sp>
        <p:nvSpPr>
          <p:cNvPr id="139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0" name="t"/>
          <p:cNvSpPr txBox="1"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01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42" name="r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3" name="r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4" name="c"/>
          <p:cNvSpPr/>
          <p:nvPr/>
        </p:nvSpPr>
        <p:spPr>
          <a:xfrm>
            <a:off x="-548640" y="5943600"/>
            <a:ext cx="2011680" cy="20116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5" name="c"/>
          <p:cNvSpPr/>
          <p:nvPr/>
        </p:nvSpPr>
        <p:spPr>
          <a:xfrm>
            <a:off x="-731520" y="5760720"/>
            <a:ext cx="1188720" cy="118872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46" name="shd"/>
          <p:cNvSpPr/>
          <p:nvPr/>
        </p:nvSpPr>
        <p:spPr>
          <a:xfrm>
            <a:off x="3108960" y="3170400"/>
            <a:ext cx="548640" cy="60000"/>
          </a:xfrm>
          <a:prstGeom prst="ellipse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7" name="ps"/>
          <p:cNvSpPr/>
          <p:nvPr/>
        </p:nvSpPr>
        <p:spPr>
          <a:xfrm>
            <a:off x="3108960" y="2022653"/>
            <a:ext cx="548640" cy="1088136"/>
          </a:xfrm>
          <a:prstGeom prst="can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48" name="ps"/>
          <p:cNvSpPr/>
          <p:nvPr/>
        </p:nvSpPr>
        <p:spPr>
          <a:xfrm>
            <a:off x="3246120" y="1920240"/>
            <a:ext cx="274320" cy="102412"/>
          </a:xfrm>
          <a:prstGeom prst="can">
            <a:avLst/>
          </a:prstGeom>
          <a:solidFill>
            <a:srgbClr val="5A6680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49" name="ps"/>
          <p:cNvSpPr/>
          <p:nvPr/>
        </p:nvSpPr>
        <p:spPr>
          <a:xfrm>
            <a:off x="3314700" y="1856232"/>
            <a:ext cx="137160" cy="7680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ps"/>
          <p:cNvSpPr/>
          <p:nvPr/>
        </p:nvSpPr>
        <p:spPr>
          <a:xfrm>
            <a:off x="3353280" y="1817828"/>
            <a:ext cx="60000" cy="600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t"/>
          <p:cNvSpPr txBox="1"/>
          <p:nvPr/>
        </p:nvSpPr>
        <p:spPr>
          <a:xfrm>
            <a:off x="457200" y="365760"/>
            <a:ext cx="1828800" cy="1371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72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152" name="r"/>
          <p:cNvSpPr/>
          <p:nvPr/>
        </p:nvSpPr>
        <p:spPr>
          <a:xfrm>
            <a:off x="457200" y="1463040"/>
            <a:ext cx="146304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3" name="t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INTRODUCTION</a:t>
            </a:r>
          </a:p>
        </p:txBody>
      </p:sp>
      <p:sp>
        <p:nvSpPr>
          <p:cNvPr id="154" name="t"/>
          <p:cNvSpPr txBox="1"/>
          <p:nvPr/>
        </p:nvSpPr>
        <p:spPr>
          <a:xfrm>
            <a:off x="457200" y="210312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Digital LPG</a:t>
            </a:r>
          </a:p>
        </p:txBody>
      </p:sp>
      <p:sp>
        <p:nvSpPr>
          <p:cNvPr id="155" name="t"/>
          <p:cNvSpPr txBox="1"/>
          <p:nvPr/>
        </p:nvSpPr>
        <p:spPr>
          <a:xfrm>
            <a:off x="457200" y="260604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Distribution</a:t>
            </a:r>
          </a:p>
        </p:txBody>
      </p:sp>
      <p:sp>
        <p:nvSpPr>
          <p:cNvPr id="156" name="t"/>
          <p:cNvSpPr txBox="1"/>
          <p:nvPr/>
        </p:nvSpPr>
        <p:spPr>
          <a:xfrm>
            <a:off x="457200" y="310896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BBF24"/>
                </a:solidFill>
                <a:latin typeface="Calibri"/>
              </a:rPr>
              <a:t>Reimagined.</a:t>
            </a:r>
          </a:p>
        </p:txBody>
      </p:sp>
      <p:sp>
        <p:nvSpPr>
          <p:cNvPr id="157" name="t"/>
          <p:cNvSpPr txBox="1"/>
          <p:nvPr/>
        </p:nvSpPr>
        <p:spPr>
          <a:xfrm>
            <a:off x="457200" y="3840480"/>
            <a:ext cx="3657600" cy="8229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A production-grade backend that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transforms how LPG cylinders are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booked, tracked, and delivered.</a:t>
            </a:r>
          </a:p>
        </p:txBody>
      </p:sp>
      <p:sp>
        <p:nvSpPr>
          <p:cNvPr id="158" name="s"/>
          <p:cNvSpPr/>
          <p:nvPr/>
        </p:nvSpPr>
        <p:spPr>
          <a:xfrm>
            <a:off x="457200" y="48463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59" name="t"/>
          <p:cNvSpPr txBox="1"/>
          <p:nvPr/>
        </p:nvSpPr>
        <p:spPr>
          <a:xfrm>
            <a:off x="640080" y="4983480"/>
            <a:ext cx="2743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PROJECT IMPACT</a:t>
            </a:r>
          </a:p>
        </p:txBody>
      </p:sp>
      <p:sp>
        <p:nvSpPr>
          <p:cNvPr id="160" name="t"/>
          <p:cNvSpPr txBox="1"/>
          <p:nvPr/>
        </p:nvSpPr>
        <p:spPr>
          <a:xfrm>
            <a:off x="64008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3+</a:t>
            </a:r>
          </a:p>
        </p:txBody>
      </p:sp>
      <p:sp>
        <p:nvSpPr>
          <p:cNvPr id="161" name="t"/>
          <p:cNvSpPr txBox="1"/>
          <p:nvPr/>
        </p:nvSpPr>
        <p:spPr>
          <a:xfrm>
            <a:off x="64008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User Roles</a:t>
            </a:r>
          </a:p>
        </p:txBody>
      </p:sp>
      <p:sp>
        <p:nvSpPr>
          <p:cNvPr id="162" name="t"/>
          <p:cNvSpPr txBox="1"/>
          <p:nvPr/>
        </p:nvSpPr>
        <p:spPr>
          <a:xfrm>
            <a:off x="210312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30+</a:t>
            </a:r>
          </a:p>
        </p:txBody>
      </p:sp>
      <p:sp>
        <p:nvSpPr>
          <p:cNvPr id="163" name="t"/>
          <p:cNvSpPr txBox="1"/>
          <p:nvPr/>
        </p:nvSpPr>
        <p:spPr>
          <a:xfrm>
            <a:off x="210312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API Endpoints</a:t>
            </a:r>
          </a:p>
        </p:txBody>
      </p:sp>
      <p:sp>
        <p:nvSpPr>
          <p:cNvPr id="164" name="t"/>
          <p:cNvSpPr txBox="1"/>
          <p:nvPr/>
        </p:nvSpPr>
        <p:spPr>
          <a:xfrm>
            <a:off x="64008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10+</a:t>
            </a:r>
          </a:p>
        </p:txBody>
      </p:sp>
      <p:sp>
        <p:nvSpPr>
          <p:cNvPr id="165" name="t"/>
          <p:cNvSpPr txBox="1"/>
          <p:nvPr/>
        </p:nvSpPr>
        <p:spPr>
          <a:xfrm>
            <a:off x="64008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Core Features</a:t>
            </a:r>
          </a:p>
        </p:txBody>
      </p:sp>
      <p:sp>
        <p:nvSpPr>
          <p:cNvPr id="166" name="t"/>
          <p:cNvSpPr txBox="1"/>
          <p:nvPr/>
        </p:nvSpPr>
        <p:spPr>
          <a:xfrm>
            <a:off x="210312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2</a:t>
            </a:r>
          </a:p>
        </p:txBody>
      </p:sp>
      <p:sp>
        <p:nvSpPr>
          <p:cNvPr id="167" name="t"/>
          <p:cNvSpPr txBox="1"/>
          <p:nvPr/>
        </p:nvSpPr>
        <p:spPr>
          <a:xfrm>
            <a:off x="210312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Databases</a:t>
            </a:r>
          </a:p>
        </p:txBody>
      </p:sp>
      <p:sp>
        <p:nvSpPr>
          <p:cNvPr id="168" name="t"/>
          <p:cNvSpPr txBox="1"/>
          <p:nvPr/>
        </p:nvSpPr>
        <p:spPr>
          <a:xfrm>
            <a:off x="4572000" y="50292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97316"/>
                </a:solidFill>
                <a:latin typeface="Calibri"/>
              </a:rPr>
              <a:t>KEY OBJECTIVES</a:t>
            </a:r>
          </a:p>
        </p:txBody>
      </p:sp>
      <p:sp>
        <p:nvSpPr>
          <p:cNvPr id="169" name="r"/>
          <p:cNvSpPr/>
          <p:nvPr/>
        </p:nvSpPr>
        <p:spPr>
          <a:xfrm>
            <a:off x="4572000" y="8686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4572000" y="1005840"/>
            <a:ext cx="64008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0B1739"/>
                </a:solidFill>
                <a:latin typeface="Calibri"/>
              </a:rPr>
              <a:t>Goals &amp; Mission</a:t>
            </a:r>
          </a:p>
        </p:txBody>
      </p:sp>
      <p:sp>
        <p:nvSpPr>
          <p:cNvPr id="171" name="s"/>
          <p:cNvSpPr/>
          <p:nvPr/>
        </p:nvSpPr>
        <p:spPr>
          <a:xfrm>
            <a:off x="4572000" y="1920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72" name="r"/>
          <p:cNvSpPr/>
          <p:nvPr/>
        </p:nvSpPr>
        <p:spPr>
          <a:xfrm>
            <a:off x="4572000" y="1920240"/>
            <a:ext cx="32004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3" name="c"/>
          <p:cNvSpPr/>
          <p:nvPr/>
        </p:nvSpPr>
        <p:spPr>
          <a:xfrm>
            <a:off x="4800600" y="23774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4" name="t"/>
          <p:cNvSpPr txBox="1"/>
          <p:nvPr/>
        </p:nvSpPr>
        <p:spPr>
          <a:xfrm>
            <a:off x="4800600" y="2468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5" name="t"/>
          <p:cNvSpPr txBox="1"/>
          <p:nvPr/>
        </p:nvSpPr>
        <p:spPr>
          <a:xfrm>
            <a:off x="5486400" y="2423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DIGITIZE</a:t>
            </a:r>
          </a:p>
        </p:txBody>
      </p:sp>
      <p:sp>
        <p:nvSpPr>
          <p:cNvPr id="176" name="r"/>
          <p:cNvSpPr/>
          <p:nvPr/>
        </p:nvSpPr>
        <p:spPr>
          <a:xfrm>
            <a:off x="5486400" y="2834640"/>
            <a:ext cx="548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7" name="t"/>
          <p:cNvSpPr txBox="1"/>
          <p:nvPr/>
        </p:nvSpPr>
        <p:spPr>
          <a:xfrm>
            <a:off x="4846320" y="3200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Replace manual booking</a:t>
            </a:r>
          </a:p>
        </p:txBody>
      </p:sp>
      <p:sp>
        <p:nvSpPr>
          <p:cNvPr id="178" name="t"/>
          <p:cNvSpPr txBox="1"/>
          <p:nvPr/>
        </p:nvSpPr>
        <p:spPr>
          <a:xfrm>
            <a:off x="4846320" y="3474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with online + WhatsApp</a:t>
            </a:r>
          </a:p>
        </p:txBody>
      </p:sp>
      <p:sp>
        <p:nvSpPr>
          <p:cNvPr id="179" name="s"/>
          <p:cNvSpPr/>
          <p:nvPr/>
        </p:nvSpPr>
        <p:spPr>
          <a:xfrm>
            <a:off x="7955280" y="1920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80" name="r"/>
          <p:cNvSpPr/>
          <p:nvPr/>
        </p:nvSpPr>
        <p:spPr>
          <a:xfrm>
            <a:off x="7955280" y="1920240"/>
            <a:ext cx="3200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1" name="c"/>
          <p:cNvSpPr/>
          <p:nvPr/>
        </p:nvSpPr>
        <p:spPr>
          <a:xfrm>
            <a:off x="8183880" y="2377440"/>
            <a:ext cx="548640" cy="5486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2" name="t"/>
          <p:cNvSpPr txBox="1"/>
          <p:nvPr/>
        </p:nvSpPr>
        <p:spPr>
          <a:xfrm>
            <a:off x="8183880" y="2468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3" name="t"/>
          <p:cNvSpPr txBox="1"/>
          <p:nvPr/>
        </p:nvSpPr>
        <p:spPr>
          <a:xfrm>
            <a:off x="8869680" y="2423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TRACK</a:t>
            </a:r>
          </a:p>
        </p:txBody>
      </p:sp>
      <p:sp>
        <p:nvSpPr>
          <p:cNvPr id="184" name="r"/>
          <p:cNvSpPr/>
          <p:nvPr/>
        </p:nvSpPr>
        <p:spPr>
          <a:xfrm>
            <a:off x="8869680" y="2834640"/>
            <a:ext cx="54864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5" name="t"/>
          <p:cNvSpPr txBox="1"/>
          <p:nvPr/>
        </p:nvSpPr>
        <p:spPr>
          <a:xfrm>
            <a:off x="8229600" y="3200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Real-time GPS tracking</a:t>
            </a:r>
          </a:p>
        </p:txBody>
      </p:sp>
      <p:sp>
        <p:nvSpPr>
          <p:cNvPr id="186" name="t"/>
          <p:cNvSpPr txBox="1"/>
          <p:nvPr/>
        </p:nvSpPr>
        <p:spPr>
          <a:xfrm>
            <a:off x="8229600" y="3474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&amp; live customer chat</a:t>
            </a:r>
          </a:p>
        </p:txBody>
      </p:sp>
      <p:sp>
        <p:nvSpPr>
          <p:cNvPr id="187" name="s"/>
          <p:cNvSpPr/>
          <p:nvPr/>
        </p:nvSpPr>
        <p:spPr>
          <a:xfrm>
            <a:off x="4572000" y="4206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88" name="r"/>
          <p:cNvSpPr/>
          <p:nvPr/>
        </p:nvSpPr>
        <p:spPr>
          <a:xfrm>
            <a:off x="4572000" y="4206240"/>
            <a:ext cx="32004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9" name="c"/>
          <p:cNvSpPr/>
          <p:nvPr/>
        </p:nvSpPr>
        <p:spPr>
          <a:xfrm>
            <a:off x="4800600" y="466344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0" name="t"/>
          <p:cNvSpPr txBox="1"/>
          <p:nvPr/>
        </p:nvSpPr>
        <p:spPr>
          <a:xfrm>
            <a:off x="4800600" y="4754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1" name="t"/>
          <p:cNvSpPr txBox="1"/>
          <p:nvPr/>
        </p:nvSpPr>
        <p:spPr>
          <a:xfrm>
            <a:off x="5486400" y="4709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SECURE</a:t>
            </a:r>
          </a:p>
        </p:txBody>
      </p:sp>
      <p:sp>
        <p:nvSpPr>
          <p:cNvPr id="192" name="r"/>
          <p:cNvSpPr/>
          <p:nvPr/>
        </p:nvSpPr>
        <p:spPr>
          <a:xfrm>
            <a:off x="5486400" y="5120640"/>
            <a:ext cx="54864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3" name="t"/>
          <p:cNvSpPr txBox="1"/>
          <p:nvPr/>
        </p:nvSpPr>
        <p:spPr>
          <a:xfrm>
            <a:off x="4846320" y="5486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JWT + RBAC + bcrypt</a:t>
            </a:r>
          </a:p>
        </p:txBody>
      </p:sp>
      <p:sp>
        <p:nvSpPr>
          <p:cNvPr id="194" name="t"/>
          <p:cNvSpPr txBox="1"/>
          <p:nvPr/>
        </p:nvSpPr>
        <p:spPr>
          <a:xfrm>
            <a:off x="4846320" y="5760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production security</a:t>
            </a:r>
          </a:p>
        </p:txBody>
      </p:sp>
      <p:sp>
        <p:nvSpPr>
          <p:cNvPr id="195" name="s"/>
          <p:cNvSpPr/>
          <p:nvPr/>
        </p:nvSpPr>
        <p:spPr>
          <a:xfrm>
            <a:off x="7955280" y="420624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96" name="r"/>
          <p:cNvSpPr/>
          <p:nvPr/>
        </p:nvSpPr>
        <p:spPr>
          <a:xfrm>
            <a:off x="7955280" y="4206240"/>
            <a:ext cx="3200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7" name="c"/>
          <p:cNvSpPr/>
          <p:nvPr/>
        </p:nvSpPr>
        <p:spPr>
          <a:xfrm>
            <a:off x="8183880" y="466344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8" name="t"/>
          <p:cNvSpPr txBox="1"/>
          <p:nvPr/>
        </p:nvSpPr>
        <p:spPr>
          <a:xfrm>
            <a:off x="8183880" y="4754880"/>
            <a:ext cx="54864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9" name="t"/>
          <p:cNvSpPr txBox="1"/>
          <p:nvPr/>
        </p:nvSpPr>
        <p:spPr>
          <a:xfrm>
            <a:off x="8869680" y="4709160"/>
            <a:ext cx="21031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0B1739"/>
                </a:solidFill>
                <a:latin typeface="Calibri"/>
              </a:rPr>
              <a:t>SCALE</a:t>
            </a:r>
          </a:p>
        </p:txBody>
      </p:sp>
      <p:sp>
        <p:nvSpPr>
          <p:cNvPr id="200" name="r"/>
          <p:cNvSpPr/>
          <p:nvPr/>
        </p:nvSpPr>
        <p:spPr>
          <a:xfrm>
            <a:off x="8869680" y="5120640"/>
            <a:ext cx="54864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"/>
          <p:cNvSpPr txBox="1"/>
          <p:nvPr/>
        </p:nvSpPr>
        <p:spPr>
          <a:xfrm>
            <a:off x="8229600" y="548640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Docker + Kubernetes</a:t>
            </a:r>
          </a:p>
        </p:txBody>
      </p:sp>
      <p:sp>
        <p:nvSpPr>
          <p:cNvPr id="202" name="t"/>
          <p:cNvSpPr txBox="1"/>
          <p:nvPr/>
        </p:nvSpPr>
        <p:spPr>
          <a:xfrm>
            <a:off x="8229600" y="576072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ready deployment</a:t>
            </a:r>
          </a:p>
        </p:txBody>
      </p:sp>
      <p:sp>
        <p:nvSpPr>
          <p:cNvPr id="203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r"/>
          <p:cNvSpPr/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r"/>
          <p:cNvSpPr/>
          <p:nvPr/>
        </p:nvSpPr>
        <p:spPr>
          <a:xfrm>
            <a:off x="0" y="1371600"/>
            <a:ext cx="1219200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t"/>
          <p:cNvSpPr txBox="1"/>
          <p:nvPr/>
        </p:nvSpPr>
        <p:spPr>
          <a:xfrm>
            <a:off x="45720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400" b="1" dirty="0">
                <a:solidFill>
                  <a:srgbClr val="F97316"/>
                </a:solidFill>
                <a:latin typeface="Calibri"/>
              </a:rPr>
              <a:t>03</a:t>
            </a:r>
          </a:p>
        </p:txBody>
      </p:sp>
      <p:sp>
        <p:nvSpPr>
          <p:cNvPr id="208" name="t"/>
          <p:cNvSpPr txBox="1"/>
          <p:nvPr/>
        </p:nvSpPr>
        <p:spPr>
          <a:xfrm>
            <a:off x="169164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THE CHALLENGE</a:t>
            </a:r>
          </a:p>
        </p:txBody>
      </p:sp>
      <p:sp>
        <p:nvSpPr>
          <p:cNvPr id="209" name="t"/>
          <p:cNvSpPr txBox="1"/>
          <p:nvPr/>
        </p:nvSpPr>
        <p:spPr>
          <a:xfrm>
            <a:off x="169164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 vs  Solution</a:t>
            </a:r>
          </a:p>
        </p:txBody>
      </p:sp>
      <p:sp>
        <p:nvSpPr>
          <p:cNvPr id="210" name="s"/>
          <p:cNvSpPr/>
          <p:nvPr/>
        </p:nvSpPr>
        <p:spPr>
          <a:xfrm>
            <a:off x="4572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11" name="r"/>
          <p:cNvSpPr/>
          <p:nvPr/>
        </p:nvSpPr>
        <p:spPr>
          <a:xfrm>
            <a:off x="4572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2" name="r"/>
          <p:cNvSpPr/>
          <p:nvPr/>
        </p:nvSpPr>
        <p:spPr>
          <a:xfrm>
            <a:off x="457200" y="2194560"/>
            <a:ext cx="5029200" cy="27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3" name="c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4" name="t"/>
          <p:cNvSpPr txBox="1"/>
          <p:nvPr/>
        </p:nvSpPr>
        <p:spPr>
          <a:xfrm>
            <a:off x="6400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/>
              </a:rPr>
              <a:t>X</a:t>
            </a:r>
          </a:p>
        </p:txBody>
      </p:sp>
      <p:sp>
        <p:nvSpPr>
          <p:cNvPr id="215" name="t"/>
          <p:cNvSpPr txBox="1"/>
          <p:nvPr/>
        </p:nvSpPr>
        <p:spPr>
          <a:xfrm>
            <a:off x="1280160" y="18288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TRADITIONAL SYSTEM</a:t>
            </a:r>
          </a:p>
        </p:txBody>
      </p:sp>
      <p:sp>
        <p:nvSpPr>
          <p:cNvPr id="216" name="t"/>
          <p:cNvSpPr txBox="1"/>
          <p:nvPr/>
        </p:nvSpPr>
        <p:spPr>
          <a:xfrm>
            <a:off x="1280160" y="21488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D0D0"/>
                </a:solidFill>
                <a:latin typeface="Calibri"/>
              </a:rPr>
              <a:t>Outdated  -  Manual  -  Inefficient</a:t>
            </a:r>
          </a:p>
        </p:txBody>
      </p:sp>
      <p:sp>
        <p:nvSpPr>
          <p:cNvPr id="217" name="c"/>
          <p:cNvSpPr/>
          <p:nvPr/>
        </p:nvSpPr>
        <p:spPr>
          <a:xfrm>
            <a:off x="777240" y="2788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8" name="t"/>
          <p:cNvSpPr txBox="1"/>
          <p:nvPr/>
        </p:nvSpPr>
        <p:spPr>
          <a:xfrm>
            <a:off x="7772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19" name="t"/>
          <p:cNvSpPr txBox="1"/>
          <p:nvPr/>
        </p:nvSpPr>
        <p:spPr>
          <a:xfrm>
            <a:off x="10972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Manual booking via phone calls</a:t>
            </a:r>
          </a:p>
        </p:txBody>
      </p:sp>
      <p:sp>
        <p:nvSpPr>
          <p:cNvPr id="220" name="c"/>
          <p:cNvSpPr/>
          <p:nvPr/>
        </p:nvSpPr>
        <p:spPr>
          <a:xfrm>
            <a:off x="777240" y="3246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1" name="t"/>
          <p:cNvSpPr txBox="1"/>
          <p:nvPr/>
        </p:nvSpPr>
        <p:spPr>
          <a:xfrm>
            <a:off x="7772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22" name="t"/>
          <p:cNvSpPr txBox="1"/>
          <p:nvPr/>
        </p:nvSpPr>
        <p:spPr>
          <a:xfrm>
            <a:off x="10972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real-time delivery tracking</a:t>
            </a:r>
          </a:p>
        </p:txBody>
      </p:sp>
      <p:sp>
        <p:nvSpPr>
          <p:cNvPr id="223" name="c"/>
          <p:cNvSpPr/>
          <p:nvPr/>
        </p:nvSpPr>
        <p:spPr>
          <a:xfrm>
            <a:off x="777240" y="37033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t"/>
          <p:cNvSpPr txBox="1"/>
          <p:nvPr/>
        </p:nvSpPr>
        <p:spPr>
          <a:xfrm>
            <a:off x="7772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25" name="t"/>
          <p:cNvSpPr txBox="1"/>
          <p:nvPr/>
        </p:nvSpPr>
        <p:spPr>
          <a:xfrm>
            <a:off x="10972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Opaque inventory management</a:t>
            </a:r>
          </a:p>
        </p:txBody>
      </p:sp>
      <p:sp>
        <p:nvSpPr>
          <p:cNvPr id="226" name="c"/>
          <p:cNvSpPr/>
          <p:nvPr/>
        </p:nvSpPr>
        <p:spPr>
          <a:xfrm>
            <a:off x="777240" y="41605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t"/>
          <p:cNvSpPr txBox="1"/>
          <p:nvPr/>
        </p:nvSpPr>
        <p:spPr>
          <a:xfrm>
            <a:off x="7772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28" name="t"/>
          <p:cNvSpPr txBox="1"/>
          <p:nvPr/>
        </p:nvSpPr>
        <p:spPr>
          <a:xfrm>
            <a:off x="10972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Zero priority for emergencies</a:t>
            </a:r>
          </a:p>
        </p:txBody>
      </p:sp>
      <p:sp>
        <p:nvSpPr>
          <p:cNvPr id="229" name="c"/>
          <p:cNvSpPr/>
          <p:nvPr/>
        </p:nvSpPr>
        <p:spPr>
          <a:xfrm>
            <a:off x="777240" y="46177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t"/>
          <p:cNvSpPr txBox="1"/>
          <p:nvPr/>
        </p:nvSpPr>
        <p:spPr>
          <a:xfrm>
            <a:off x="7772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1" name="t"/>
          <p:cNvSpPr txBox="1"/>
          <p:nvPr/>
        </p:nvSpPr>
        <p:spPr>
          <a:xfrm>
            <a:off x="10972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Paper-based record keeping</a:t>
            </a:r>
          </a:p>
        </p:txBody>
      </p:sp>
      <p:sp>
        <p:nvSpPr>
          <p:cNvPr id="232" name="c"/>
          <p:cNvSpPr/>
          <p:nvPr/>
        </p:nvSpPr>
        <p:spPr>
          <a:xfrm>
            <a:off x="777240" y="5074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3" name="t"/>
          <p:cNvSpPr txBox="1"/>
          <p:nvPr/>
        </p:nvSpPr>
        <p:spPr>
          <a:xfrm>
            <a:off x="7772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4" name="t"/>
          <p:cNvSpPr txBox="1"/>
          <p:nvPr/>
        </p:nvSpPr>
        <p:spPr>
          <a:xfrm>
            <a:off x="10972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customer communication</a:t>
            </a:r>
          </a:p>
        </p:txBody>
      </p:sp>
      <p:sp>
        <p:nvSpPr>
          <p:cNvPr id="235" name="c"/>
          <p:cNvSpPr/>
          <p:nvPr/>
        </p:nvSpPr>
        <p:spPr>
          <a:xfrm>
            <a:off x="777240" y="5532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6" name="t"/>
          <p:cNvSpPr txBox="1"/>
          <p:nvPr/>
        </p:nvSpPr>
        <p:spPr>
          <a:xfrm>
            <a:off x="7772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7" name="t"/>
          <p:cNvSpPr txBox="1"/>
          <p:nvPr/>
        </p:nvSpPr>
        <p:spPr>
          <a:xfrm>
            <a:off x="10972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Inefficient route planning</a:t>
            </a:r>
          </a:p>
        </p:txBody>
      </p:sp>
      <p:sp>
        <p:nvSpPr>
          <p:cNvPr id="238" name="c"/>
          <p:cNvSpPr/>
          <p:nvPr/>
        </p:nvSpPr>
        <p:spPr>
          <a:xfrm>
            <a:off x="5577840" y="3657600"/>
            <a:ext cx="640080" cy="640080"/>
          </a:xfrm>
          <a:prstGeom prst="ellipse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39" name="a"/>
          <p:cNvSpPr/>
          <p:nvPr/>
        </p:nvSpPr>
        <p:spPr>
          <a:xfrm>
            <a:off x="5669280" y="3840480"/>
            <a:ext cx="457200" cy="274320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0" name="s"/>
          <p:cNvSpPr/>
          <p:nvPr/>
        </p:nvSpPr>
        <p:spPr>
          <a:xfrm>
            <a:off x="64008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41" name="r"/>
          <p:cNvSpPr/>
          <p:nvPr/>
        </p:nvSpPr>
        <p:spPr>
          <a:xfrm>
            <a:off x="64008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2" name="r"/>
          <p:cNvSpPr/>
          <p:nvPr/>
        </p:nvSpPr>
        <p:spPr>
          <a:xfrm>
            <a:off x="6400800" y="2194560"/>
            <a:ext cx="502920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3" name="c"/>
          <p:cNvSpPr/>
          <p:nvPr/>
        </p:nvSpPr>
        <p:spPr>
          <a:xfrm>
            <a:off x="65836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44" name="t"/>
          <p:cNvSpPr txBox="1"/>
          <p:nvPr/>
        </p:nvSpPr>
        <p:spPr>
          <a:xfrm>
            <a:off x="65836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/>
              </a:rPr>
              <a:t>v</a:t>
            </a:r>
          </a:p>
        </p:txBody>
      </p:sp>
      <p:sp>
        <p:nvSpPr>
          <p:cNvPr id="245" name="t"/>
          <p:cNvSpPr txBox="1"/>
          <p:nvPr/>
        </p:nvSpPr>
        <p:spPr>
          <a:xfrm>
            <a:off x="7223760" y="1828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OUR DIGITAL SOLUTION</a:t>
            </a:r>
          </a:p>
        </p:txBody>
      </p:sp>
      <p:sp>
        <p:nvSpPr>
          <p:cNvPr id="246" name="t"/>
          <p:cNvSpPr txBox="1"/>
          <p:nvPr/>
        </p:nvSpPr>
        <p:spPr>
          <a:xfrm>
            <a:off x="7223760" y="2148840"/>
            <a:ext cx="4114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D0FFD0"/>
                </a:solidFill>
                <a:latin typeface="Calibri"/>
              </a:rPr>
              <a:t>Modern  -  Automated  -  Scalable</a:t>
            </a:r>
          </a:p>
        </p:txBody>
      </p:sp>
      <p:sp>
        <p:nvSpPr>
          <p:cNvPr id="247" name="c"/>
          <p:cNvSpPr/>
          <p:nvPr/>
        </p:nvSpPr>
        <p:spPr>
          <a:xfrm>
            <a:off x="6720840" y="2788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8" name="t"/>
          <p:cNvSpPr txBox="1"/>
          <p:nvPr/>
        </p:nvSpPr>
        <p:spPr>
          <a:xfrm>
            <a:off x="67208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49" name="t"/>
          <p:cNvSpPr txBox="1"/>
          <p:nvPr/>
        </p:nvSpPr>
        <p:spPr>
          <a:xfrm>
            <a:off x="70408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Online + WhatsApp booking</a:t>
            </a:r>
          </a:p>
        </p:txBody>
      </p:sp>
      <p:sp>
        <p:nvSpPr>
          <p:cNvPr id="250" name="c"/>
          <p:cNvSpPr/>
          <p:nvPr/>
        </p:nvSpPr>
        <p:spPr>
          <a:xfrm>
            <a:off x="6720840" y="3246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t"/>
          <p:cNvSpPr txBox="1"/>
          <p:nvPr/>
        </p:nvSpPr>
        <p:spPr>
          <a:xfrm>
            <a:off x="67208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52" name="t"/>
          <p:cNvSpPr txBox="1"/>
          <p:nvPr/>
        </p:nvSpPr>
        <p:spPr>
          <a:xfrm>
            <a:off x="70408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Live GPS delivery tracking</a:t>
            </a:r>
          </a:p>
        </p:txBody>
      </p:sp>
      <p:sp>
        <p:nvSpPr>
          <p:cNvPr id="253" name="c"/>
          <p:cNvSpPr/>
          <p:nvPr/>
        </p:nvSpPr>
        <p:spPr>
          <a:xfrm>
            <a:off x="6720840" y="37033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4" name="t"/>
          <p:cNvSpPr txBox="1"/>
          <p:nvPr/>
        </p:nvSpPr>
        <p:spPr>
          <a:xfrm>
            <a:off x="67208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55" name="t"/>
          <p:cNvSpPr txBox="1"/>
          <p:nvPr/>
        </p:nvSpPr>
        <p:spPr>
          <a:xfrm>
            <a:off x="70408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Automated inventory engine</a:t>
            </a:r>
          </a:p>
        </p:txBody>
      </p:sp>
      <p:sp>
        <p:nvSpPr>
          <p:cNvPr id="256" name="c"/>
          <p:cNvSpPr/>
          <p:nvPr/>
        </p:nvSpPr>
        <p:spPr>
          <a:xfrm>
            <a:off x="6720840" y="41605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t"/>
          <p:cNvSpPr txBox="1"/>
          <p:nvPr/>
        </p:nvSpPr>
        <p:spPr>
          <a:xfrm>
            <a:off x="67208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58" name="t"/>
          <p:cNvSpPr txBox="1"/>
          <p:nvPr/>
        </p:nvSpPr>
        <p:spPr>
          <a:xfrm>
            <a:off x="70408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Crisis prioritization system</a:t>
            </a:r>
          </a:p>
        </p:txBody>
      </p:sp>
      <p:sp>
        <p:nvSpPr>
          <p:cNvPr id="259" name="c"/>
          <p:cNvSpPr/>
          <p:nvPr/>
        </p:nvSpPr>
        <p:spPr>
          <a:xfrm>
            <a:off x="6720840" y="46177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0" name="t"/>
          <p:cNvSpPr txBox="1"/>
          <p:nvPr/>
        </p:nvSpPr>
        <p:spPr>
          <a:xfrm>
            <a:off x="67208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1" name="t"/>
          <p:cNvSpPr txBox="1"/>
          <p:nvPr/>
        </p:nvSpPr>
        <p:spPr>
          <a:xfrm>
            <a:off x="70408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Digital order management</a:t>
            </a:r>
          </a:p>
        </p:txBody>
      </p:sp>
      <p:sp>
        <p:nvSpPr>
          <p:cNvPr id="262" name="c"/>
          <p:cNvSpPr/>
          <p:nvPr/>
        </p:nvSpPr>
        <p:spPr>
          <a:xfrm>
            <a:off x="6720840" y="5074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67208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4" name="t"/>
          <p:cNvSpPr txBox="1"/>
          <p:nvPr/>
        </p:nvSpPr>
        <p:spPr>
          <a:xfrm>
            <a:off x="70408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Real-time agent-customer chat</a:t>
            </a:r>
          </a:p>
        </p:txBody>
      </p:sp>
      <p:sp>
        <p:nvSpPr>
          <p:cNvPr id="265" name="c"/>
          <p:cNvSpPr/>
          <p:nvPr/>
        </p:nvSpPr>
        <p:spPr>
          <a:xfrm>
            <a:off x="6720840" y="5532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6" name="t"/>
          <p:cNvSpPr txBox="1"/>
          <p:nvPr/>
        </p:nvSpPr>
        <p:spPr>
          <a:xfrm>
            <a:off x="67208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0408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Smart route optimization</a:t>
            </a:r>
          </a:p>
        </p:txBody>
      </p:sp>
      <p:sp>
        <p:nvSpPr>
          <p:cNvPr id="268" name="r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9" name="t"/>
          <p:cNvSpPr txBox="1"/>
          <p:nvPr/>
        </p:nvSpPr>
        <p:spPr>
          <a:xfrm>
            <a:off x="457200" y="6519672"/>
            <a:ext cx="1828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IMPACT</a:t>
            </a:r>
          </a:p>
        </p:txBody>
      </p:sp>
      <p:sp>
        <p:nvSpPr>
          <p:cNvPr id="270" name="t"/>
          <p:cNvSpPr txBox="1"/>
          <p:nvPr/>
        </p:nvSpPr>
        <p:spPr>
          <a:xfrm>
            <a:off x="1463040" y="6519672"/>
            <a:ext cx="9144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100% digital workflow  |  Real-time visibility  |  Emergency-aware  |  Cloud scalable</a:t>
            </a:r>
          </a:p>
        </p:txBody>
      </p:sp>
      <p:sp>
        <p:nvSpPr>
          <p:cNvPr id="271" name="t"/>
          <p:cNvSpPr txBox="1"/>
          <p:nvPr/>
        </p:nvSpPr>
        <p:spPr>
          <a:xfrm>
            <a:off x="11521440" y="6519672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73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74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5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04</a:t>
            </a:r>
          </a:p>
        </p:txBody>
      </p:sp>
      <p:sp>
        <p:nvSpPr>
          <p:cNvPr id="276" name="t"/>
          <p:cNvSpPr txBox="1"/>
          <p:nvPr/>
        </p:nvSpPr>
        <p:spPr>
          <a:xfrm>
            <a:off x="1371600" y="27432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SYSTEM DESIGN</a:t>
            </a:r>
          </a:p>
        </p:txBody>
      </p:sp>
      <p:sp>
        <p:nvSpPr>
          <p:cNvPr id="277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Architecture &amp; Workflow</a:t>
            </a:r>
          </a:p>
        </p:txBody>
      </p:sp>
      <p:sp>
        <p:nvSpPr>
          <p:cNvPr id="278" name="t"/>
          <p:cNvSpPr txBox="1"/>
          <p:nvPr/>
        </p:nvSpPr>
        <p:spPr>
          <a:xfrm>
            <a:off x="457200" y="13716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ARCHITECTURE FLOW</a:t>
            </a:r>
          </a:p>
        </p:txBody>
      </p:sp>
      <p:sp>
        <p:nvSpPr>
          <p:cNvPr id="279" name="ps"/>
          <p:cNvSpPr/>
          <p:nvPr/>
        </p:nvSpPr>
        <p:spPr>
          <a:xfrm>
            <a:off x="662940" y="17830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0" name="bdy"/>
          <p:cNvSpPr/>
          <p:nvPr/>
        </p:nvSpPr>
        <p:spPr>
          <a:xfrm>
            <a:off x="51892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1" name="t"/>
          <p:cNvSpPr txBox="1"/>
          <p:nvPr/>
        </p:nvSpPr>
        <p:spPr>
          <a:xfrm>
            <a:off x="45720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CUSTOMER</a:t>
            </a:r>
          </a:p>
        </p:txBody>
      </p:sp>
      <p:sp>
        <p:nvSpPr>
          <p:cNvPr id="282" name="ps"/>
          <p:cNvSpPr/>
          <p:nvPr/>
        </p:nvSpPr>
        <p:spPr>
          <a:xfrm>
            <a:off x="1988820" y="1783080"/>
            <a:ext cx="411480" cy="4114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bdy"/>
          <p:cNvSpPr/>
          <p:nvPr/>
        </p:nvSpPr>
        <p:spPr>
          <a:xfrm>
            <a:off x="184480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t"/>
          <p:cNvSpPr txBox="1"/>
          <p:nvPr/>
        </p:nvSpPr>
        <p:spPr>
          <a:xfrm>
            <a:off x="178308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ADMIN</a:t>
            </a:r>
          </a:p>
        </p:txBody>
      </p:sp>
      <p:sp>
        <p:nvSpPr>
          <p:cNvPr id="285" name="ps"/>
          <p:cNvSpPr/>
          <p:nvPr/>
        </p:nvSpPr>
        <p:spPr>
          <a:xfrm>
            <a:off x="3314700" y="17830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bdy"/>
          <p:cNvSpPr/>
          <p:nvPr/>
        </p:nvSpPr>
        <p:spPr>
          <a:xfrm>
            <a:off x="317068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7" name="t"/>
          <p:cNvSpPr txBox="1"/>
          <p:nvPr/>
        </p:nvSpPr>
        <p:spPr>
          <a:xfrm>
            <a:off x="310896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AGENT</a:t>
            </a:r>
          </a:p>
        </p:txBody>
      </p:sp>
      <p:cxnSp>
        <p:nvCxnSpPr>
          <p:cNvPr id="288" name="ln"/>
          <p:cNvCxnSpPr/>
          <p:nvPr/>
        </p:nvCxnSpPr>
        <p:spPr>
          <a:xfrm flipH="0" flipV="0">
            <a:off x="868680" y="2743200"/>
            <a:ext cx="1325880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289" name="ln"/>
          <p:cNvCxnSpPr/>
          <p:nvPr/>
        </p:nvCxnSpPr>
        <p:spPr>
          <a:xfrm flipH="0" flipV="0">
            <a:off x="2194560" y="2743200"/>
            <a:ext cx="1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290" name="ln"/>
          <p:cNvCxnSpPr/>
          <p:nvPr/>
        </p:nvCxnSpPr>
        <p:spPr>
          <a:xfrm flipH="1" flipV="0">
            <a:off x="2194560" y="2743200"/>
            <a:ext cx="1325880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291" name="ps"/>
          <p:cNvSpPr/>
          <p:nvPr/>
        </p:nvSpPr>
        <p:spPr>
          <a:xfrm>
            <a:off x="457200" y="3383280"/>
            <a:ext cx="4297680" cy="914400"/>
          </a:xfrm>
          <a:prstGeom prst="roundRect">
            <a:avLst/>
          </a:prstGeom>
          <a:solidFill>
            <a:srgbClr val="2A3F6A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292" name="ps"/>
          <p:cNvSpPr/>
          <p:nvPr/>
        </p:nvSpPr>
        <p:spPr>
          <a:xfrm>
            <a:off x="487200" y="3413280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ps"/>
          <p:cNvSpPr/>
          <p:nvPr/>
        </p:nvSpPr>
        <p:spPr>
          <a:xfrm>
            <a:off x="517200" y="3505991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ps"/>
          <p:cNvSpPr/>
          <p:nvPr/>
        </p:nvSpPr>
        <p:spPr>
          <a:xfrm>
            <a:off x="567200" y="3505991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ps"/>
          <p:cNvSpPr/>
          <p:nvPr/>
        </p:nvSpPr>
        <p:spPr>
          <a:xfrm>
            <a:off x="617200" y="3505991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ps"/>
          <p:cNvSpPr/>
          <p:nvPr/>
        </p:nvSpPr>
        <p:spPr>
          <a:xfrm>
            <a:off x="707200" y="3547346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ps"/>
          <p:cNvSpPr/>
          <p:nvPr/>
        </p:nvSpPr>
        <p:spPr>
          <a:xfrm>
            <a:off x="487200" y="3701413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ps"/>
          <p:cNvSpPr/>
          <p:nvPr/>
        </p:nvSpPr>
        <p:spPr>
          <a:xfrm>
            <a:off x="517200" y="3794124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ps"/>
          <p:cNvSpPr/>
          <p:nvPr/>
        </p:nvSpPr>
        <p:spPr>
          <a:xfrm>
            <a:off x="567200" y="3794124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ps"/>
          <p:cNvSpPr/>
          <p:nvPr/>
        </p:nvSpPr>
        <p:spPr>
          <a:xfrm>
            <a:off x="617200" y="3794124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ps"/>
          <p:cNvSpPr/>
          <p:nvPr/>
        </p:nvSpPr>
        <p:spPr>
          <a:xfrm>
            <a:off x="707200" y="3835479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ps"/>
          <p:cNvSpPr/>
          <p:nvPr/>
        </p:nvSpPr>
        <p:spPr>
          <a:xfrm>
            <a:off x="487200" y="3989546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ps"/>
          <p:cNvSpPr/>
          <p:nvPr/>
        </p:nvSpPr>
        <p:spPr>
          <a:xfrm>
            <a:off x="517200" y="4082257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ps"/>
          <p:cNvSpPr/>
          <p:nvPr/>
        </p:nvSpPr>
        <p:spPr>
          <a:xfrm>
            <a:off x="567200" y="4082257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ps"/>
          <p:cNvSpPr/>
          <p:nvPr/>
        </p:nvSpPr>
        <p:spPr>
          <a:xfrm>
            <a:off x="617200" y="4082257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ps"/>
          <p:cNvSpPr/>
          <p:nvPr/>
        </p:nvSpPr>
        <p:spPr>
          <a:xfrm>
            <a:off x="707200" y="4123612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t"/>
          <p:cNvSpPr txBox="1"/>
          <p:nvPr/>
        </p:nvSpPr>
        <p:spPr>
          <a:xfrm>
            <a:off x="457200" y="3429000"/>
            <a:ext cx="4297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EXPRESS.JS API SERVER</a:t>
            </a:r>
          </a:p>
        </p:txBody>
      </p:sp>
      <p:cxnSp>
        <p:nvCxnSpPr>
          <p:cNvPr id="308" name="ln"/>
          <p:cNvCxnSpPr/>
          <p:nvPr/>
        </p:nvCxnSpPr>
        <p:spPr>
          <a:xfrm flipH="0" flipV="0">
            <a:off x="155448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309" name="ln"/>
          <p:cNvCxnSpPr/>
          <p:nvPr/>
        </p:nvCxnSpPr>
        <p:spPr>
          <a:xfrm flipH="0" flipV="0">
            <a:off x="365760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310" name="da"/>
          <p:cNvSpPr/>
          <p:nvPr/>
        </p:nvSpPr>
        <p:spPr>
          <a:xfrm>
            <a:off x="141732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1" name="da"/>
          <p:cNvSpPr/>
          <p:nvPr/>
        </p:nvSpPr>
        <p:spPr>
          <a:xfrm>
            <a:off x="352044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ps"/>
          <p:cNvSpPr/>
          <p:nvPr/>
        </p:nvSpPr>
        <p:spPr>
          <a:xfrm>
            <a:off x="640080" y="4846320"/>
            <a:ext cx="1645920" cy="1280160"/>
          </a:xfrm>
          <a:prstGeom prst="can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13" name="t"/>
          <p:cNvSpPr txBox="1"/>
          <p:nvPr/>
        </p:nvSpPr>
        <p:spPr>
          <a:xfrm>
            <a:off x="640080" y="5286400"/>
            <a:ext cx="1645920" cy="30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314" name="ps"/>
          <p:cNvSpPr/>
          <p:nvPr/>
        </p:nvSpPr>
        <p:spPr>
          <a:xfrm>
            <a:off x="2834640" y="4846320"/>
            <a:ext cx="1645920" cy="1280160"/>
          </a:xfrm>
          <a:prstGeom prst="can">
            <a:avLst/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15" name="t"/>
          <p:cNvSpPr txBox="1"/>
          <p:nvPr/>
        </p:nvSpPr>
        <p:spPr>
          <a:xfrm>
            <a:off x="2834640" y="5286400"/>
            <a:ext cx="1645920" cy="30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316" name="t"/>
          <p:cNvSpPr txBox="1"/>
          <p:nvPr/>
        </p:nvSpPr>
        <p:spPr>
          <a:xfrm>
            <a:off x="457200" y="6217920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Primary DB</a:t>
            </a:r>
          </a:p>
        </p:txBody>
      </p:sp>
      <p:sp>
        <p:nvSpPr>
          <p:cNvPr id="317" name="t"/>
          <p:cNvSpPr txBox="1"/>
          <p:nvPr/>
        </p:nvSpPr>
        <p:spPr>
          <a:xfrm>
            <a:off x="2697480" y="6217920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Cache &amp; RT</a:t>
            </a:r>
          </a:p>
        </p:txBody>
      </p:sp>
      <p:sp>
        <p:nvSpPr>
          <p:cNvPr id="318" name="ps"/>
          <p:cNvSpPr/>
          <p:nvPr/>
        </p:nvSpPr>
        <p:spPr>
          <a:xfrm>
            <a:off x="548640" y="6483096"/>
            <a:ext cx="950976" cy="256031"/>
          </a:xfrm>
          <a:prstGeom prst="rect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19" name="ps"/>
          <p:cNvSpPr/>
          <p:nvPr/>
        </p:nvSpPr>
        <p:spPr>
          <a:xfrm>
            <a:off x="628640" y="6501384"/>
            <a:ext cx="30000" cy="230427"/>
          </a:xfrm>
          <a:prstGeom prst="rect">
            <a:avLst/>
          </a:prstGeom>
          <a:solidFill>
            <a:srgbClr val="C75C1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0" name="ps"/>
          <p:cNvSpPr/>
          <p:nvPr/>
        </p:nvSpPr>
        <p:spPr>
          <a:xfrm>
            <a:off x="1389616" y="6501384"/>
            <a:ext cx="30000" cy="230427"/>
          </a:xfrm>
          <a:prstGeom prst="rect">
            <a:avLst/>
          </a:prstGeom>
          <a:solidFill>
            <a:srgbClr val="C75C1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1" name="ps"/>
          <p:cNvSpPr/>
          <p:nvPr/>
        </p:nvSpPr>
        <p:spPr>
          <a:xfrm>
            <a:off x="1499616" y="6556248"/>
            <a:ext cx="512063" cy="182880"/>
          </a:xfrm>
          <a:prstGeom prst="roundRect">
            <a:avLst/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22" name="ps"/>
          <p:cNvSpPr/>
          <p:nvPr/>
        </p:nvSpPr>
        <p:spPr>
          <a:xfrm>
            <a:off x="1529616" y="6574535"/>
            <a:ext cx="358444" cy="1005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3" name="ps"/>
          <p:cNvSpPr/>
          <p:nvPr/>
        </p:nvSpPr>
        <p:spPr>
          <a:xfrm>
            <a:off x="691286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4" name="ps"/>
          <p:cNvSpPr/>
          <p:nvPr/>
        </p:nvSpPr>
        <p:spPr>
          <a:xfrm>
            <a:off x="1214323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5" name="ps"/>
          <p:cNvSpPr/>
          <p:nvPr/>
        </p:nvSpPr>
        <p:spPr>
          <a:xfrm>
            <a:off x="1755647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6" name="ps"/>
          <p:cNvSpPr/>
          <p:nvPr/>
        </p:nvSpPr>
        <p:spPr>
          <a:xfrm>
            <a:off x="715426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7" name="ps"/>
          <p:cNvSpPr/>
          <p:nvPr/>
        </p:nvSpPr>
        <p:spPr>
          <a:xfrm>
            <a:off x="1238463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8" name="ps"/>
          <p:cNvSpPr/>
          <p:nvPr/>
        </p:nvSpPr>
        <p:spPr>
          <a:xfrm>
            <a:off x="1779787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9" name="s"/>
          <p:cNvSpPr/>
          <p:nvPr/>
        </p:nvSpPr>
        <p:spPr>
          <a:xfrm>
            <a:off x="5120640" y="1371600"/>
            <a:ext cx="64008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330" name="r"/>
          <p:cNvSpPr/>
          <p:nvPr/>
        </p:nvSpPr>
        <p:spPr>
          <a:xfrm>
            <a:off x="5120640" y="137160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31" name="r"/>
          <p:cNvSpPr/>
          <p:nvPr/>
        </p:nvSpPr>
        <p:spPr>
          <a:xfrm>
            <a:off x="5120640" y="1828800"/>
            <a:ext cx="6400800" cy="1828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32" name="t"/>
          <p:cNvSpPr txBox="1"/>
          <p:nvPr/>
        </p:nvSpPr>
        <p:spPr>
          <a:xfrm>
            <a:off x="5349240" y="1508760"/>
            <a:ext cx="5943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ORDER LIFECYCLE FLOW</a:t>
            </a:r>
          </a:p>
        </p:txBody>
      </p:sp>
      <p:sp>
        <p:nvSpPr>
          <p:cNvPr id="333" name="ps"/>
          <p:cNvSpPr/>
          <p:nvPr/>
        </p:nvSpPr>
        <p:spPr>
          <a:xfrm>
            <a:off x="10927080" y="1463040"/>
            <a:ext cx="365760" cy="365760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34" name="ps"/>
          <p:cNvSpPr/>
          <p:nvPr/>
        </p:nvSpPr>
        <p:spPr>
          <a:xfrm>
            <a:off x="11018520" y="1778800"/>
            <a:ext cx="182880" cy="146304"/>
          </a:xfrm>
          <a:prstGeom prst="triangl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35" name="ps"/>
          <p:cNvSpPr/>
          <p:nvPr/>
        </p:nvSpPr>
        <p:spPr>
          <a:xfrm>
            <a:off x="11036808" y="157276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6" name="c"/>
          <p:cNvSpPr/>
          <p:nvPr/>
        </p:nvSpPr>
        <p:spPr>
          <a:xfrm>
            <a:off x="5440680" y="219456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7" name="t"/>
          <p:cNvSpPr txBox="1"/>
          <p:nvPr/>
        </p:nvSpPr>
        <p:spPr>
          <a:xfrm>
            <a:off x="5440680" y="224028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38" name="t"/>
          <p:cNvSpPr txBox="1"/>
          <p:nvPr/>
        </p:nvSpPr>
        <p:spPr>
          <a:xfrm>
            <a:off x="6126480" y="228600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Customer places order</a:t>
            </a:r>
          </a:p>
        </p:txBody>
      </p:sp>
      <p:cxnSp>
        <p:nvCxnSpPr>
          <p:cNvPr id="339" name="ln"/>
          <p:cNvCxnSpPr/>
          <p:nvPr/>
        </p:nvCxnSpPr>
        <p:spPr>
          <a:xfrm flipH="0" flipV="0">
            <a:off x="5669280" y="2651760"/>
            <a:ext cx="1" cy="109728"/>
          </a:xfrm>
          <a:prstGeom prst="line">
            <a:avLst/>
          </a:prstGeom>
          <a:ln w="20000">
            <a:solidFill>
              <a:srgbClr val="3B82F6"/>
            </a:solidFill>
          </a:ln>
        </p:spPr>
      </p:cxnSp>
      <p:sp>
        <p:nvSpPr>
          <p:cNvPr id="340" name="c"/>
          <p:cNvSpPr/>
          <p:nvPr/>
        </p:nvSpPr>
        <p:spPr>
          <a:xfrm>
            <a:off x="5440680" y="2761488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1" name="t"/>
          <p:cNvSpPr txBox="1"/>
          <p:nvPr/>
        </p:nvSpPr>
        <p:spPr>
          <a:xfrm>
            <a:off x="5440680" y="280720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42" name="t"/>
          <p:cNvSpPr txBox="1"/>
          <p:nvPr/>
        </p:nvSpPr>
        <p:spPr>
          <a:xfrm>
            <a:off x="6126480" y="285292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Admin assigns agent</a:t>
            </a:r>
          </a:p>
        </p:txBody>
      </p:sp>
      <p:cxnSp>
        <p:nvCxnSpPr>
          <p:cNvPr id="343" name="ln"/>
          <p:cNvCxnSpPr/>
          <p:nvPr/>
        </p:nvCxnSpPr>
        <p:spPr>
          <a:xfrm flipH="0" flipV="0">
            <a:off x="5669280" y="3218688"/>
            <a:ext cx="1" cy="109728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344" name="c"/>
          <p:cNvSpPr/>
          <p:nvPr/>
        </p:nvSpPr>
        <p:spPr>
          <a:xfrm>
            <a:off x="5440680" y="3328416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5" name="t"/>
          <p:cNvSpPr txBox="1"/>
          <p:nvPr/>
        </p:nvSpPr>
        <p:spPr>
          <a:xfrm>
            <a:off x="5440680" y="3374136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46" name="t"/>
          <p:cNvSpPr txBox="1"/>
          <p:nvPr/>
        </p:nvSpPr>
        <p:spPr>
          <a:xfrm>
            <a:off x="6126480" y="3419856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Agent picks cylinder</a:t>
            </a:r>
          </a:p>
        </p:txBody>
      </p:sp>
      <p:cxnSp>
        <p:nvCxnSpPr>
          <p:cNvPr id="347" name="ln"/>
          <p:cNvCxnSpPr/>
          <p:nvPr/>
        </p:nvCxnSpPr>
        <p:spPr>
          <a:xfrm flipH="0" flipV="0">
            <a:off x="5669280" y="3785616"/>
            <a:ext cx="1" cy="109728"/>
          </a:xfrm>
          <a:prstGeom prst="line">
            <a:avLst/>
          </a:prstGeom>
          <a:ln w="20000">
            <a:solidFill>
              <a:srgbClr val="8B5CF6"/>
            </a:solidFill>
          </a:ln>
        </p:spPr>
      </p:cxnSp>
      <p:sp>
        <p:nvSpPr>
          <p:cNvPr id="348" name="c"/>
          <p:cNvSpPr/>
          <p:nvPr/>
        </p:nvSpPr>
        <p:spPr>
          <a:xfrm>
            <a:off x="5440680" y="3895344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49" name="t"/>
          <p:cNvSpPr txBox="1"/>
          <p:nvPr/>
        </p:nvSpPr>
        <p:spPr>
          <a:xfrm>
            <a:off x="5440680" y="3941064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50" name="t"/>
          <p:cNvSpPr txBox="1"/>
          <p:nvPr/>
        </p:nvSpPr>
        <p:spPr>
          <a:xfrm>
            <a:off x="6126480" y="3986784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GPS tracking begins</a:t>
            </a:r>
          </a:p>
        </p:txBody>
      </p:sp>
      <p:cxnSp>
        <p:nvCxnSpPr>
          <p:cNvPr id="351" name="ln"/>
          <p:cNvCxnSpPr/>
          <p:nvPr/>
        </p:nvCxnSpPr>
        <p:spPr>
          <a:xfrm flipH="0" flipV="0">
            <a:off x="5669280" y="4352544"/>
            <a:ext cx="1" cy="109728"/>
          </a:xfrm>
          <a:prstGeom prst="line">
            <a:avLst/>
          </a:prstGeom>
          <a:ln w="20000">
            <a:solidFill>
              <a:srgbClr val="FBBF24"/>
            </a:solidFill>
          </a:ln>
        </p:spPr>
      </p:cxnSp>
      <p:sp>
        <p:nvSpPr>
          <p:cNvPr id="352" name="c"/>
          <p:cNvSpPr/>
          <p:nvPr/>
        </p:nvSpPr>
        <p:spPr>
          <a:xfrm>
            <a:off x="5440680" y="4462272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53" name="t"/>
          <p:cNvSpPr txBox="1"/>
          <p:nvPr/>
        </p:nvSpPr>
        <p:spPr>
          <a:xfrm>
            <a:off x="5440680" y="4507992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54" name="t"/>
          <p:cNvSpPr txBox="1"/>
          <p:nvPr/>
        </p:nvSpPr>
        <p:spPr>
          <a:xfrm>
            <a:off x="6126480" y="4553712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Live chat enabled</a:t>
            </a:r>
          </a:p>
        </p:txBody>
      </p:sp>
      <p:cxnSp>
        <p:nvCxnSpPr>
          <p:cNvPr id="355" name="ln"/>
          <p:cNvCxnSpPr/>
          <p:nvPr/>
        </p:nvCxnSpPr>
        <p:spPr>
          <a:xfrm flipH="0" flipV="0">
            <a:off x="5669280" y="4919472"/>
            <a:ext cx="1" cy="109728"/>
          </a:xfrm>
          <a:prstGeom prst="line">
            <a:avLst/>
          </a:prstGeom>
          <a:ln w="20000">
            <a:solidFill>
              <a:srgbClr val="14B8A6"/>
            </a:solidFill>
          </a:ln>
        </p:spPr>
      </p:cxnSp>
      <p:sp>
        <p:nvSpPr>
          <p:cNvPr id="356" name="c"/>
          <p:cNvSpPr/>
          <p:nvPr/>
        </p:nvSpPr>
        <p:spPr>
          <a:xfrm>
            <a:off x="5440680" y="502920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57" name="t"/>
          <p:cNvSpPr txBox="1"/>
          <p:nvPr/>
        </p:nvSpPr>
        <p:spPr>
          <a:xfrm>
            <a:off x="5440680" y="507492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58" name="t"/>
          <p:cNvSpPr txBox="1"/>
          <p:nvPr/>
        </p:nvSpPr>
        <p:spPr>
          <a:xfrm>
            <a:off x="6126480" y="512064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Delivery + OTP verify</a:t>
            </a:r>
          </a:p>
        </p:txBody>
      </p:sp>
      <p:cxnSp>
        <p:nvCxnSpPr>
          <p:cNvPr id="359" name="ln"/>
          <p:cNvCxnSpPr/>
          <p:nvPr/>
        </p:nvCxnSpPr>
        <p:spPr>
          <a:xfrm flipH="0" flipV="0">
            <a:off x="5669280" y="5486400"/>
            <a:ext cx="1" cy="109728"/>
          </a:xfrm>
          <a:prstGeom prst="line">
            <a:avLst/>
          </a:prstGeom>
          <a:ln w="20000">
            <a:solidFill>
              <a:srgbClr val="1E40AF"/>
            </a:solidFill>
          </a:ln>
        </p:spPr>
      </p:cxnSp>
      <p:sp>
        <p:nvSpPr>
          <p:cNvPr id="360" name="c"/>
          <p:cNvSpPr/>
          <p:nvPr/>
        </p:nvSpPr>
        <p:spPr>
          <a:xfrm>
            <a:off x="5440680" y="559612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1" name="t"/>
          <p:cNvSpPr txBox="1"/>
          <p:nvPr/>
        </p:nvSpPr>
        <p:spPr>
          <a:xfrm>
            <a:off x="5440680" y="564184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62" name="t"/>
          <p:cNvSpPr txBox="1"/>
          <p:nvPr/>
        </p:nvSpPr>
        <p:spPr>
          <a:xfrm>
            <a:off x="6126480" y="568756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Order completed!</a:t>
            </a:r>
          </a:p>
        </p:txBody>
      </p:sp>
      <p:sp>
        <p:nvSpPr>
          <p:cNvPr id="363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transition spd="med">
    <p:wipe dir="l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5" name="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6" name="c"/>
          <p:cNvSpPr/>
          <p:nvPr/>
        </p:nvSpPr>
        <p:spPr>
          <a:xfrm>
            <a:off x="10058400" y="-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367" name="ps"/>
          <p:cNvSpPr/>
          <p:nvPr/>
        </p:nvSpPr>
        <p:spPr>
          <a:xfrm>
            <a:off x="10515600" y="274320"/>
            <a:ext cx="1371600" cy="822960"/>
          </a:xfrm>
          <a:prstGeom prst="cloud">
            <a:avLst/>
          </a:prstGeom>
          <a:solidFill>
            <a:srgbClr val="EA580C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68" name="t"/>
          <p:cNvSpPr txBox="1"/>
          <p:nvPr/>
        </p:nvSpPr>
        <p:spPr>
          <a:xfrm>
            <a:off x="36576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5200" b="1" dirty="0">
                <a:solidFill>
                  <a:srgbClr val="F97316"/>
                </a:solidFill>
                <a:latin typeface="Calibri"/>
              </a:rPr>
              <a:t>05</a:t>
            </a:r>
          </a:p>
        </p:txBody>
      </p:sp>
      <p:sp>
        <p:nvSpPr>
          <p:cNvPr id="369" name="t"/>
          <p:cNvSpPr txBox="1"/>
          <p:nvPr/>
        </p:nvSpPr>
        <p:spPr>
          <a:xfrm>
            <a:off x="137160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TECH STACK</a:t>
            </a:r>
          </a:p>
        </p:txBody>
      </p:sp>
      <p:sp>
        <p:nvSpPr>
          <p:cNvPr id="370" name="t"/>
          <p:cNvSpPr txBox="1"/>
          <p:nvPr/>
        </p:nvSpPr>
        <p:spPr>
          <a:xfrm>
            <a:off x="137160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Modern Technologies</a:t>
            </a:r>
          </a:p>
        </p:txBody>
      </p:sp>
      <p:sp>
        <p:nvSpPr>
          <p:cNvPr id="371" name="t"/>
          <p:cNvSpPr txBox="1"/>
          <p:nvPr/>
        </p:nvSpPr>
        <p:spPr>
          <a:xfrm>
            <a:off x="1371600" y="1280160"/>
            <a:ext cx="10058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3D-illustrated tech stack for production scalability</a:t>
            </a:r>
          </a:p>
        </p:txBody>
      </p:sp>
      <p:sp>
        <p:nvSpPr>
          <p:cNvPr id="372" name="s"/>
          <p:cNvSpPr/>
          <p:nvPr/>
        </p:nvSpPr>
        <p:spPr>
          <a:xfrm>
            <a:off x="36576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73" name="r"/>
          <p:cNvSpPr/>
          <p:nvPr/>
        </p:nvSpPr>
        <p:spPr>
          <a:xfrm>
            <a:off x="365760" y="1828800"/>
            <a:ext cx="26517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4" name="ps"/>
          <p:cNvSpPr/>
          <p:nvPr/>
        </p:nvSpPr>
        <p:spPr>
          <a:xfrm>
            <a:off x="54864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10B981"/>
              </a:gs>
              <a:gs pos="100000">
                <a:srgbClr val="0F9D58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75" name="t"/>
          <p:cNvSpPr txBox="1"/>
          <p:nvPr/>
        </p:nvSpPr>
        <p:spPr>
          <a:xfrm>
            <a:off x="54864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376" name="t"/>
          <p:cNvSpPr txBox="1"/>
          <p:nvPr/>
        </p:nvSpPr>
        <p:spPr>
          <a:xfrm>
            <a:off x="155448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Node.js</a:t>
            </a:r>
          </a:p>
        </p:txBody>
      </p:sp>
      <p:sp>
        <p:nvSpPr>
          <p:cNvPr id="377" name="r"/>
          <p:cNvSpPr/>
          <p:nvPr/>
        </p:nvSpPr>
        <p:spPr>
          <a:xfrm>
            <a:off x="155448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78" name="t"/>
          <p:cNvSpPr txBox="1"/>
          <p:nvPr/>
        </p:nvSpPr>
        <p:spPr>
          <a:xfrm>
            <a:off x="155448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Runtime</a:t>
            </a:r>
          </a:p>
        </p:txBody>
      </p:sp>
      <p:sp>
        <p:nvSpPr>
          <p:cNvPr id="379" name="t"/>
          <p:cNvSpPr txBox="1"/>
          <p:nvPr/>
        </p:nvSpPr>
        <p:spPr>
          <a:xfrm>
            <a:off x="54864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380" name="s"/>
          <p:cNvSpPr/>
          <p:nvPr/>
        </p:nvSpPr>
        <p:spPr>
          <a:xfrm>
            <a:off x="315468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81" name="r"/>
          <p:cNvSpPr/>
          <p:nvPr/>
        </p:nvSpPr>
        <p:spPr>
          <a:xfrm>
            <a:off x="3154680" y="1828800"/>
            <a:ext cx="26517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2" name="ps"/>
          <p:cNvSpPr/>
          <p:nvPr/>
        </p:nvSpPr>
        <p:spPr>
          <a:xfrm>
            <a:off x="333756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3B82F6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83" name="t"/>
          <p:cNvSpPr txBox="1"/>
          <p:nvPr/>
        </p:nvSpPr>
        <p:spPr>
          <a:xfrm>
            <a:off x="333756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84" name="t"/>
          <p:cNvSpPr txBox="1"/>
          <p:nvPr/>
        </p:nvSpPr>
        <p:spPr>
          <a:xfrm>
            <a:off x="434340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Express</a:t>
            </a:r>
          </a:p>
        </p:txBody>
      </p:sp>
      <p:sp>
        <p:nvSpPr>
          <p:cNvPr id="385" name="r"/>
          <p:cNvSpPr/>
          <p:nvPr/>
        </p:nvSpPr>
        <p:spPr>
          <a:xfrm>
            <a:off x="434340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86" name="t"/>
          <p:cNvSpPr txBox="1"/>
          <p:nvPr/>
        </p:nvSpPr>
        <p:spPr>
          <a:xfrm>
            <a:off x="434340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Framework</a:t>
            </a:r>
          </a:p>
        </p:txBody>
      </p:sp>
      <p:sp>
        <p:nvSpPr>
          <p:cNvPr id="387" name="t"/>
          <p:cNvSpPr txBox="1"/>
          <p:nvPr/>
        </p:nvSpPr>
        <p:spPr>
          <a:xfrm>
            <a:off x="333756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388" name="s"/>
          <p:cNvSpPr/>
          <p:nvPr/>
        </p:nvSpPr>
        <p:spPr>
          <a:xfrm>
            <a:off x="594360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89" name="r"/>
          <p:cNvSpPr/>
          <p:nvPr/>
        </p:nvSpPr>
        <p:spPr>
          <a:xfrm>
            <a:off x="5943600" y="1828800"/>
            <a:ext cx="2651760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390" name="ps"/>
          <p:cNvSpPr/>
          <p:nvPr/>
        </p:nvSpPr>
        <p:spPr>
          <a:xfrm>
            <a:off x="612648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228B22"/>
              </a:gs>
              <a:gs pos="100000">
                <a:srgbClr val="0F5132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91" name="t"/>
          <p:cNvSpPr txBox="1"/>
          <p:nvPr/>
        </p:nvSpPr>
        <p:spPr>
          <a:xfrm>
            <a:off x="612648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92" name="t"/>
          <p:cNvSpPr txBox="1"/>
          <p:nvPr/>
        </p:nvSpPr>
        <p:spPr>
          <a:xfrm>
            <a:off x="713232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393" name="r"/>
          <p:cNvSpPr/>
          <p:nvPr/>
        </p:nvSpPr>
        <p:spPr>
          <a:xfrm>
            <a:off x="713232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94" name="t"/>
          <p:cNvSpPr txBox="1"/>
          <p:nvPr/>
        </p:nvSpPr>
        <p:spPr>
          <a:xfrm>
            <a:off x="713232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Database</a:t>
            </a:r>
          </a:p>
        </p:txBody>
      </p:sp>
      <p:sp>
        <p:nvSpPr>
          <p:cNvPr id="395" name="t"/>
          <p:cNvSpPr txBox="1"/>
          <p:nvPr/>
        </p:nvSpPr>
        <p:spPr>
          <a:xfrm>
            <a:off x="612648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396" name="s"/>
          <p:cNvSpPr/>
          <p:nvPr/>
        </p:nvSpPr>
        <p:spPr>
          <a:xfrm>
            <a:off x="873252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97" name="r"/>
          <p:cNvSpPr/>
          <p:nvPr/>
        </p:nvSpPr>
        <p:spPr>
          <a:xfrm>
            <a:off x="8732520" y="1828800"/>
            <a:ext cx="2651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398" name="ps"/>
          <p:cNvSpPr/>
          <p:nvPr/>
        </p:nvSpPr>
        <p:spPr>
          <a:xfrm>
            <a:off x="891540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EF4444"/>
              </a:gs>
              <a:gs pos="100000">
                <a:srgbClr val="991B1B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99" name="t"/>
          <p:cNvSpPr txBox="1"/>
          <p:nvPr/>
        </p:nvSpPr>
        <p:spPr>
          <a:xfrm>
            <a:off x="891540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400" name="t"/>
          <p:cNvSpPr txBox="1"/>
          <p:nvPr/>
        </p:nvSpPr>
        <p:spPr>
          <a:xfrm>
            <a:off x="992124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401" name="r"/>
          <p:cNvSpPr/>
          <p:nvPr/>
        </p:nvSpPr>
        <p:spPr>
          <a:xfrm>
            <a:off x="992124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02" name="t"/>
          <p:cNvSpPr txBox="1"/>
          <p:nvPr/>
        </p:nvSpPr>
        <p:spPr>
          <a:xfrm>
            <a:off x="992124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Cache</a:t>
            </a:r>
          </a:p>
        </p:txBody>
      </p:sp>
      <p:sp>
        <p:nvSpPr>
          <p:cNvPr id="403" name="t"/>
          <p:cNvSpPr txBox="1"/>
          <p:nvPr/>
        </p:nvSpPr>
        <p:spPr>
          <a:xfrm>
            <a:off x="891540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04" name="s"/>
          <p:cNvSpPr/>
          <p:nvPr/>
        </p:nvSpPr>
        <p:spPr>
          <a:xfrm>
            <a:off x="36576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05" name="r"/>
          <p:cNvSpPr/>
          <p:nvPr/>
        </p:nvSpPr>
        <p:spPr>
          <a:xfrm>
            <a:off x="365760" y="3931920"/>
            <a:ext cx="26517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06" name="ps"/>
          <p:cNvSpPr/>
          <p:nvPr/>
        </p:nvSpPr>
        <p:spPr>
          <a:xfrm>
            <a:off x="54864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8B5CF6"/>
              </a:gs>
              <a:gs pos="100000">
                <a:srgbClr val="5B21B6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07" name="t"/>
          <p:cNvSpPr txBox="1"/>
          <p:nvPr/>
        </p:nvSpPr>
        <p:spPr>
          <a:xfrm>
            <a:off x="54864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408" name="t"/>
          <p:cNvSpPr txBox="1"/>
          <p:nvPr/>
        </p:nvSpPr>
        <p:spPr>
          <a:xfrm>
            <a:off x="155448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Socket.IO</a:t>
            </a:r>
          </a:p>
        </p:txBody>
      </p:sp>
      <p:sp>
        <p:nvSpPr>
          <p:cNvPr id="409" name="r"/>
          <p:cNvSpPr/>
          <p:nvPr/>
        </p:nvSpPr>
        <p:spPr>
          <a:xfrm>
            <a:off x="155448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10" name="t"/>
          <p:cNvSpPr txBox="1"/>
          <p:nvPr/>
        </p:nvSpPr>
        <p:spPr>
          <a:xfrm>
            <a:off x="155448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WebSocket</a:t>
            </a:r>
          </a:p>
        </p:txBody>
      </p:sp>
      <p:sp>
        <p:nvSpPr>
          <p:cNvPr id="411" name="t"/>
          <p:cNvSpPr txBox="1"/>
          <p:nvPr/>
        </p:nvSpPr>
        <p:spPr>
          <a:xfrm>
            <a:off x="54864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12" name="s"/>
          <p:cNvSpPr/>
          <p:nvPr/>
        </p:nvSpPr>
        <p:spPr>
          <a:xfrm>
            <a:off x="315468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13" name="r"/>
          <p:cNvSpPr/>
          <p:nvPr/>
        </p:nvSpPr>
        <p:spPr>
          <a:xfrm>
            <a:off x="3154680" y="3931920"/>
            <a:ext cx="265176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4" name="ps"/>
          <p:cNvSpPr/>
          <p:nvPr/>
        </p:nvSpPr>
        <p:spPr>
          <a:xfrm>
            <a:off x="333756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1E40AF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15" name="t"/>
          <p:cNvSpPr txBox="1"/>
          <p:nvPr/>
        </p:nvSpPr>
        <p:spPr>
          <a:xfrm>
            <a:off x="333756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16" name="t"/>
          <p:cNvSpPr txBox="1"/>
          <p:nvPr/>
        </p:nvSpPr>
        <p:spPr>
          <a:xfrm>
            <a:off x="434340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417" name="r"/>
          <p:cNvSpPr/>
          <p:nvPr/>
        </p:nvSpPr>
        <p:spPr>
          <a:xfrm>
            <a:off x="434340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18" name="t"/>
          <p:cNvSpPr txBox="1"/>
          <p:nvPr/>
        </p:nvSpPr>
        <p:spPr>
          <a:xfrm>
            <a:off x="434340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Container</a:t>
            </a:r>
          </a:p>
        </p:txBody>
      </p:sp>
      <p:sp>
        <p:nvSpPr>
          <p:cNvPr id="419" name="t"/>
          <p:cNvSpPr txBox="1"/>
          <p:nvPr/>
        </p:nvSpPr>
        <p:spPr>
          <a:xfrm>
            <a:off x="333756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20" name="s"/>
          <p:cNvSpPr/>
          <p:nvPr/>
        </p:nvSpPr>
        <p:spPr>
          <a:xfrm>
            <a:off x="594360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21" name="r"/>
          <p:cNvSpPr/>
          <p:nvPr/>
        </p:nvSpPr>
        <p:spPr>
          <a:xfrm>
            <a:off x="5943600" y="3931920"/>
            <a:ext cx="2651760" cy="54864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22" name="ps"/>
          <p:cNvSpPr/>
          <p:nvPr/>
        </p:nvSpPr>
        <p:spPr>
          <a:xfrm>
            <a:off x="612648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326CE5"/>
              </a:gs>
              <a:gs pos="100000">
                <a:srgbClr val="1E3A8A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23" name="t"/>
          <p:cNvSpPr txBox="1"/>
          <p:nvPr/>
        </p:nvSpPr>
        <p:spPr>
          <a:xfrm>
            <a:off x="612648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424" name="t"/>
          <p:cNvSpPr txBox="1"/>
          <p:nvPr/>
        </p:nvSpPr>
        <p:spPr>
          <a:xfrm>
            <a:off x="713232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425" name="r"/>
          <p:cNvSpPr/>
          <p:nvPr/>
        </p:nvSpPr>
        <p:spPr>
          <a:xfrm>
            <a:off x="713232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26" name="t"/>
          <p:cNvSpPr txBox="1"/>
          <p:nvPr/>
        </p:nvSpPr>
        <p:spPr>
          <a:xfrm>
            <a:off x="713232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Orchestration</a:t>
            </a:r>
          </a:p>
        </p:txBody>
      </p:sp>
      <p:sp>
        <p:nvSpPr>
          <p:cNvPr id="427" name="t"/>
          <p:cNvSpPr txBox="1"/>
          <p:nvPr/>
        </p:nvSpPr>
        <p:spPr>
          <a:xfrm>
            <a:off x="612648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28" name="s"/>
          <p:cNvSpPr/>
          <p:nvPr/>
        </p:nvSpPr>
        <p:spPr>
          <a:xfrm>
            <a:off x="873252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29" name="r"/>
          <p:cNvSpPr/>
          <p:nvPr/>
        </p:nvSpPr>
        <p:spPr>
          <a:xfrm>
            <a:off x="8732520" y="3931920"/>
            <a:ext cx="26517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0" name="ps"/>
          <p:cNvSpPr/>
          <p:nvPr/>
        </p:nvSpPr>
        <p:spPr>
          <a:xfrm>
            <a:off x="891540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31" name="t"/>
          <p:cNvSpPr txBox="1"/>
          <p:nvPr/>
        </p:nvSpPr>
        <p:spPr>
          <a:xfrm>
            <a:off x="891540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432" name="t"/>
          <p:cNvSpPr txBox="1"/>
          <p:nvPr/>
        </p:nvSpPr>
        <p:spPr>
          <a:xfrm>
            <a:off x="992124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JWT</a:t>
            </a:r>
          </a:p>
        </p:txBody>
      </p:sp>
      <p:sp>
        <p:nvSpPr>
          <p:cNvPr id="433" name="r"/>
          <p:cNvSpPr/>
          <p:nvPr/>
        </p:nvSpPr>
        <p:spPr>
          <a:xfrm>
            <a:off x="992124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34" name="t"/>
          <p:cNvSpPr txBox="1"/>
          <p:nvPr/>
        </p:nvSpPr>
        <p:spPr>
          <a:xfrm>
            <a:off x="992124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Auth</a:t>
            </a:r>
          </a:p>
        </p:txBody>
      </p:sp>
      <p:sp>
        <p:nvSpPr>
          <p:cNvPr id="435" name="t"/>
          <p:cNvSpPr txBox="1"/>
          <p:nvPr/>
        </p:nvSpPr>
        <p:spPr>
          <a:xfrm>
            <a:off x="891540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36" name="s"/>
          <p:cNvSpPr/>
          <p:nvPr/>
        </p:nvSpPr>
        <p:spPr>
          <a:xfrm>
            <a:off x="365760" y="59436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37" name="r"/>
          <p:cNvSpPr/>
          <p:nvPr/>
        </p:nvSpPr>
        <p:spPr>
          <a:xfrm>
            <a:off x="365760" y="5943600"/>
            <a:ext cx="11155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8" name="t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SUPPORTING LIBRARIES</a:t>
            </a:r>
          </a:p>
        </p:txBody>
      </p:sp>
      <p:sp>
        <p:nvSpPr>
          <p:cNvPr id="439" name="t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bcrypt | Helmet | CORS | Zod | Winston | Twilio | SendGrid | Razorpay | AWS S3 | Jest | Swagger</a:t>
            </a:r>
          </a:p>
        </p:txBody>
      </p:sp>
      <p:sp>
        <p:nvSpPr>
          <p:cNvPr id="440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442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443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4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06</a:t>
            </a:r>
          </a:p>
        </p:txBody>
      </p:sp>
      <p:sp>
        <p:nvSpPr>
          <p:cNvPr id="445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WHAT MAKES US DIFFERENT</a:t>
            </a:r>
          </a:p>
        </p:txBody>
      </p:sp>
      <p:sp>
        <p:nvSpPr>
          <p:cNvPr id="446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Unique Features</a:t>
            </a:r>
          </a:p>
        </p:txBody>
      </p:sp>
      <p:sp>
        <p:nvSpPr>
          <p:cNvPr id="447" name="s"/>
          <p:cNvSpPr/>
          <p:nvPr/>
        </p:nvSpPr>
        <p:spPr>
          <a:xfrm>
            <a:off x="365760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48" name="r"/>
          <p:cNvSpPr/>
          <p:nvPr/>
        </p:nvSpPr>
        <p:spPr>
          <a:xfrm>
            <a:off x="365760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9" name="r"/>
          <p:cNvSpPr/>
          <p:nvPr/>
        </p:nvSpPr>
        <p:spPr>
          <a:xfrm>
            <a:off x="365760" y="1920240"/>
            <a:ext cx="21945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50" name="c"/>
          <p:cNvSpPr/>
          <p:nvPr/>
        </p:nvSpPr>
        <p:spPr>
          <a:xfrm>
            <a:off x="594360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1" name="t"/>
          <p:cNvSpPr txBox="1"/>
          <p:nvPr/>
        </p:nvSpPr>
        <p:spPr>
          <a:xfrm>
            <a:off x="594360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/>
              </a:rPr>
              <a:t>01</a:t>
            </a:r>
          </a:p>
        </p:txBody>
      </p:sp>
      <p:sp>
        <p:nvSpPr>
          <p:cNvPr id="452" name="t"/>
          <p:cNvSpPr txBox="1"/>
          <p:nvPr/>
        </p:nvSpPr>
        <p:spPr>
          <a:xfrm>
            <a:off x="1234440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453" name="t"/>
          <p:cNvSpPr txBox="1"/>
          <p:nvPr/>
        </p:nvSpPr>
        <p:spPr>
          <a:xfrm>
            <a:off x="1234440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Booking</a:t>
            </a:r>
          </a:p>
        </p:txBody>
      </p:sp>
      <p:sp>
        <p:nvSpPr>
          <p:cNvPr id="454" name="t"/>
          <p:cNvSpPr txBox="1"/>
          <p:nvPr/>
        </p:nvSpPr>
        <p:spPr>
          <a:xfrm>
            <a:off x="548640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API-based booking</a:t>
            </a:r>
          </a:p>
        </p:txBody>
      </p:sp>
      <p:sp>
        <p:nvSpPr>
          <p:cNvPr id="455" name="r"/>
          <p:cNvSpPr/>
          <p:nvPr/>
        </p:nvSpPr>
        <p:spPr>
          <a:xfrm>
            <a:off x="365760" y="3785616"/>
            <a:ext cx="21945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56" name="s"/>
          <p:cNvSpPr/>
          <p:nvPr/>
        </p:nvSpPr>
        <p:spPr>
          <a:xfrm>
            <a:off x="2679192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57" name="r"/>
          <p:cNvSpPr/>
          <p:nvPr/>
        </p:nvSpPr>
        <p:spPr>
          <a:xfrm>
            <a:off x="2679192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58" name="r"/>
          <p:cNvSpPr/>
          <p:nvPr/>
        </p:nvSpPr>
        <p:spPr>
          <a:xfrm>
            <a:off x="2679192" y="1920240"/>
            <a:ext cx="219456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59" name="c"/>
          <p:cNvSpPr/>
          <p:nvPr/>
        </p:nvSpPr>
        <p:spPr>
          <a:xfrm>
            <a:off x="2907792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60" name="t"/>
          <p:cNvSpPr txBox="1"/>
          <p:nvPr/>
        </p:nvSpPr>
        <p:spPr>
          <a:xfrm>
            <a:off x="2907792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461" name="t"/>
          <p:cNvSpPr txBox="1"/>
          <p:nvPr/>
        </p:nvSpPr>
        <p:spPr>
          <a:xfrm>
            <a:off x="3547872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462" name="t"/>
          <p:cNvSpPr txBox="1"/>
          <p:nvPr/>
        </p:nvSpPr>
        <p:spPr>
          <a:xfrm>
            <a:off x="3547872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463" name="t"/>
          <p:cNvSpPr txBox="1"/>
          <p:nvPr/>
        </p:nvSpPr>
        <p:spPr>
          <a:xfrm>
            <a:off x="2862072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Buy accessories</a:t>
            </a:r>
          </a:p>
        </p:txBody>
      </p:sp>
      <p:sp>
        <p:nvSpPr>
          <p:cNvPr id="464" name="r"/>
          <p:cNvSpPr/>
          <p:nvPr/>
        </p:nvSpPr>
        <p:spPr>
          <a:xfrm>
            <a:off x="2679192" y="3785616"/>
            <a:ext cx="21945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65" name="s"/>
          <p:cNvSpPr/>
          <p:nvPr/>
        </p:nvSpPr>
        <p:spPr>
          <a:xfrm>
            <a:off x="4992624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66" name="r"/>
          <p:cNvSpPr/>
          <p:nvPr/>
        </p:nvSpPr>
        <p:spPr>
          <a:xfrm>
            <a:off x="4992624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7" name="r"/>
          <p:cNvSpPr/>
          <p:nvPr/>
        </p:nvSpPr>
        <p:spPr>
          <a:xfrm>
            <a:off x="4992624" y="1920240"/>
            <a:ext cx="219456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8" name="c"/>
          <p:cNvSpPr/>
          <p:nvPr/>
        </p:nvSpPr>
        <p:spPr>
          <a:xfrm>
            <a:off x="5221224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69" name="t"/>
          <p:cNvSpPr txBox="1"/>
          <p:nvPr/>
        </p:nvSpPr>
        <p:spPr>
          <a:xfrm>
            <a:off x="5221224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03</a:t>
            </a:r>
          </a:p>
        </p:txBody>
      </p:sp>
      <p:sp>
        <p:nvSpPr>
          <p:cNvPr id="470" name="t"/>
          <p:cNvSpPr txBox="1"/>
          <p:nvPr/>
        </p:nvSpPr>
        <p:spPr>
          <a:xfrm>
            <a:off x="5861304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Live GPS</a:t>
            </a:r>
          </a:p>
        </p:txBody>
      </p:sp>
      <p:sp>
        <p:nvSpPr>
          <p:cNvPr id="471" name="t"/>
          <p:cNvSpPr txBox="1"/>
          <p:nvPr/>
        </p:nvSpPr>
        <p:spPr>
          <a:xfrm>
            <a:off x="5861304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Tracking</a:t>
            </a:r>
          </a:p>
        </p:txBody>
      </p:sp>
      <p:sp>
        <p:nvSpPr>
          <p:cNvPr id="472" name="t"/>
          <p:cNvSpPr txBox="1"/>
          <p:nvPr/>
        </p:nvSpPr>
        <p:spPr>
          <a:xfrm>
            <a:off x="5175504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5s update intervals</a:t>
            </a:r>
          </a:p>
        </p:txBody>
      </p:sp>
      <p:sp>
        <p:nvSpPr>
          <p:cNvPr id="473" name="r"/>
          <p:cNvSpPr/>
          <p:nvPr/>
        </p:nvSpPr>
        <p:spPr>
          <a:xfrm>
            <a:off x="4992624" y="3785616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4" name="s"/>
          <p:cNvSpPr/>
          <p:nvPr/>
        </p:nvSpPr>
        <p:spPr>
          <a:xfrm>
            <a:off x="7306056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75" name="r"/>
          <p:cNvSpPr/>
          <p:nvPr/>
        </p:nvSpPr>
        <p:spPr>
          <a:xfrm>
            <a:off x="7306056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76" name="r"/>
          <p:cNvSpPr/>
          <p:nvPr/>
        </p:nvSpPr>
        <p:spPr>
          <a:xfrm>
            <a:off x="7306056" y="1920240"/>
            <a:ext cx="2194560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77" name="c"/>
          <p:cNvSpPr/>
          <p:nvPr/>
        </p:nvSpPr>
        <p:spPr>
          <a:xfrm>
            <a:off x="7534656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8" name="t"/>
          <p:cNvSpPr txBox="1"/>
          <p:nvPr/>
        </p:nvSpPr>
        <p:spPr>
          <a:xfrm>
            <a:off x="7534656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8B5CF6"/>
                </a:solidFill>
                <a:latin typeface="Calibri"/>
              </a:rPr>
              <a:t>04</a:t>
            </a:r>
          </a:p>
        </p:txBody>
      </p:sp>
      <p:sp>
        <p:nvSpPr>
          <p:cNvPr id="479" name="t"/>
          <p:cNvSpPr txBox="1"/>
          <p:nvPr/>
        </p:nvSpPr>
        <p:spPr>
          <a:xfrm>
            <a:off x="8174736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Real-time</a:t>
            </a:r>
          </a:p>
        </p:txBody>
      </p:sp>
      <p:sp>
        <p:nvSpPr>
          <p:cNvPr id="480" name="t"/>
          <p:cNvSpPr txBox="1"/>
          <p:nvPr/>
        </p:nvSpPr>
        <p:spPr>
          <a:xfrm>
            <a:off x="8174736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</a:t>
            </a:r>
          </a:p>
        </p:txBody>
      </p:sp>
      <p:sp>
        <p:nvSpPr>
          <p:cNvPr id="481" name="t"/>
          <p:cNvSpPr txBox="1"/>
          <p:nvPr/>
        </p:nvSpPr>
        <p:spPr>
          <a:xfrm>
            <a:off x="7488936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Customer-Agent msg</a:t>
            </a:r>
          </a:p>
        </p:txBody>
      </p:sp>
      <p:sp>
        <p:nvSpPr>
          <p:cNvPr id="482" name="r"/>
          <p:cNvSpPr/>
          <p:nvPr/>
        </p:nvSpPr>
        <p:spPr>
          <a:xfrm>
            <a:off x="7306056" y="3785616"/>
            <a:ext cx="21945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83" name="s"/>
          <p:cNvSpPr/>
          <p:nvPr/>
        </p:nvSpPr>
        <p:spPr>
          <a:xfrm>
            <a:off x="9619488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84" name="r"/>
          <p:cNvSpPr/>
          <p:nvPr/>
        </p:nvSpPr>
        <p:spPr>
          <a:xfrm>
            <a:off x="9619488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85" name="r"/>
          <p:cNvSpPr/>
          <p:nvPr/>
        </p:nvSpPr>
        <p:spPr>
          <a:xfrm>
            <a:off x="9619488" y="1920240"/>
            <a:ext cx="2194560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86" name="c"/>
          <p:cNvSpPr/>
          <p:nvPr/>
        </p:nvSpPr>
        <p:spPr>
          <a:xfrm>
            <a:off x="9848088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7" name="t"/>
          <p:cNvSpPr txBox="1"/>
          <p:nvPr/>
        </p:nvSpPr>
        <p:spPr>
          <a:xfrm>
            <a:off x="9848088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/>
              </a:rPr>
              <a:t>05</a:t>
            </a:r>
          </a:p>
        </p:txBody>
      </p:sp>
      <p:sp>
        <p:nvSpPr>
          <p:cNvPr id="488" name="t"/>
          <p:cNvSpPr txBox="1"/>
          <p:nvPr/>
        </p:nvSpPr>
        <p:spPr>
          <a:xfrm>
            <a:off x="10488168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Crisis</a:t>
            </a:r>
          </a:p>
        </p:txBody>
      </p:sp>
      <p:sp>
        <p:nvSpPr>
          <p:cNvPr id="489" name="t"/>
          <p:cNvSpPr txBox="1"/>
          <p:nvPr/>
        </p:nvSpPr>
        <p:spPr>
          <a:xfrm>
            <a:off x="10488168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490" name="t"/>
          <p:cNvSpPr txBox="1"/>
          <p:nvPr/>
        </p:nvSpPr>
        <p:spPr>
          <a:xfrm>
            <a:off x="9802368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Emergency priority</a:t>
            </a:r>
          </a:p>
        </p:txBody>
      </p:sp>
      <p:sp>
        <p:nvSpPr>
          <p:cNvPr id="491" name="r"/>
          <p:cNvSpPr/>
          <p:nvPr/>
        </p:nvSpPr>
        <p:spPr>
          <a:xfrm>
            <a:off x="9619488" y="3785616"/>
            <a:ext cx="21945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92" name="s"/>
          <p:cNvSpPr/>
          <p:nvPr/>
        </p:nvSpPr>
        <p:spPr>
          <a:xfrm>
            <a:off x="365760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93" name="r"/>
          <p:cNvSpPr/>
          <p:nvPr/>
        </p:nvSpPr>
        <p:spPr>
          <a:xfrm>
            <a:off x="365760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494" name="r"/>
          <p:cNvSpPr/>
          <p:nvPr/>
        </p:nvSpPr>
        <p:spPr>
          <a:xfrm>
            <a:off x="365760" y="4663440"/>
            <a:ext cx="2194560" cy="5486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495" name="c"/>
          <p:cNvSpPr/>
          <p:nvPr/>
        </p:nvSpPr>
        <p:spPr>
          <a:xfrm>
            <a:off x="594360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6" name="t"/>
          <p:cNvSpPr txBox="1"/>
          <p:nvPr/>
        </p:nvSpPr>
        <p:spPr>
          <a:xfrm>
            <a:off x="594360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libri"/>
              </a:rPr>
              <a:t>06</a:t>
            </a:r>
          </a:p>
        </p:txBody>
      </p:sp>
      <p:sp>
        <p:nvSpPr>
          <p:cNvPr id="497" name="t"/>
          <p:cNvSpPr txBox="1"/>
          <p:nvPr/>
        </p:nvSpPr>
        <p:spPr>
          <a:xfrm>
            <a:off x="1234440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498" name="t"/>
          <p:cNvSpPr txBox="1"/>
          <p:nvPr/>
        </p:nvSpPr>
        <p:spPr>
          <a:xfrm>
            <a:off x="1234440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499" name="t"/>
          <p:cNvSpPr txBox="1"/>
          <p:nvPr/>
        </p:nvSpPr>
        <p:spPr>
          <a:xfrm>
            <a:off x="548640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Warehouse tracking</a:t>
            </a:r>
          </a:p>
        </p:txBody>
      </p:sp>
      <p:sp>
        <p:nvSpPr>
          <p:cNvPr id="500" name="r"/>
          <p:cNvSpPr/>
          <p:nvPr/>
        </p:nvSpPr>
        <p:spPr>
          <a:xfrm>
            <a:off x="365760" y="6528816"/>
            <a:ext cx="219456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01" name="s"/>
          <p:cNvSpPr/>
          <p:nvPr/>
        </p:nvSpPr>
        <p:spPr>
          <a:xfrm>
            <a:off x="2679192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02" name="r"/>
          <p:cNvSpPr/>
          <p:nvPr/>
        </p:nvSpPr>
        <p:spPr>
          <a:xfrm>
            <a:off x="2679192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3" name="r"/>
          <p:cNvSpPr/>
          <p:nvPr/>
        </p:nvSpPr>
        <p:spPr>
          <a:xfrm>
            <a:off x="2679192" y="4663440"/>
            <a:ext cx="219456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4" name="c"/>
          <p:cNvSpPr/>
          <p:nvPr/>
        </p:nvSpPr>
        <p:spPr>
          <a:xfrm>
            <a:off x="2907792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5" name="t"/>
          <p:cNvSpPr txBox="1"/>
          <p:nvPr/>
        </p:nvSpPr>
        <p:spPr>
          <a:xfrm>
            <a:off x="2907792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E40AF"/>
                </a:solidFill>
                <a:latin typeface="Calibri"/>
              </a:rPr>
              <a:t>07</a:t>
            </a:r>
          </a:p>
        </p:txBody>
      </p:sp>
      <p:sp>
        <p:nvSpPr>
          <p:cNvPr id="506" name="t"/>
          <p:cNvSpPr txBox="1"/>
          <p:nvPr/>
        </p:nvSpPr>
        <p:spPr>
          <a:xfrm>
            <a:off x="3547872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JWT +</a:t>
            </a:r>
          </a:p>
        </p:txBody>
      </p:sp>
      <p:sp>
        <p:nvSpPr>
          <p:cNvPr id="507" name="t"/>
          <p:cNvSpPr txBox="1"/>
          <p:nvPr/>
        </p:nvSpPr>
        <p:spPr>
          <a:xfrm>
            <a:off x="3547872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RBAC</a:t>
            </a:r>
          </a:p>
        </p:txBody>
      </p:sp>
      <p:sp>
        <p:nvSpPr>
          <p:cNvPr id="508" name="t"/>
          <p:cNvSpPr txBox="1"/>
          <p:nvPr/>
        </p:nvSpPr>
        <p:spPr>
          <a:xfrm>
            <a:off x="2862072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Role-based access</a:t>
            </a:r>
          </a:p>
        </p:txBody>
      </p:sp>
      <p:sp>
        <p:nvSpPr>
          <p:cNvPr id="509" name="r"/>
          <p:cNvSpPr/>
          <p:nvPr/>
        </p:nvSpPr>
        <p:spPr>
          <a:xfrm>
            <a:off x="2679192" y="6528816"/>
            <a:ext cx="219456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10" name="s"/>
          <p:cNvSpPr/>
          <p:nvPr/>
        </p:nvSpPr>
        <p:spPr>
          <a:xfrm>
            <a:off x="4992624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11" name="r"/>
          <p:cNvSpPr/>
          <p:nvPr/>
        </p:nvSpPr>
        <p:spPr>
          <a:xfrm>
            <a:off x="4992624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12" name="r"/>
          <p:cNvSpPr/>
          <p:nvPr/>
        </p:nvSpPr>
        <p:spPr>
          <a:xfrm>
            <a:off x="4992624" y="4663440"/>
            <a:ext cx="2194560" cy="548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13" name="c"/>
          <p:cNvSpPr/>
          <p:nvPr/>
        </p:nvSpPr>
        <p:spPr>
          <a:xfrm>
            <a:off x="5221224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14" name="t"/>
          <p:cNvSpPr txBox="1"/>
          <p:nvPr/>
        </p:nvSpPr>
        <p:spPr>
          <a:xfrm>
            <a:off x="5221224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BBF24"/>
                </a:solidFill>
                <a:latin typeface="Calibri"/>
              </a:rPr>
              <a:t>08</a:t>
            </a:r>
          </a:p>
        </p:txBody>
      </p:sp>
      <p:sp>
        <p:nvSpPr>
          <p:cNvPr id="515" name="t"/>
          <p:cNvSpPr txBox="1"/>
          <p:nvPr/>
        </p:nvSpPr>
        <p:spPr>
          <a:xfrm>
            <a:off x="5861304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Multi-channel</a:t>
            </a:r>
          </a:p>
        </p:txBody>
      </p:sp>
      <p:sp>
        <p:nvSpPr>
          <p:cNvPr id="516" name="t"/>
          <p:cNvSpPr txBox="1"/>
          <p:nvPr/>
        </p:nvSpPr>
        <p:spPr>
          <a:xfrm>
            <a:off x="5861304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Notify</a:t>
            </a:r>
          </a:p>
        </p:txBody>
      </p:sp>
      <p:sp>
        <p:nvSpPr>
          <p:cNvPr id="517" name="t"/>
          <p:cNvSpPr txBox="1"/>
          <p:nvPr/>
        </p:nvSpPr>
        <p:spPr>
          <a:xfrm>
            <a:off x="5175504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SMS/Email/Push</a:t>
            </a:r>
          </a:p>
        </p:txBody>
      </p:sp>
      <p:sp>
        <p:nvSpPr>
          <p:cNvPr id="518" name="r"/>
          <p:cNvSpPr/>
          <p:nvPr/>
        </p:nvSpPr>
        <p:spPr>
          <a:xfrm>
            <a:off x="4992624" y="6528816"/>
            <a:ext cx="21945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19" name="s"/>
          <p:cNvSpPr/>
          <p:nvPr/>
        </p:nvSpPr>
        <p:spPr>
          <a:xfrm>
            <a:off x="7306056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20" name="r"/>
          <p:cNvSpPr/>
          <p:nvPr/>
        </p:nvSpPr>
        <p:spPr>
          <a:xfrm>
            <a:off x="7306056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521" name="r"/>
          <p:cNvSpPr/>
          <p:nvPr/>
        </p:nvSpPr>
        <p:spPr>
          <a:xfrm>
            <a:off x="7306056" y="4663440"/>
            <a:ext cx="2194560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522" name="c"/>
          <p:cNvSpPr/>
          <p:nvPr/>
        </p:nvSpPr>
        <p:spPr>
          <a:xfrm>
            <a:off x="7534656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23" name="t"/>
          <p:cNvSpPr txBox="1"/>
          <p:nvPr/>
        </p:nvSpPr>
        <p:spPr>
          <a:xfrm>
            <a:off x="7534656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09</a:t>
            </a:r>
          </a:p>
        </p:txBody>
      </p:sp>
      <p:sp>
        <p:nvSpPr>
          <p:cNvPr id="524" name="t"/>
          <p:cNvSpPr txBox="1"/>
          <p:nvPr/>
        </p:nvSpPr>
        <p:spPr>
          <a:xfrm>
            <a:off x="8174736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Swagger</a:t>
            </a:r>
          </a:p>
        </p:txBody>
      </p:sp>
      <p:sp>
        <p:nvSpPr>
          <p:cNvPr id="525" name="t"/>
          <p:cNvSpPr txBox="1"/>
          <p:nvPr/>
        </p:nvSpPr>
        <p:spPr>
          <a:xfrm>
            <a:off x="8174736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API Docs</a:t>
            </a:r>
          </a:p>
        </p:txBody>
      </p:sp>
      <p:sp>
        <p:nvSpPr>
          <p:cNvPr id="526" name="t"/>
          <p:cNvSpPr txBox="1"/>
          <p:nvPr/>
        </p:nvSpPr>
        <p:spPr>
          <a:xfrm>
            <a:off x="7488936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Interactive testing</a:t>
            </a:r>
          </a:p>
        </p:txBody>
      </p:sp>
      <p:sp>
        <p:nvSpPr>
          <p:cNvPr id="527" name="r"/>
          <p:cNvSpPr/>
          <p:nvPr/>
        </p:nvSpPr>
        <p:spPr>
          <a:xfrm>
            <a:off x="7306056" y="6528816"/>
            <a:ext cx="21945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528" name="s"/>
          <p:cNvSpPr/>
          <p:nvPr/>
        </p:nvSpPr>
        <p:spPr>
          <a:xfrm>
            <a:off x="9619488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29" name="r"/>
          <p:cNvSpPr/>
          <p:nvPr/>
        </p:nvSpPr>
        <p:spPr>
          <a:xfrm>
            <a:off x="9619488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530" name="r"/>
          <p:cNvSpPr/>
          <p:nvPr/>
        </p:nvSpPr>
        <p:spPr>
          <a:xfrm>
            <a:off x="9619488" y="4663440"/>
            <a:ext cx="2194560" cy="5486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531" name="c"/>
          <p:cNvSpPr/>
          <p:nvPr/>
        </p:nvSpPr>
        <p:spPr>
          <a:xfrm>
            <a:off x="9848088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2" name="t"/>
          <p:cNvSpPr txBox="1"/>
          <p:nvPr/>
        </p:nvSpPr>
        <p:spPr>
          <a:xfrm>
            <a:off x="9848088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228B22"/>
                </a:solidFill>
                <a:latin typeface="Calibri"/>
              </a:rPr>
              <a:t>10</a:t>
            </a:r>
          </a:p>
        </p:txBody>
      </p:sp>
      <p:sp>
        <p:nvSpPr>
          <p:cNvPr id="533" name="t"/>
          <p:cNvSpPr txBox="1"/>
          <p:nvPr/>
        </p:nvSpPr>
        <p:spPr>
          <a:xfrm>
            <a:off x="10488168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Docker +</a:t>
            </a:r>
          </a:p>
        </p:txBody>
      </p:sp>
      <p:sp>
        <p:nvSpPr>
          <p:cNvPr id="534" name="t"/>
          <p:cNvSpPr txBox="1"/>
          <p:nvPr/>
        </p:nvSpPr>
        <p:spPr>
          <a:xfrm>
            <a:off x="10488168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535" name="t"/>
          <p:cNvSpPr txBox="1"/>
          <p:nvPr/>
        </p:nvSpPr>
        <p:spPr>
          <a:xfrm>
            <a:off x="9802368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Production deploy</a:t>
            </a:r>
          </a:p>
        </p:txBody>
      </p:sp>
      <p:sp>
        <p:nvSpPr>
          <p:cNvPr id="536" name="r"/>
          <p:cNvSpPr/>
          <p:nvPr/>
        </p:nvSpPr>
        <p:spPr>
          <a:xfrm>
            <a:off x="9619488" y="6528816"/>
            <a:ext cx="2194560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537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transition spd="med">
    <p:push dir="l"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539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540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1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07</a:t>
            </a:r>
          </a:p>
        </p:txBody>
      </p:sp>
      <p:sp>
        <p:nvSpPr>
          <p:cNvPr id="542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DATA MODEL</a:t>
            </a:r>
          </a:p>
        </p:txBody>
      </p:sp>
      <p:sp>
        <p:nvSpPr>
          <p:cNvPr id="543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Database Design &amp; ER Diagram</a:t>
            </a:r>
          </a:p>
        </p:txBody>
      </p:sp>
      <p:sp>
        <p:nvSpPr>
          <p:cNvPr id="544" name="ps"/>
          <p:cNvSpPr/>
          <p:nvPr/>
        </p:nvSpPr>
        <p:spPr>
          <a:xfrm>
            <a:off x="365760" y="1554480"/>
            <a:ext cx="822960" cy="822960"/>
          </a:xfrm>
          <a:prstGeom prst="can">
            <a:avLst/>
          </a:prstGeom>
          <a:solidFill>
            <a:srgbClr val="1E40AF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45" name="r"/>
          <p:cNvSpPr/>
          <p:nvPr/>
        </p:nvSpPr>
        <p:spPr>
          <a:xfrm>
            <a:off x="123444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46" name="t"/>
          <p:cNvSpPr txBox="1"/>
          <p:nvPr/>
        </p:nvSpPr>
        <p:spPr>
          <a:xfrm>
            <a:off x="123444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547" name="s"/>
          <p:cNvSpPr/>
          <p:nvPr/>
        </p:nvSpPr>
        <p:spPr>
          <a:xfrm>
            <a:off x="36576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48" name="r"/>
          <p:cNvSpPr/>
          <p:nvPr/>
        </p:nvSpPr>
        <p:spPr>
          <a:xfrm>
            <a:off x="365760" y="2423160"/>
            <a:ext cx="54864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49" name="t"/>
          <p:cNvSpPr txBox="1"/>
          <p:nvPr/>
        </p:nvSpPr>
        <p:spPr>
          <a:xfrm>
            <a:off x="54864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_id, name, email</a:t>
            </a:r>
          </a:p>
        </p:txBody>
      </p:sp>
      <p:sp>
        <p:nvSpPr>
          <p:cNvPr id="550" name="t"/>
          <p:cNvSpPr txBox="1"/>
          <p:nvPr/>
        </p:nvSpPr>
        <p:spPr>
          <a:xfrm>
            <a:off x="54864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role, phone</a:t>
            </a:r>
          </a:p>
        </p:txBody>
      </p:sp>
      <p:sp>
        <p:nvSpPr>
          <p:cNvPr id="551" name="t"/>
          <p:cNvSpPr txBox="1"/>
          <p:nvPr/>
        </p:nvSpPr>
        <p:spPr>
          <a:xfrm>
            <a:off x="54864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addresses</a:t>
            </a:r>
          </a:p>
        </p:txBody>
      </p:sp>
      <p:sp>
        <p:nvSpPr>
          <p:cNvPr id="552" name="t"/>
          <p:cNvSpPr txBox="1"/>
          <p:nvPr/>
        </p:nvSpPr>
        <p:spPr>
          <a:xfrm>
            <a:off x="54864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isOnDuty, kyc</a:t>
            </a:r>
          </a:p>
        </p:txBody>
      </p:sp>
      <p:sp>
        <p:nvSpPr>
          <p:cNvPr id="553" name="ps"/>
          <p:cNvSpPr/>
          <p:nvPr/>
        </p:nvSpPr>
        <p:spPr>
          <a:xfrm>
            <a:off x="4206240" y="1554480"/>
            <a:ext cx="822960" cy="822960"/>
          </a:xfrm>
          <a:prstGeom prst="can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54" name="r"/>
          <p:cNvSpPr/>
          <p:nvPr/>
        </p:nvSpPr>
        <p:spPr>
          <a:xfrm>
            <a:off x="507492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5" name="t"/>
          <p:cNvSpPr txBox="1"/>
          <p:nvPr/>
        </p:nvSpPr>
        <p:spPr>
          <a:xfrm>
            <a:off x="507492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ORDER</a:t>
            </a:r>
          </a:p>
        </p:txBody>
      </p:sp>
      <p:sp>
        <p:nvSpPr>
          <p:cNvPr id="556" name="s"/>
          <p:cNvSpPr/>
          <p:nvPr/>
        </p:nvSpPr>
        <p:spPr>
          <a:xfrm>
            <a:off x="420624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57" name="r"/>
          <p:cNvSpPr/>
          <p:nvPr/>
        </p:nvSpPr>
        <p:spPr>
          <a:xfrm>
            <a:off x="4206240" y="2423160"/>
            <a:ext cx="54864" cy="10972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8" name="t"/>
          <p:cNvSpPr txBox="1"/>
          <p:nvPr/>
        </p:nvSpPr>
        <p:spPr>
          <a:xfrm>
            <a:off x="438912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customerId</a:t>
            </a:r>
          </a:p>
        </p:txBody>
      </p:sp>
      <p:sp>
        <p:nvSpPr>
          <p:cNvPr id="559" name="t"/>
          <p:cNvSpPr txBox="1"/>
          <p:nvPr/>
        </p:nvSpPr>
        <p:spPr>
          <a:xfrm>
            <a:off x="438912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agentId, warehouseId</a:t>
            </a:r>
          </a:p>
        </p:txBody>
      </p:sp>
      <p:sp>
        <p:nvSpPr>
          <p:cNvPr id="560" name="t"/>
          <p:cNvSpPr txBox="1"/>
          <p:nvPr/>
        </p:nvSpPr>
        <p:spPr>
          <a:xfrm>
            <a:off x="438912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count</a:t>
            </a:r>
          </a:p>
        </p:txBody>
      </p:sp>
      <p:sp>
        <p:nvSpPr>
          <p:cNvPr id="561" name="t"/>
          <p:cNvSpPr txBox="1"/>
          <p:nvPr/>
        </p:nvSpPr>
        <p:spPr>
          <a:xfrm>
            <a:off x="438912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timeline, priority</a:t>
            </a:r>
          </a:p>
        </p:txBody>
      </p:sp>
      <p:sp>
        <p:nvSpPr>
          <p:cNvPr id="562" name="ps"/>
          <p:cNvSpPr/>
          <p:nvPr/>
        </p:nvSpPr>
        <p:spPr>
          <a:xfrm>
            <a:off x="8046720" y="1554480"/>
            <a:ext cx="822960" cy="822960"/>
          </a:xfrm>
          <a:prstGeom prst="can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63" name="r"/>
          <p:cNvSpPr/>
          <p:nvPr/>
        </p:nvSpPr>
        <p:spPr>
          <a:xfrm>
            <a:off x="891540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64" name="t"/>
          <p:cNvSpPr txBox="1"/>
          <p:nvPr/>
        </p:nvSpPr>
        <p:spPr>
          <a:xfrm>
            <a:off x="891540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565" name="s"/>
          <p:cNvSpPr/>
          <p:nvPr/>
        </p:nvSpPr>
        <p:spPr>
          <a:xfrm>
            <a:off x="804672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66" name="r"/>
          <p:cNvSpPr/>
          <p:nvPr/>
        </p:nvSpPr>
        <p:spPr>
          <a:xfrm>
            <a:off x="8046720" y="2423160"/>
            <a:ext cx="54864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67" name="t"/>
          <p:cNvSpPr txBox="1"/>
          <p:nvPr/>
        </p:nvSpPr>
        <p:spPr>
          <a:xfrm>
            <a:off x="822960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warehouseId, name</a:t>
            </a:r>
          </a:p>
        </p:txBody>
      </p:sp>
      <p:sp>
        <p:nvSpPr>
          <p:cNvPr id="568" name="t"/>
          <p:cNvSpPr txBox="1"/>
          <p:nvPr/>
        </p:nvSpPr>
        <p:spPr>
          <a:xfrm>
            <a:off x="822960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totalCylinders</a:t>
            </a:r>
          </a:p>
        </p:txBody>
      </p:sp>
      <p:sp>
        <p:nvSpPr>
          <p:cNvPr id="569" name="t"/>
          <p:cNvSpPr txBox="1"/>
          <p:nvPr/>
        </p:nvSpPr>
        <p:spPr>
          <a:xfrm>
            <a:off x="822960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available</a:t>
            </a:r>
          </a:p>
        </p:txBody>
      </p:sp>
      <p:sp>
        <p:nvSpPr>
          <p:cNvPr id="570" name="t"/>
          <p:cNvSpPr txBox="1"/>
          <p:nvPr/>
        </p:nvSpPr>
        <p:spPr>
          <a:xfrm>
            <a:off x="822960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location, active</a:t>
            </a:r>
          </a:p>
        </p:txBody>
      </p:sp>
      <p:sp>
        <p:nvSpPr>
          <p:cNvPr id="571" name="ps"/>
          <p:cNvSpPr/>
          <p:nvPr/>
        </p:nvSpPr>
        <p:spPr>
          <a:xfrm>
            <a:off x="365760" y="4389120"/>
            <a:ext cx="822960" cy="822960"/>
          </a:xfrm>
          <a:prstGeom prst="can">
            <a:avLst/>
          </a:prstGeom>
          <a:solidFill>
            <a:srgbClr val="8B5CF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72" name="r"/>
          <p:cNvSpPr/>
          <p:nvPr/>
        </p:nvSpPr>
        <p:spPr>
          <a:xfrm>
            <a:off x="1234440" y="438912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73" name="t"/>
          <p:cNvSpPr txBox="1"/>
          <p:nvPr/>
        </p:nvSpPr>
        <p:spPr>
          <a:xfrm>
            <a:off x="1234440" y="450799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 MESSAGE</a:t>
            </a:r>
          </a:p>
        </p:txBody>
      </p:sp>
      <p:sp>
        <p:nvSpPr>
          <p:cNvPr id="574" name="s"/>
          <p:cNvSpPr/>
          <p:nvPr/>
        </p:nvSpPr>
        <p:spPr>
          <a:xfrm>
            <a:off x="365760" y="525780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75" name="r"/>
          <p:cNvSpPr/>
          <p:nvPr/>
        </p:nvSpPr>
        <p:spPr>
          <a:xfrm>
            <a:off x="365760" y="5257800"/>
            <a:ext cx="54864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76" name="t"/>
          <p:cNvSpPr txBox="1"/>
          <p:nvPr/>
        </p:nvSpPr>
        <p:spPr>
          <a:xfrm>
            <a:off x="548640" y="530352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messageId, roomId</a:t>
            </a:r>
          </a:p>
        </p:txBody>
      </p:sp>
      <p:sp>
        <p:nvSpPr>
          <p:cNvPr id="577" name="t"/>
          <p:cNvSpPr txBox="1"/>
          <p:nvPr/>
        </p:nvSpPr>
        <p:spPr>
          <a:xfrm>
            <a:off x="548640" y="555040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senderId, role</a:t>
            </a:r>
          </a:p>
        </p:txBody>
      </p:sp>
      <p:sp>
        <p:nvSpPr>
          <p:cNvPr id="578" name="t"/>
          <p:cNvSpPr txBox="1"/>
          <p:nvPr/>
        </p:nvSpPr>
        <p:spPr>
          <a:xfrm>
            <a:off x="548640" y="579729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content, type</a:t>
            </a:r>
          </a:p>
        </p:txBody>
      </p:sp>
      <p:sp>
        <p:nvSpPr>
          <p:cNvPr id="579" name="t"/>
          <p:cNvSpPr txBox="1"/>
          <p:nvPr/>
        </p:nvSpPr>
        <p:spPr>
          <a:xfrm>
            <a:off x="548640" y="604418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mediaUrl</a:t>
            </a:r>
          </a:p>
        </p:txBody>
      </p:sp>
      <p:sp>
        <p:nvSpPr>
          <p:cNvPr id="580" name="ps"/>
          <p:cNvSpPr/>
          <p:nvPr/>
        </p:nvSpPr>
        <p:spPr>
          <a:xfrm>
            <a:off x="4206240" y="4389120"/>
            <a:ext cx="822960" cy="822960"/>
          </a:xfrm>
          <a:prstGeom prst="can">
            <a:avLst/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81" name="r"/>
          <p:cNvSpPr/>
          <p:nvPr/>
        </p:nvSpPr>
        <p:spPr>
          <a:xfrm>
            <a:off x="5074920" y="438912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82" name="t"/>
          <p:cNvSpPr txBox="1"/>
          <p:nvPr/>
        </p:nvSpPr>
        <p:spPr>
          <a:xfrm>
            <a:off x="5074920" y="450799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583" name="s"/>
          <p:cNvSpPr/>
          <p:nvPr/>
        </p:nvSpPr>
        <p:spPr>
          <a:xfrm>
            <a:off x="4206240" y="525780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84" name="r"/>
          <p:cNvSpPr/>
          <p:nvPr/>
        </p:nvSpPr>
        <p:spPr>
          <a:xfrm>
            <a:off x="4206240" y="5257800"/>
            <a:ext cx="54864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85" name="t"/>
          <p:cNvSpPr txBox="1"/>
          <p:nvPr/>
        </p:nvSpPr>
        <p:spPr>
          <a:xfrm>
            <a:off x="4389120" y="530352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agentId</a:t>
            </a:r>
          </a:p>
        </p:txBody>
      </p:sp>
      <p:sp>
        <p:nvSpPr>
          <p:cNvPr id="586" name="t"/>
          <p:cNvSpPr txBox="1"/>
          <p:nvPr/>
        </p:nvSpPr>
        <p:spPr>
          <a:xfrm>
            <a:off x="4389120" y="555040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lat, lng, time</a:t>
            </a:r>
          </a:p>
        </p:txBody>
      </p:sp>
      <p:sp>
        <p:nvSpPr>
          <p:cNvPr id="587" name="t"/>
          <p:cNvSpPr txBox="1"/>
          <p:nvPr/>
        </p:nvSpPr>
        <p:spPr>
          <a:xfrm>
            <a:off x="4389120" y="579729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ETA, route</a:t>
            </a:r>
          </a:p>
        </p:txBody>
      </p:sp>
      <p:sp>
        <p:nvSpPr>
          <p:cNvPr id="588" name="t"/>
          <p:cNvSpPr txBox="1"/>
          <p:nvPr/>
        </p:nvSpPr>
        <p:spPr>
          <a:xfrm>
            <a:off x="4389120" y="604418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GPS tracking</a:t>
            </a:r>
          </a:p>
        </p:txBody>
      </p:sp>
      <p:cxnSp>
        <p:nvCxnSpPr>
          <p:cNvPr id="589" name="ln"/>
          <p:cNvCxnSpPr/>
          <p:nvPr/>
        </p:nvCxnSpPr>
        <p:spPr>
          <a:xfrm flipH="0" flipV="0">
            <a:off x="3108960" y="182880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90" name="c"/>
          <p:cNvSpPr/>
          <p:nvPr/>
        </p:nvSpPr>
        <p:spPr>
          <a:xfrm>
            <a:off x="3520440" y="169164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91" name="t"/>
          <p:cNvSpPr txBox="1"/>
          <p:nvPr/>
        </p:nvSpPr>
        <p:spPr>
          <a:xfrm>
            <a:off x="3520440" y="173736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1:N</a:t>
            </a:r>
          </a:p>
        </p:txBody>
      </p:sp>
      <p:cxnSp>
        <p:nvCxnSpPr>
          <p:cNvPr id="592" name="ln"/>
          <p:cNvCxnSpPr/>
          <p:nvPr/>
        </p:nvCxnSpPr>
        <p:spPr>
          <a:xfrm flipH="0" flipV="0">
            <a:off x="6949440" y="182880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93" name="c"/>
          <p:cNvSpPr/>
          <p:nvPr/>
        </p:nvSpPr>
        <p:spPr>
          <a:xfrm>
            <a:off x="7360920" y="169164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94" name="t"/>
          <p:cNvSpPr txBox="1"/>
          <p:nvPr/>
        </p:nvSpPr>
        <p:spPr>
          <a:xfrm>
            <a:off x="7360920" y="173736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N:1</a:t>
            </a:r>
          </a:p>
        </p:txBody>
      </p:sp>
      <p:cxnSp>
        <p:nvCxnSpPr>
          <p:cNvPr id="595" name="ln"/>
          <p:cNvCxnSpPr/>
          <p:nvPr/>
        </p:nvCxnSpPr>
        <p:spPr>
          <a:xfrm flipH="0" flipV="0">
            <a:off x="1691640" y="3611880"/>
            <a:ext cx="1" cy="77724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96" name="c"/>
          <p:cNvSpPr/>
          <p:nvPr/>
        </p:nvSpPr>
        <p:spPr>
          <a:xfrm>
            <a:off x="1554480" y="388620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97" name="t"/>
          <p:cNvSpPr txBox="1"/>
          <p:nvPr/>
        </p:nvSpPr>
        <p:spPr>
          <a:xfrm>
            <a:off x="1554480" y="393192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1:N</a:t>
            </a:r>
          </a:p>
        </p:txBody>
      </p:sp>
      <p:cxnSp>
        <p:nvCxnSpPr>
          <p:cNvPr id="598" name="ln"/>
          <p:cNvCxnSpPr/>
          <p:nvPr/>
        </p:nvCxnSpPr>
        <p:spPr>
          <a:xfrm flipH="0" flipV="0">
            <a:off x="5532120" y="3611880"/>
            <a:ext cx="1" cy="77724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599" name="c"/>
          <p:cNvSpPr/>
          <p:nvPr/>
        </p:nvSpPr>
        <p:spPr>
          <a:xfrm>
            <a:off x="5394960" y="388620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00" name="t"/>
          <p:cNvSpPr txBox="1"/>
          <p:nvPr/>
        </p:nvSpPr>
        <p:spPr>
          <a:xfrm>
            <a:off x="5394960" y="393192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1:1</a:t>
            </a:r>
          </a:p>
        </p:txBody>
      </p:sp>
      <p:sp>
        <p:nvSpPr>
          <p:cNvPr id="601" name="s"/>
          <p:cNvSpPr/>
          <p:nvPr/>
        </p:nvSpPr>
        <p:spPr>
          <a:xfrm>
            <a:off x="8046720" y="43891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02" name="r"/>
          <p:cNvSpPr/>
          <p:nvPr/>
        </p:nvSpPr>
        <p:spPr>
          <a:xfrm>
            <a:off x="8046720" y="4389120"/>
            <a:ext cx="36576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03" name="ps"/>
          <p:cNvSpPr/>
          <p:nvPr/>
        </p:nvSpPr>
        <p:spPr>
          <a:xfrm>
            <a:off x="8183879" y="4937760"/>
            <a:ext cx="457200" cy="457200"/>
          </a:xfrm>
          <a:prstGeom prst="can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04" name="t"/>
          <p:cNvSpPr txBox="1"/>
          <p:nvPr/>
        </p:nvSpPr>
        <p:spPr>
          <a:xfrm>
            <a:off x="8732520" y="498348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RELATIONSHIPS</a:t>
            </a:r>
          </a:p>
        </p:txBody>
      </p:sp>
      <p:sp>
        <p:nvSpPr>
          <p:cNvPr id="605" name="t"/>
          <p:cNvSpPr txBox="1"/>
          <p:nvPr/>
        </p:nvSpPr>
        <p:spPr>
          <a:xfrm>
            <a:off x="8183879" y="54406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</a:t>
            </a:r>
          </a:p>
        </p:txBody>
      </p:sp>
      <p:sp>
        <p:nvSpPr>
          <p:cNvPr id="606" name="t"/>
          <p:cNvSpPr txBox="1"/>
          <p:nvPr/>
        </p:nvSpPr>
        <p:spPr>
          <a:xfrm>
            <a:off x="8183879" y="56692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 [agent]</a:t>
            </a:r>
          </a:p>
        </p:txBody>
      </p:sp>
      <p:sp>
        <p:nvSpPr>
          <p:cNvPr id="607" name="t"/>
          <p:cNvSpPr txBox="1"/>
          <p:nvPr/>
        </p:nvSpPr>
        <p:spPr>
          <a:xfrm>
            <a:off x="8183879" y="58978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(1) -&gt; (N) Orders</a:t>
            </a:r>
          </a:p>
        </p:txBody>
      </p:sp>
      <p:sp>
        <p:nvSpPr>
          <p:cNvPr id="608" name="t"/>
          <p:cNvSpPr txBox="1"/>
          <p:nvPr/>
        </p:nvSpPr>
        <p:spPr>
          <a:xfrm>
            <a:off x="8183879" y="61264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(N) ChatMessages</a:t>
            </a:r>
          </a:p>
        </p:txBody>
      </p:sp>
      <p:sp>
        <p:nvSpPr>
          <p:cNvPr id="609" name="t"/>
          <p:cNvSpPr txBox="1"/>
          <p:nvPr/>
        </p:nvSpPr>
        <p:spPr>
          <a:xfrm>
            <a:off x="8183879" y="63550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(1) Delivery</a:t>
            </a:r>
          </a:p>
        </p:txBody>
      </p:sp>
      <p:sp>
        <p:nvSpPr>
          <p:cNvPr id="610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12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613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14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08</a:t>
            </a:r>
          </a:p>
        </p:txBody>
      </p:sp>
      <p:sp>
        <p:nvSpPr>
          <p:cNvPr id="615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EXECUTION &amp; PROTECTION</a:t>
            </a:r>
          </a:p>
        </p:txBody>
      </p:sp>
      <p:sp>
        <p:nvSpPr>
          <p:cNvPr id="616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Demo &amp; Security</a:t>
            </a:r>
          </a:p>
        </p:txBody>
      </p:sp>
      <p:sp>
        <p:nvSpPr>
          <p:cNvPr id="617" name="t"/>
          <p:cNvSpPr txBox="1"/>
          <p:nvPr/>
        </p:nvSpPr>
        <p:spPr>
          <a:xfrm>
            <a:off x="457200" y="128016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EXECUTION DEMO</a:t>
            </a:r>
          </a:p>
        </p:txBody>
      </p:sp>
      <p:sp>
        <p:nvSpPr>
          <p:cNvPr id="618" name="r"/>
          <p:cNvSpPr/>
          <p:nvPr/>
        </p:nvSpPr>
        <p:spPr>
          <a:xfrm>
            <a:off x="4572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19" name="ps"/>
          <p:cNvSpPr/>
          <p:nvPr/>
        </p:nvSpPr>
        <p:spPr>
          <a:xfrm>
            <a:off x="457200" y="1691640"/>
            <a:ext cx="1828800" cy="3291840"/>
          </a:xfrm>
          <a:prstGeom prst="roundRect">
            <a:avLst/>
          </a:prstGeom>
          <a:solidFill>
            <a:srgbClr val="060E2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20" name="ps"/>
          <p:cNvSpPr/>
          <p:nvPr/>
        </p:nvSpPr>
        <p:spPr>
          <a:xfrm>
            <a:off x="566928" y="1954987"/>
            <a:ext cx="1609344" cy="2567635"/>
          </a:xfrm>
          <a:prstGeom prst="rect">
            <a:avLst/>
          </a:prstGeom>
          <a:gradFill flip="none" rotWithShape="1">
            <a:gsLst>
              <a:gs pos="0">
                <a:srgbClr val="3B82F6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21" name="ps"/>
          <p:cNvSpPr/>
          <p:nvPr/>
        </p:nvSpPr>
        <p:spPr>
          <a:xfrm>
            <a:off x="1051560" y="1741640"/>
            <a:ext cx="640080" cy="80000"/>
          </a:xfrm>
          <a:prstGeom prst="round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622" name="ps"/>
          <p:cNvSpPr/>
          <p:nvPr/>
        </p:nvSpPr>
        <p:spPr>
          <a:xfrm>
            <a:off x="1311600" y="1761640"/>
            <a:ext cx="120000" cy="30000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623" name="ps"/>
          <p:cNvSpPr/>
          <p:nvPr/>
        </p:nvSpPr>
        <p:spPr>
          <a:xfrm>
            <a:off x="1171600" y="4883480"/>
            <a:ext cx="400000" cy="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24" name="r"/>
          <p:cNvSpPr/>
          <p:nvPr/>
        </p:nvSpPr>
        <p:spPr>
          <a:xfrm>
            <a:off x="594360" y="2057400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25" name="t"/>
          <p:cNvSpPr txBox="1"/>
          <p:nvPr/>
        </p:nvSpPr>
        <p:spPr>
          <a:xfrm>
            <a:off x="594360" y="2148840"/>
            <a:ext cx="15544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CYLINDER</a:t>
            </a:r>
          </a:p>
        </p:txBody>
      </p:sp>
      <p:sp>
        <p:nvSpPr>
          <p:cNvPr id="626" name="t"/>
          <p:cNvSpPr txBox="1"/>
          <p:nvPr/>
        </p:nvSpPr>
        <p:spPr>
          <a:xfrm>
            <a:off x="594360" y="2331720"/>
            <a:ext cx="15544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700" b="1" dirty="0">
                <a:solidFill>
                  <a:srgbClr val="0B1739"/>
                </a:solidFill>
                <a:latin typeface="Calibri"/>
              </a:rPr>
              <a:t>BOOKING APP</a:t>
            </a:r>
          </a:p>
        </p:txBody>
      </p:sp>
      <p:sp>
        <p:nvSpPr>
          <p:cNvPr id="627" name="r"/>
          <p:cNvSpPr/>
          <p:nvPr/>
        </p:nvSpPr>
        <p:spPr>
          <a:xfrm>
            <a:off x="594360" y="269748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28" name="r"/>
          <p:cNvSpPr/>
          <p:nvPr/>
        </p:nvSpPr>
        <p:spPr>
          <a:xfrm>
            <a:off x="594360" y="2697480"/>
            <a:ext cx="4572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29" name="t"/>
          <p:cNvSpPr txBox="1"/>
          <p:nvPr/>
        </p:nvSpPr>
        <p:spPr>
          <a:xfrm>
            <a:off x="713232" y="274320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#1001</a:t>
            </a:r>
          </a:p>
        </p:txBody>
      </p:sp>
      <p:sp>
        <p:nvSpPr>
          <p:cNvPr id="630" name="t"/>
          <p:cNvSpPr txBox="1"/>
          <p:nvPr/>
        </p:nvSpPr>
        <p:spPr>
          <a:xfrm>
            <a:off x="713232" y="289864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631" name="r"/>
          <p:cNvSpPr/>
          <p:nvPr/>
        </p:nvSpPr>
        <p:spPr>
          <a:xfrm>
            <a:off x="594360" y="320040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32" name="r"/>
          <p:cNvSpPr/>
          <p:nvPr/>
        </p:nvSpPr>
        <p:spPr>
          <a:xfrm>
            <a:off x="594360" y="3200400"/>
            <a:ext cx="45720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33" name="t"/>
          <p:cNvSpPr txBox="1"/>
          <p:nvPr/>
        </p:nvSpPr>
        <p:spPr>
          <a:xfrm>
            <a:off x="713232" y="324612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#1002</a:t>
            </a:r>
          </a:p>
        </p:txBody>
      </p:sp>
      <p:sp>
        <p:nvSpPr>
          <p:cNvPr id="634" name="t"/>
          <p:cNvSpPr txBox="1"/>
          <p:nvPr/>
        </p:nvSpPr>
        <p:spPr>
          <a:xfrm>
            <a:off x="713232" y="340156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635" name="r"/>
          <p:cNvSpPr/>
          <p:nvPr/>
        </p:nvSpPr>
        <p:spPr>
          <a:xfrm>
            <a:off x="594360" y="370332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36" name="r"/>
          <p:cNvSpPr/>
          <p:nvPr/>
        </p:nvSpPr>
        <p:spPr>
          <a:xfrm>
            <a:off x="594360" y="3703320"/>
            <a:ext cx="4572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637" name="t"/>
          <p:cNvSpPr txBox="1"/>
          <p:nvPr/>
        </p:nvSpPr>
        <p:spPr>
          <a:xfrm>
            <a:off x="713232" y="374904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#1003</a:t>
            </a:r>
          </a:p>
        </p:txBody>
      </p:sp>
      <p:sp>
        <p:nvSpPr>
          <p:cNvPr id="638" name="t"/>
          <p:cNvSpPr txBox="1"/>
          <p:nvPr/>
        </p:nvSpPr>
        <p:spPr>
          <a:xfrm>
            <a:off x="713232" y="390448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639" name="s"/>
          <p:cNvSpPr/>
          <p:nvPr/>
        </p:nvSpPr>
        <p:spPr>
          <a:xfrm>
            <a:off x="2514600" y="1691640"/>
            <a:ext cx="338328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40" name="r"/>
          <p:cNvSpPr/>
          <p:nvPr/>
        </p:nvSpPr>
        <p:spPr>
          <a:xfrm>
            <a:off x="2514600" y="1691640"/>
            <a:ext cx="3383280" cy="320040"/>
          </a:xfrm>
          <a:prstGeom prst="roundRect">
            <a:avLst>
              <a:gd name="adj" fmla="val 4000"/>
            </a:avLst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1" name="r"/>
          <p:cNvSpPr/>
          <p:nvPr/>
        </p:nvSpPr>
        <p:spPr>
          <a:xfrm>
            <a:off x="2514600" y="1874519"/>
            <a:ext cx="3383280" cy="13716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2" name="c"/>
          <p:cNvSpPr/>
          <p:nvPr/>
        </p:nvSpPr>
        <p:spPr>
          <a:xfrm>
            <a:off x="2606040" y="178308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643" name="c"/>
          <p:cNvSpPr/>
          <p:nvPr/>
        </p:nvSpPr>
        <p:spPr>
          <a:xfrm>
            <a:off x="2743200" y="1783080"/>
            <a:ext cx="91440" cy="914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44" name="c"/>
          <p:cNvSpPr/>
          <p:nvPr/>
        </p:nvSpPr>
        <p:spPr>
          <a:xfrm>
            <a:off x="2880360" y="17830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45" name="t"/>
          <p:cNvSpPr txBox="1"/>
          <p:nvPr/>
        </p:nvSpPr>
        <p:spPr>
          <a:xfrm>
            <a:off x="3108960" y="1783080"/>
            <a:ext cx="27432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94A3B8"/>
                </a:solidFill>
                <a:latin typeface="Calibri"/>
              </a:rPr>
              <a:t>admin/dashboard</a:t>
            </a:r>
          </a:p>
        </p:txBody>
      </p:sp>
      <p:sp>
        <p:nvSpPr>
          <p:cNvPr id="646" name="s"/>
          <p:cNvSpPr/>
          <p:nvPr/>
        </p:nvSpPr>
        <p:spPr>
          <a:xfrm>
            <a:off x="260604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3B82F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47" name="t"/>
          <p:cNvSpPr txBox="1"/>
          <p:nvPr/>
        </p:nvSpPr>
        <p:spPr>
          <a:xfrm>
            <a:off x="269748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648" name="t"/>
          <p:cNvSpPr txBox="1"/>
          <p:nvPr/>
        </p:nvSpPr>
        <p:spPr>
          <a:xfrm>
            <a:off x="269748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649" name="s"/>
          <p:cNvSpPr/>
          <p:nvPr/>
        </p:nvSpPr>
        <p:spPr>
          <a:xfrm>
            <a:off x="365760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50" name="t"/>
          <p:cNvSpPr txBox="1"/>
          <p:nvPr/>
        </p:nvSpPr>
        <p:spPr>
          <a:xfrm>
            <a:off x="374904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651" name="t"/>
          <p:cNvSpPr txBox="1"/>
          <p:nvPr/>
        </p:nvSpPr>
        <p:spPr>
          <a:xfrm>
            <a:off x="374904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Agents</a:t>
            </a:r>
          </a:p>
        </p:txBody>
      </p:sp>
      <p:sp>
        <p:nvSpPr>
          <p:cNvPr id="652" name="s"/>
          <p:cNvSpPr/>
          <p:nvPr/>
        </p:nvSpPr>
        <p:spPr>
          <a:xfrm>
            <a:off x="470916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10B981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53" name="t"/>
          <p:cNvSpPr txBox="1"/>
          <p:nvPr/>
        </p:nvSpPr>
        <p:spPr>
          <a:xfrm>
            <a:off x="480060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98%</a:t>
            </a:r>
          </a:p>
        </p:txBody>
      </p:sp>
      <p:sp>
        <p:nvSpPr>
          <p:cNvPr id="654" name="t"/>
          <p:cNvSpPr txBox="1"/>
          <p:nvPr/>
        </p:nvSpPr>
        <p:spPr>
          <a:xfrm>
            <a:off x="480060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655" name="r"/>
          <p:cNvSpPr/>
          <p:nvPr/>
        </p:nvSpPr>
        <p:spPr>
          <a:xfrm>
            <a:off x="2606040" y="2971800"/>
            <a:ext cx="3154680" cy="10058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656" name="r"/>
          <p:cNvSpPr/>
          <p:nvPr/>
        </p:nvSpPr>
        <p:spPr>
          <a:xfrm>
            <a:off x="2697480" y="3611880"/>
            <a:ext cx="292608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57" name="r"/>
          <p:cNvSpPr/>
          <p:nvPr/>
        </p:nvSpPr>
        <p:spPr>
          <a:xfrm>
            <a:off x="3108960" y="3355848"/>
            <a:ext cx="292608" cy="5760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58" name="r"/>
          <p:cNvSpPr/>
          <p:nvPr/>
        </p:nvSpPr>
        <p:spPr>
          <a:xfrm>
            <a:off x="3520440" y="3547872"/>
            <a:ext cx="292608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59" name="r"/>
          <p:cNvSpPr/>
          <p:nvPr/>
        </p:nvSpPr>
        <p:spPr>
          <a:xfrm>
            <a:off x="3931920" y="3227832"/>
            <a:ext cx="292608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60" name="r"/>
          <p:cNvSpPr/>
          <p:nvPr/>
        </p:nvSpPr>
        <p:spPr>
          <a:xfrm>
            <a:off x="4343400" y="3419856"/>
            <a:ext cx="292608" cy="5120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61" name="r"/>
          <p:cNvSpPr/>
          <p:nvPr/>
        </p:nvSpPr>
        <p:spPr>
          <a:xfrm>
            <a:off x="4754880" y="3163824"/>
            <a:ext cx="292608" cy="7680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62" name="r"/>
          <p:cNvSpPr/>
          <p:nvPr/>
        </p:nvSpPr>
        <p:spPr>
          <a:xfrm>
            <a:off x="5166360" y="3291840"/>
            <a:ext cx="292608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63" name="c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64" name="t"/>
          <p:cNvSpPr txBox="1"/>
          <p:nvPr/>
        </p:nvSpPr>
        <p:spPr>
          <a:xfrm>
            <a:off x="594360" y="441655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65" name="t"/>
          <p:cNvSpPr txBox="1"/>
          <p:nvPr/>
        </p:nvSpPr>
        <p:spPr>
          <a:xfrm>
            <a:off x="1097280" y="429768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Mobile App</a:t>
            </a:r>
          </a:p>
        </p:txBody>
      </p:sp>
      <p:sp>
        <p:nvSpPr>
          <p:cNvPr id="666" name="t"/>
          <p:cNvSpPr txBox="1"/>
          <p:nvPr/>
        </p:nvSpPr>
        <p:spPr>
          <a:xfrm>
            <a:off x="1097280" y="457200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iOS / Android</a:t>
            </a:r>
          </a:p>
        </p:txBody>
      </p:sp>
      <p:sp>
        <p:nvSpPr>
          <p:cNvPr id="667" name="ps"/>
          <p:cNvSpPr/>
          <p:nvPr/>
        </p:nvSpPr>
        <p:spPr>
          <a:xfrm>
            <a:off x="3977640" y="438912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68" name="ps"/>
          <p:cNvSpPr/>
          <p:nvPr/>
        </p:nvSpPr>
        <p:spPr>
          <a:xfrm>
            <a:off x="4046220" y="4613440"/>
            <a:ext cx="137160" cy="109728"/>
          </a:xfrm>
          <a:prstGeom prst="triangl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69" name="ps"/>
          <p:cNvSpPr/>
          <p:nvPr/>
        </p:nvSpPr>
        <p:spPr>
          <a:xfrm>
            <a:off x="4059936" y="447141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70" name="c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71" name="t"/>
          <p:cNvSpPr txBox="1"/>
          <p:nvPr/>
        </p:nvSpPr>
        <p:spPr>
          <a:xfrm>
            <a:off x="594360" y="491947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72" name="t"/>
          <p:cNvSpPr txBox="1"/>
          <p:nvPr/>
        </p:nvSpPr>
        <p:spPr>
          <a:xfrm>
            <a:off x="1097280" y="480060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Admin Panel</a:t>
            </a:r>
          </a:p>
        </p:txBody>
      </p:sp>
      <p:sp>
        <p:nvSpPr>
          <p:cNvPr id="673" name="t"/>
          <p:cNvSpPr txBox="1"/>
          <p:nvPr/>
        </p:nvSpPr>
        <p:spPr>
          <a:xfrm>
            <a:off x="1097280" y="507492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Order management</a:t>
            </a:r>
          </a:p>
        </p:txBody>
      </p:sp>
      <p:sp>
        <p:nvSpPr>
          <p:cNvPr id="674" name="c"/>
          <p:cNvSpPr/>
          <p:nvPr/>
        </p:nvSpPr>
        <p:spPr>
          <a:xfrm>
            <a:off x="594360" y="534924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75" name="t"/>
          <p:cNvSpPr txBox="1"/>
          <p:nvPr/>
        </p:nvSpPr>
        <p:spPr>
          <a:xfrm>
            <a:off x="594360" y="542239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76" name="t"/>
          <p:cNvSpPr txBox="1"/>
          <p:nvPr/>
        </p:nvSpPr>
        <p:spPr>
          <a:xfrm>
            <a:off x="1097280" y="530352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API Docs</a:t>
            </a:r>
          </a:p>
        </p:txBody>
      </p:sp>
      <p:sp>
        <p:nvSpPr>
          <p:cNvPr id="677" name="t"/>
          <p:cNvSpPr txBox="1"/>
          <p:nvPr/>
        </p:nvSpPr>
        <p:spPr>
          <a:xfrm>
            <a:off x="1097280" y="557784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Swagger UI</a:t>
            </a:r>
          </a:p>
        </p:txBody>
      </p:sp>
      <p:sp>
        <p:nvSpPr>
          <p:cNvPr id="678" name="t"/>
          <p:cNvSpPr txBox="1"/>
          <p:nvPr/>
        </p:nvSpPr>
        <p:spPr>
          <a:xfrm>
            <a:off x="6400800" y="128016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SECURITY ARCHITECTURE</a:t>
            </a:r>
          </a:p>
        </p:txBody>
      </p:sp>
      <p:sp>
        <p:nvSpPr>
          <p:cNvPr id="679" name="r"/>
          <p:cNvSpPr/>
          <p:nvPr/>
        </p:nvSpPr>
        <p:spPr>
          <a:xfrm>
            <a:off x="64008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80" name="ps"/>
          <p:cNvSpPr/>
          <p:nvPr/>
        </p:nvSpPr>
        <p:spPr>
          <a:xfrm>
            <a:off x="10424160" y="1691640"/>
            <a:ext cx="914400" cy="914400"/>
          </a:xfrm>
          <a:prstGeom prst="homePlate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81" name="t"/>
          <p:cNvSpPr txBox="1"/>
          <p:nvPr/>
        </p:nvSpPr>
        <p:spPr>
          <a:xfrm>
            <a:off x="10424160" y="1965960"/>
            <a:ext cx="914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682" name="s"/>
          <p:cNvSpPr/>
          <p:nvPr/>
        </p:nvSpPr>
        <p:spPr>
          <a:xfrm>
            <a:off x="6400800" y="1691640"/>
            <a:ext cx="3931920" cy="47548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83" name="r"/>
          <p:cNvSpPr/>
          <p:nvPr/>
        </p:nvSpPr>
        <p:spPr>
          <a:xfrm>
            <a:off x="6400800" y="1691640"/>
            <a:ext cx="393192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84" name="t"/>
          <p:cNvSpPr txBox="1"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MULTI-LAYER</a:t>
            </a:r>
          </a:p>
        </p:txBody>
      </p:sp>
      <p:sp>
        <p:nvSpPr>
          <p:cNvPr id="685" name="t"/>
          <p:cNvSpPr txBox="1"/>
          <p:nvPr/>
        </p:nvSpPr>
        <p:spPr>
          <a:xfrm>
            <a:off x="6583680" y="219456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PROTECTION</a:t>
            </a:r>
          </a:p>
        </p:txBody>
      </p:sp>
      <p:sp>
        <p:nvSpPr>
          <p:cNvPr id="686" name="r"/>
          <p:cNvSpPr/>
          <p:nvPr/>
        </p:nvSpPr>
        <p:spPr>
          <a:xfrm>
            <a:off x="6583680" y="2697480"/>
            <a:ext cx="54864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87" name="ps"/>
          <p:cNvSpPr/>
          <p:nvPr/>
        </p:nvSpPr>
        <p:spPr>
          <a:xfrm>
            <a:off x="6720840" y="2788920"/>
            <a:ext cx="320040" cy="457200"/>
          </a:xfrm>
          <a:prstGeom prst="lightningBol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88" name="t"/>
          <p:cNvSpPr txBox="1"/>
          <p:nvPr/>
        </p:nvSpPr>
        <p:spPr>
          <a:xfrm>
            <a:off x="7132320" y="26974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JWT AUTH</a:t>
            </a:r>
          </a:p>
        </p:txBody>
      </p:sp>
      <p:sp>
        <p:nvSpPr>
          <p:cNvPr id="689" name="t"/>
          <p:cNvSpPr txBox="1"/>
          <p:nvPr/>
        </p:nvSpPr>
        <p:spPr>
          <a:xfrm>
            <a:off x="7132320" y="29718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Access (15min) + Refresh</a:t>
            </a:r>
          </a:p>
        </p:txBody>
      </p:sp>
      <p:sp>
        <p:nvSpPr>
          <p:cNvPr id="690" name="t"/>
          <p:cNvSpPr txBox="1"/>
          <p:nvPr/>
        </p:nvSpPr>
        <p:spPr>
          <a:xfrm>
            <a:off x="7132320" y="32004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Token rotation enabled</a:t>
            </a:r>
          </a:p>
        </p:txBody>
      </p:sp>
      <p:sp>
        <p:nvSpPr>
          <p:cNvPr id="691" name="r"/>
          <p:cNvSpPr/>
          <p:nvPr/>
        </p:nvSpPr>
        <p:spPr>
          <a:xfrm>
            <a:off x="6583680" y="3611880"/>
            <a:ext cx="54864" cy="7772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2" name="ps"/>
          <p:cNvSpPr/>
          <p:nvPr/>
        </p:nvSpPr>
        <p:spPr>
          <a:xfrm>
            <a:off x="6720840" y="3703320"/>
            <a:ext cx="320040" cy="457200"/>
          </a:xfrm>
          <a:prstGeom prst="lightningBol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3" name="t"/>
          <p:cNvSpPr txBox="1"/>
          <p:nvPr/>
        </p:nvSpPr>
        <p:spPr>
          <a:xfrm>
            <a:off x="7132320" y="36118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RATE LIMIT</a:t>
            </a:r>
          </a:p>
        </p:txBody>
      </p:sp>
      <p:sp>
        <p:nvSpPr>
          <p:cNvPr id="694" name="t"/>
          <p:cNvSpPr txBox="1"/>
          <p:nvPr/>
        </p:nvSpPr>
        <p:spPr>
          <a:xfrm>
            <a:off x="7132320" y="38862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100 req/15min global</a:t>
            </a:r>
          </a:p>
        </p:txBody>
      </p:sp>
      <p:sp>
        <p:nvSpPr>
          <p:cNvPr id="695" name="t"/>
          <p:cNvSpPr txBox="1"/>
          <p:nvPr/>
        </p:nvSpPr>
        <p:spPr>
          <a:xfrm>
            <a:off x="7132320" y="41148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 req/15min auth</a:t>
            </a:r>
          </a:p>
        </p:txBody>
      </p:sp>
      <p:sp>
        <p:nvSpPr>
          <p:cNvPr id="696" name="r"/>
          <p:cNvSpPr/>
          <p:nvPr/>
        </p:nvSpPr>
        <p:spPr>
          <a:xfrm>
            <a:off x="6583680" y="4526280"/>
            <a:ext cx="54864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7" name="ps"/>
          <p:cNvSpPr/>
          <p:nvPr/>
        </p:nvSpPr>
        <p:spPr>
          <a:xfrm>
            <a:off x="6720840" y="4617720"/>
            <a:ext cx="320040" cy="457200"/>
          </a:xfrm>
          <a:prstGeom prst="lightningBol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8" name="t"/>
          <p:cNvSpPr txBox="1"/>
          <p:nvPr/>
        </p:nvSpPr>
        <p:spPr>
          <a:xfrm>
            <a:off x="7132320" y="45262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ENCRYPTION</a:t>
            </a:r>
          </a:p>
        </p:txBody>
      </p:sp>
      <p:sp>
        <p:nvSpPr>
          <p:cNvPr id="699" name="t"/>
          <p:cNvSpPr txBox="1"/>
          <p:nvPr/>
        </p:nvSpPr>
        <p:spPr>
          <a:xfrm>
            <a:off x="7132320" y="48006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bcrypt 12-round hashing</a:t>
            </a:r>
          </a:p>
        </p:txBody>
      </p:sp>
      <p:sp>
        <p:nvSpPr>
          <p:cNvPr id="700" name="t"/>
          <p:cNvSpPr txBox="1"/>
          <p:nvPr/>
        </p:nvSpPr>
        <p:spPr>
          <a:xfrm>
            <a:off x="7132320" y="50292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Helmet + CSP + HTTPS</a:t>
            </a:r>
          </a:p>
        </p:txBody>
      </p:sp>
      <p:sp>
        <p:nvSpPr>
          <p:cNvPr id="701" name="r"/>
          <p:cNvSpPr/>
          <p:nvPr/>
        </p:nvSpPr>
        <p:spPr>
          <a:xfrm>
            <a:off x="6583680" y="5440680"/>
            <a:ext cx="54864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02" name="ps"/>
          <p:cNvSpPr/>
          <p:nvPr/>
        </p:nvSpPr>
        <p:spPr>
          <a:xfrm>
            <a:off x="6720840" y="5532120"/>
            <a:ext cx="320040" cy="457200"/>
          </a:xfrm>
          <a:prstGeom prst="lightningBol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03" name="t"/>
          <p:cNvSpPr txBox="1"/>
          <p:nvPr/>
        </p:nvSpPr>
        <p:spPr>
          <a:xfrm>
            <a:off x="7132320" y="54406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RBAC</a:t>
            </a:r>
          </a:p>
        </p:txBody>
      </p:sp>
      <p:sp>
        <p:nvSpPr>
          <p:cNvPr id="704" name="t"/>
          <p:cNvSpPr txBox="1"/>
          <p:nvPr/>
        </p:nvSpPr>
        <p:spPr>
          <a:xfrm>
            <a:off x="7132320" y="57150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Admin | Customer | Agent</a:t>
            </a:r>
          </a:p>
        </p:txBody>
      </p:sp>
      <p:sp>
        <p:nvSpPr>
          <p:cNvPr id="705" name="t"/>
          <p:cNvSpPr txBox="1"/>
          <p:nvPr/>
        </p:nvSpPr>
        <p:spPr>
          <a:xfrm>
            <a:off x="7132320" y="59436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Role-scoped routes</a:t>
            </a:r>
          </a:p>
        </p:txBody>
      </p:sp>
      <p:sp>
        <p:nvSpPr>
          <p:cNvPr id="706" name="s"/>
          <p:cNvSpPr/>
          <p:nvPr/>
        </p:nvSpPr>
        <p:spPr>
          <a:xfrm>
            <a:off x="10515600" y="269748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Helmet</a:t>
            </a:r>
          </a:p>
        </p:txBody>
      </p:sp>
      <p:sp>
        <p:nvSpPr>
          <p:cNvPr id="707" name="s"/>
          <p:cNvSpPr/>
          <p:nvPr/>
        </p:nvSpPr>
        <p:spPr>
          <a:xfrm>
            <a:off x="10515600" y="329184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CORS</a:t>
            </a:r>
          </a:p>
        </p:txBody>
      </p:sp>
      <p:sp>
        <p:nvSpPr>
          <p:cNvPr id="708" name="s"/>
          <p:cNvSpPr/>
          <p:nvPr/>
        </p:nvSpPr>
        <p:spPr>
          <a:xfrm>
            <a:off x="10515600" y="388620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HPP</a:t>
            </a:r>
          </a:p>
        </p:txBody>
      </p:sp>
      <p:sp>
        <p:nvSpPr>
          <p:cNvPr id="709" name="s"/>
          <p:cNvSpPr/>
          <p:nvPr/>
        </p:nvSpPr>
        <p:spPr>
          <a:xfrm>
            <a:off x="10515600" y="448056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Sanitize</a:t>
            </a:r>
          </a:p>
        </p:txBody>
      </p:sp>
      <p:sp>
        <p:nvSpPr>
          <p:cNvPr id="710" name="s"/>
          <p:cNvSpPr/>
          <p:nvPr/>
        </p:nvSpPr>
        <p:spPr>
          <a:xfrm>
            <a:off x="10515600" y="507492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XSS</a:t>
            </a:r>
          </a:p>
        </p:txBody>
      </p:sp>
      <p:sp>
        <p:nvSpPr>
          <p:cNvPr id="711" name="s"/>
          <p:cNvSpPr/>
          <p:nvPr/>
        </p:nvSpPr>
        <p:spPr>
          <a:xfrm>
            <a:off x="10515600" y="566928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Winston</a:t>
            </a:r>
          </a:p>
        </p:txBody>
      </p:sp>
      <p:sp>
        <p:nvSpPr>
          <p:cNvPr id="712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transition spd="med">
    <p:wipe dir="l"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14" name="c"/>
          <p:cNvSpPr/>
          <p:nvPr/>
        </p:nvSpPr>
        <p:spPr>
          <a:xfrm>
            <a:off x="-457200" y="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715" name="c"/>
          <p:cNvSpPr/>
          <p:nvPr/>
        </p:nvSpPr>
        <p:spPr>
          <a:xfrm>
            <a:off x="10058400" y="457200"/>
            <a:ext cx="2743200" cy="2743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16" name="c"/>
          <p:cNvSpPr/>
          <p:nvPr/>
        </p:nvSpPr>
        <p:spPr>
          <a:xfrm>
            <a:off x="10515600" y="274320"/>
            <a:ext cx="1828800" cy="18288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717" name="c"/>
          <p:cNvSpPr/>
          <p:nvPr/>
        </p:nvSpPr>
        <p:spPr>
          <a:xfrm>
            <a:off x="9601200" y="5486400"/>
            <a:ext cx="1828800" cy="18288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8" name="c"/>
          <p:cNvSpPr/>
          <p:nvPr/>
        </p:nvSpPr>
        <p:spPr>
          <a:xfrm>
            <a:off x="457200" y="5943600"/>
            <a:ext cx="1371600" cy="1371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19" name="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20" name="t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09</a:t>
            </a:r>
          </a:p>
        </p:txBody>
      </p:sp>
      <p:sp>
        <p:nvSpPr>
          <p:cNvPr id="721" name="t"/>
          <p:cNvSpPr txBox="1"/>
          <p:nvPr/>
        </p:nvSpPr>
        <p:spPr>
          <a:xfrm>
            <a:off x="1371600" y="36576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WRAPPING UP</a:t>
            </a:r>
          </a:p>
        </p:txBody>
      </p:sp>
      <p:sp>
        <p:nvSpPr>
          <p:cNvPr id="722" name="t"/>
          <p:cNvSpPr txBox="1"/>
          <p:nvPr/>
        </p:nvSpPr>
        <p:spPr>
          <a:xfrm>
            <a:off x="1371600" y="77724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Conclusion &amp; Future Scope</a:t>
            </a:r>
          </a:p>
        </p:txBody>
      </p:sp>
      <p:sp>
        <p:nvSpPr>
          <p:cNvPr id="723" name="s"/>
          <p:cNvSpPr/>
          <p:nvPr/>
        </p:nvSpPr>
        <p:spPr>
          <a:xfrm>
            <a:off x="36576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24" name="r"/>
          <p:cNvSpPr/>
          <p:nvPr/>
        </p:nvSpPr>
        <p:spPr>
          <a:xfrm>
            <a:off x="365760" y="1463040"/>
            <a:ext cx="5486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25" name="t"/>
          <p:cNvSpPr txBox="1"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PROJECT ACHIEVEMENTS</a:t>
            </a:r>
          </a:p>
        </p:txBody>
      </p:sp>
      <p:sp>
        <p:nvSpPr>
          <p:cNvPr id="726" name="c"/>
          <p:cNvSpPr/>
          <p:nvPr/>
        </p:nvSpPr>
        <p:spPr>
          <a:xfrm>
            <a:off x="64008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27" name="t"/>
          <p:cNvSpPr txBox="1"/>
          <p:nvPr/>
        </p:nvSpPr>
        <p:spPr>
          <a:xfrm>
            <a:off x="64008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28" name="t"/>
          <p:cNvSpPr txBox="1"/>
          <p:nvPr/>
        </p:nvSpPr>
        <p:spPr>
          <a:xfrm>
            <a:off x="100584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Production-grade REST API</a:t>
            </a:r>
          </a:p>
        </p:txBody>
      </p:sp>
      <p:sp>
        <p:nvSpPr>
          <p:cNvPr id="729" name="c"/>
          <p:cNvSpPr/>
          <p:nvPr/>
        </p:nvSpPr>
        <p:spPr>
          <a:xfrm>
            <a:off x="324612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30" name="t"/>
          <p:cNvSpPr txBox="1"/>
          <p:nvPr/>
        </p:nvSpPr>
        <p:spPr>
          <a:xfrm>
            <a:off x="324612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31" name="t"/>
          <p:cNvSpPr txBox="1"/>
          <p:nvPr/>
        </p:nvSpPr>
        <p:spPr>
          <a:xfrm>
            <a:off x="361188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GPS + Live Chat</a:t>
            </a:r>
          </a:p>
        </p:txBody>
      </p:sp>
      <p:sp>
        <p:nvSpPr>
          <p:cNvPr id="732" name="c"/>
          <p:cNvSpPr/>
          <p:nvPr/>
        </p:nvSpPr>
        <p:spPr>
          <a:xfrm>
            <a:off x="64008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33" name="t"/>
          <p:cNvSpPr txBox="1"/>
          <p:nvPr/>
        </p:nvSpPr>
        <p:spPr>
          <a:xfrm>
            <a:off x="64008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34" name="t"/>
          <p:cNvSpPr txBox="1"/>
          <p:nvPr/>
        </p:nvSpPr>
        <p:spPr>
          <a:xfrm>
            <a:off x="100584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Crisis Prioritization Engine</a:t>
            </a:r>
          </a:p>
        </p:txBody>
      </p:sp>
      <p:sp>
        <p:nvSpPr>
          <p:cNvPr id="735" name="c"/>
          <p:cNvSpPr/>
          <p:nvPr/>
        </p:nvSpPr>
        <p:spPr>
          <a:xfrm>
            <a:off x="324612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36" name="t"/>
          <p:cNvSpPr txBox="1"/>
          <p:nvPr/>
        </p:nvSpPr>
        <p:spPr>
          <a:xfrm>
            <a:off x="324612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37" name="t"/>
          <p:cNvSpPr txBox="1"/>
          <p:nvPr/>
        </p:nvSpPr>
        <p:spPr>
          <a:xfrm>
            <a:off x="361188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Complete Order Lifecycle</a:t>
            </a:r>
          </a:p>
        </p:txBody>
      </p:sp>
      <p:sp>
        <p:nvSpPr>
          <p:cNvPr id="738" name="c"/>
          <p:cNvSpPr/>
          <p:nvPr/>
        </p:nvSpPr>
        <p:spPr>
          <a:xfrm>
            <a:off x="64008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39" name="t"/>
          <p:cNvSpPr txBox="1"/>
          <p:nvPr/>
        </p:nvSpPr>
        <p:spPr>
          <a:xfrm>
            <a:off x="64008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40" name="t"/>
          <p:cNvSpPr txBox="1"/>
          <p:nvPr/>
        </p:nvSpPr>
        <p:spPr>
          <a:xfrm>
            <a:off x="100584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Docker &amp; Kubernetes Deploy</a:t>
            </a:r>
          </a:p>
        </p:txBody>
      </p:sp>
      <p:sp>
        <p:nvSpPr>
          <p:cNvPr id="741" name="c"/>
          <p:cNvSpPr/>
          <p:nvPr/>
        </p:nvSpPr>
        <p:spPr>
          <a:xfrm>
            <a:off x="324612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42" name="t"/>
          <p:cNvSpPr txBox="1"/>
          <p:nvPr/>
        </p:nvSpPr>
        <p:spPr>
          <a:xfrm>
            <a:off x="324612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43" name="t"/>
          <p:cNvSpPr txBox="1"/>
          <p:nvPr/>
        </p:nvSpPr>
        <p:spPr>
          <a:xfrm>
            <a:off x="361188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Multi-layer Security (JWT/RBAC)</a:t>
            </a:r>
          </a:p>
        </p:txBody>
      </p:sp>
      <p:sp>
        <p:nvSpPr>
          <p:cNvPr id="744" name="c"/>
          <p:cNvSpPr/>
          <p:nvPr/>
        </p:nvSpPr>
        <p:spPr>
          <a:xfrm>
            <a:off x="64008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45" name="t"/>
          <p:cNvSpPr txBox="1"/>
          <p:nvPr/>
        </p:nvSpPr>
        <p:spPr>
          <a:xfrm>
            <a:off x="64008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46" name="t"/>
          <p:cNvSpPr txBox="1"/>
          <p:nvPr/>
        </p:nvSpPr>
        <p:spPr>
          <a:xfrm>
            <a:off x="100584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WhatsApp Integration</a:t>
            </a:r>
          </a:p>
        </p:txBody>
      </p:sp>
      <p:sp>
        <p:nvSpPr>
          <p:cNvPr id="747" name="c"/>
          <p:cNvSpPr/>
          <p:nvPr/>
        </p:nvSpPr>
        <p:spPr>
          <a:xfrm>
            <a:off x="324612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48" name="t"/>
          <p:cNvSpPr txBox="1"/>
          <p:nvPr/>
        </p:nvSpPr>
        <p:spPr>
          <a:xfrm>
            <a:off x="324612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49" name="t"/>
          <p:cNvSpPr txBox="1"/>
          <p:nvPr/>
        </p:nvSpPr>
        <p:spPr>
          <a:xfrm>
            <a:off x="361188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Swagger API Documentation</a:t>
            </a:r>
          </a:p>
        </p:txBody>
      </p:sp>
      <p:sp>
        <p:nvSpPr>
          <p:cNvPr id="750" name="c"/>
          <p:cNvSpPr/>
          <p:nvPr/>
        </p:nvSpPr>
        <p:spPr>
          <a:xfrm>
            <a:off x="64008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51" name="t"/>
          <p:cNvSpPr txBox="1"/>
          <p:nvPr/>
        </p:nvSpPr>
        <p:spPr>
          <a:xfrm>
            <a:off x="64008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52" name="t"/>
          <p:cNvSpPr txBox="1"/>
          <p:nvPr/>
        </p:nvSpPr>
        <p:spPr>
          <a:xfrm>
            <a:off x="100584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Management</a:t>
            </a:r>
          </a:p>
        </p:txBody>
      </p:sp>
      <p:sp>
        <p:nvSpPr>
          <p:cNvPr id="753" name="c"/>
          <p:cNvSpPr/>
          <p:nvPr/>
        </p:nvSpPr>
        <p:spPr>
          <a:xfrm>
            <a:off x="324612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54" name="t"/>
          <p:cNvSpPr txBox="1"/>
          <p:nvPr/>
        </p:nvSpPr>
        <p:spPr>
          <a:xfrm>
            <a:off x="324612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55" name="t"/>
          <p:cNvSpPr txBox="1"/>
          <p:nvPr/>
        </p:nvSpPr>
        <p:spPr>
          <a:xfrm>
            <a:off x="361188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Notifications</a:t>
            </a:r>
          </a:p>
        </p:txBody>
      </p:sp>
      <p:sp>
        <p:nvSpPr>
          <p:cNvPr id="756" name="s"/>
          <p:cNvSpPr/>
          <p:nvPr/>
        </p:nvSpPr>
        <p:spPr>
          <a:xfrm>
            <a:off x="612648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57" name="r"/>
          <p:cNvSpPr/>
          <p:nvPr/>
        </p:nvSpPr>
        <p:spPr>
          <a:xfrm>
            <a:off x="6126480" y="1463040"/>
            <a:ext cx="5486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8" name="t"/>
          <p:cNvSpPr txBox="1"/>
          <p:nvPr/>
        </p:nvSpPr>
        <p:spPr>
          <a:xfrm>
            <a:off x="640080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FUTURE ENHANCEMENTS</a:t>
            </a:r>
          </a:p>
        </p:txBody>
      </p:sp>
      <p:sp>
        <p:nvSpPr>
          <p:cNvPr id="759" name="c"/>
          <p:cNvSpPr/>
          <p:nvPr/>
        </p:nvSpPr>
        <p:spPr>
          <a:xfrm>
            <a:off x="6400800" y="224028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60" name="t"/>
          <p:cNvSpPr txBox="1"/>
          <p:nvPr/>
        </p:nvSpPr>
        <p:spPr>
          <a:xfrm>
            <a:off x="6400800" y="231343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761" name="t"/>
          <p:cNvSpPr txBox="1"/>
          <p:nvPr/>
        </p:nvSpPr>
        <p:spPr>
          <a:xfrm>
            <a:off x="6903720" y="21945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Demand Prediction</a:t>
            </a:r>
          </a:p>
        </p:txBody>
      </p:sp>
      <p:sp>
        <p:nvSpPr>
          <p:cNvPr id="762" name="t"/>
          <p:cNvSpPr txBox="1"/>
          <p:nvPr/>
        </p:nvSpPr>
        <p:spPr>
          <a:xfrm>
            <a:off x="6903720" y="245059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ML consumption forecast</a:t>
            </a:r>
          </a:p>
        </p:txBody>
      </p:sp>
      <p:sp>
        <p:nvSpPr>
          <p:cNvPr id="763" name="c"/>
          <p:cNvSpPr/>
          <p:nvPr/>
        </p:nvSpPr>
        <p:spPr>
          <a:xfrm>
            <a:off x="6400800" y="274320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64" name="t"/>
          <p:cNvSpPr txBox="1"/>
          <p:nvPr/>
        </p:nvSpPr>
        <p:spPr>
          <a:xfrm>
            <a:off x="6400800" y="281635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APP</a:t>
            </a:r>
          </a:p>
        </p:txBody>
      </p:sp>
      <p:sp>
        <p:nvSpPr>
          <p:cNvPr id="765" name="t"/>
          <p:cNvSpPr txBox="1"/>
          <p:nvPr/>
        </p:nvSpPr>
        <p:spPr>
          <a:xfrm>
            <a:off x="6903720" y="26974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Mobile App</a:t>
            </a:r>
          </a:p>
        </p:txBody>
      </p:sp>
      <p:sp>
        <p:nvSpPr>
          <p:cNvPr id="766" name="t"/>
          <p:cNvSpPr txBox="1"/>
          <p:nvPr/>
        </p:nvSpPr>
        <p:spPr>
          <a:xfrm>
            <a:off x="6903720" y="295351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React Native / Flutter</a:t>
            </a:r>
          </a:p>
        </p:txBody>
      </p:sp>
      <p:sp>
        <p:nvSpPr>
          <p:cNvPr id="767" name="c"/>
          <p:cNvSpPr/>
          <p:nvPr/>
        </p:nvSpPr>
        <p:spPr>
          <a:xfrm>
            <a:off x="6400800" y="3246120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68" name="t"/>
          <p:cNvSpPr txBox="1"/>
          <p:nvPr/>
        </p:nvSpPr>
        <p:spPr>
          <a:xfrm>
            <a:off x="6400800" y="331927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PAY</a:t>
            </a:r>
          </a:p>
        </p:txBody>
      </p:sp>
      <p:sp>
        <p:nvSpPr>
          <p:cNvPr id="769" name="t"/>
          <p:cNvSpPr txBox="1"/>
          <p:nvPr/>
        </p:nvSpPr>
        <p:spPr>
          <a:xfrm>
            <a:off x="6903720" y="320040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Online Payments</a:t>
            </a:r>
          </a:p>
        </p:txBody>
      </p:sp>
      <p:sp>
        <p:nvSpPr>
          <p:cNvPr id="770" name="t"/>
          <p:cNvSpPr txBox="1"/>
          <p:nvPr/>
        </p:nvSpPr>
        <p:spPr>
          <a:xfrm>
            <a:off x="6903720" y="345643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Razorpay / UPI / Stripe</a:t>
            </a:r>
          </a:p>
        </p:txBody>
      </p:sp>
      <p:sp>
        <p:nvSpPr>
          <p:cNvPr id="771" name="c"/>
          <p:cNvSpPr/>
          <p:nvPr/>
        </p:nvSpPr>
        <p:spPr>
          <a:xfrm>
            <a:off x="6400800" y="374904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72" name="t"/>
          <p:cNvSpPr txBox="1"/>
          <p:nvPr/>
        </p:nvSpPr>
        <p:spPr>
          <a:xfrm>
            <a:off x="6400800" y="382219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773" name="t"/>
          <p:cNvSpPr txBox="1"/>
          <p:nvPr/>
        </p:nvSpPr>
        <p:spPr>
          <a:xfrm>
            <a:off x="6903720" y="370332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Route Optimization</a:t>
            </a:r>
          </a:p>
        </p:txBody>
      </p:sp>
      <p:sp>
        <p:nvSpPr>
          <p:cNvPr id="774" name="t"/>
          <p:cNvSpPr txBox="1"/>
          <p:nvPr/>
        </p:nvSpPr>
        <p:spPr>
          <a:xfrm>
            <a:off x="6903720" y="395935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Google Maps integration</a:t>
            </a:r>
          </a:p>
        </p:txBody>
      </p:sp>
      <p:sp>
        <p:nvSpPr>
          <p:cNvPr id="775" name="c"/>
          <p:cNvSpPr/>
          <p:nvPr/>
        </p:nvSpPr>
        <p:spPr>
          <a:xfrm>
            <a:off x="6400800" y="4251960"/>
            <a:ext cx="365760" cy="36576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6" name="t"/>
          <p:cNvSpPr txBox="1"/>
          <p:nvPr/>
        </p:nvSpPr>
        <p:spPr>
          <a:xfrm>
            <a:off x="6400800" y="432511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IoT</a:t>
            </a:r>
          </a:p>
        </p:txBody>
      </p:sp>
      <p:sp>
        <p:nvSpPr>
          <p:cNvPr id="777" name="t"/>
          <p:cNvSpPr txBox="1"/>
          <p:nvPr/>
        </p:nvSpPr>
        <p:spPr>
          <a:xfrm>
            <a:off x="6903720" y="42062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Smart Sensors</a:t>
            </a:r>
          </a:p>
        </p:txBody>
      </p:sp>
      <p:sp>
        <p:nvSpPr>
          <p:cNvPr id="778" name="t"/>
          <p:cNvSpPr txBox="1"/>
          <p:nvPr/>
        </p:nvSpPr>
        <p:spPr>
          <a:xfrm>
            <a:off x="6903720" y="446227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Cylinder gas-level IoT</a:t>
            </a:r>
          </a:p>
        </p:txBody>
      </p:sp>
      <p:sp>
        <p:nvSpPr>
          <p:cNvPr id="779" name="s"/>
          <p:cNvSpPr/>
          <p:nvPr/>
        </p:nvSpPr>
        <p:spPr>
          <a:xfrm>
            <a:off x="2286000" y="4937760"/>
            <a:ext cx="7498079" cy="13716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80" name="r"/>
          <p:cNvSpPr/>
          <p:nvPr/>
        </p:nvSpPr>
        <p:spPr>
          <a:xfrm>
            <a:off x="2286000" y="4937760"/>
            <a:ext cx="7498079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81" name="ps"/>
          <p:cNvSpPr/>
          <p:nvPr/>
        </p:nvSpPr>
        <p:spPr>
          <a:xfrm>
            <a:off x="1623060" y="5143500"/>
            <a:ext cx="411480" cy="960119"/>
          </a:xfrm>
          <a:prstGeom prst="roundRect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782" name="ps"/>
          <p:cNvSpPr/>
          <p:nvPr/>
        </p:nvSpPr>
        <p:spPr>
          <a:xfrm>
            <a:off x="1623060" y="4937760"/>
            <a:ext cx="411480" cy="411480"/>
          </a:xfrm>
          <a:prstGeom prst="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783" name="ps"/>
          <p:cNvSpPr/>
          <p:nvPr/>
        </p:nvSpPr>
        <p:spPr>
          <a:xfrm>
            <a:off x="1746504" y="528066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84" name="ps"/>
          <p:cNvSpPr/>
          <p:nvPr/>
        </p:nvSpPr>
        <p:spPr>
          <a:xfrm>
            <a:off x="1773936" y="5308092"/>
            <a:ext cx="98755" cy="9875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85" name="ps"/>
          <p:cNvSpPr/>
          <p:nvPr/>
        </p:nvSpPr>
        <p:spPr>
          <a:xfrm>
            <a:off x="1488468" y="5897880"/>
            <a:ext cx="164592" cy="27432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786" name="fin"/>
          <p:cNvSpPr/>
          <p:nvPr/>
        </p:nvSpPr>
        <p:spPr>
          <a:xfrm flipH="1">
            <a:off x="2004540" y="5897880"/>
            <a:ext cx="164592" cy="27432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787" name="flm"/>
          <p:cNvSpPr/>
          <p:nvPr/>
        </p:nvSpPr>
        <p:spPr>
          <a:xfrm flipV="1">
            <a:off x="1684782" y="6062472"/>
            <a:ext cx="288036" cy="246888"/>
          </a:xfrm>
          <a:prstGeom prst="triangle">
            <a:avLst/>
          </a:prstGeom>
          <a:gradFill flip="none">
            <a:gsLst>
              <a:gs pos="0">
                <a:srgbClr val="FBBF24"/>
              </a:gs>
              <a:gs pos="100000">
                <a:srgbClr val="EF4444"/>
              </a:gs>
            </a:gsLst>
            <a:lin ang="5400000"/>
          </a:gradFill>
          <a:ln>
            <a:noFill/>
          </a:ln>
        </p:spPr>
        <p:txBody>
          <a:bodyPr/>
          <a:lstStyle/>
          <a:p/>
        </p:txBody>
      </p:sp>
      <p:sp>
        <p:nvSpPr>
          <p:cNvPr id="788" name="ps"/>
          <p:cNvSpPr/>
          <p:nvPr/>
        </p:nvSpPr>
        <p:spPr>
          <a:xfrm>
            <a:off x="2743200" y="5166360"/>
            <a:ext cx="228600" cy="228600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89" name="ps"/>
          <p:cNvSpPr/>
          <p:nvPr/>
        </p:nvSpPr>
        <p:spPr>
          <a:xfrm>
            <a:off x="8778240" y="5212080"/>
            <a:ext cx="182880" cy="182880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90" name="ps"/>
          <p:cNvSpPr/>
          <p:nvPr/>
        </p:nvSpPr>
        <p:spPr>
          <a:xfrm>
            <a:off x="9418320" y="5852160"/>
            <a:ext cx="164592" cy="164592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91" name="t"/>
          <p:cNvSpPr txBox="1"/>
          <p:nvPr/>
        </p:nvSpPr>
        <p:spPr>
          <a:xfrm>
            <a:off x="2286000" y="5074920"/>
            <a:ext cx="7498079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792" name="t"/>
          <p:cNvSpPr txBox="1"/>
          <p:nvPr/>
        </p:nvSpPr>
        <p:spPr>
          <a:xfrm>
            <a:off x="2286000" y="5760720"/>
            <a:ext cx="7498079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dirty="0">
                <a:solidFill>
                  <a:srgbClr val="FFEFD5"/>
                </a:solidFill>
                <a:latin typeface="Calibri"/>
              </a:rPr>
              <a:t>Questions  &amp;  Discussion  Welcome</a:t>
            </a:r>
          </a:p>
        </p:txBody>
      </p:sp>
      <p:sp>
        <p:nvSpPr>
          <p:cNvPr id="793" name="t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Team CylDist  -  Department of Computer Engineering  -  2025-26</a:t>
            </a:r>
          </a:p>
        </p:txBody>
      </p:sp>
      <p:sp>
        <p:nvSpPr>
          <p:cNvPr id="794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CylDist">
  <a:themeElements>
    <a:clrScheme name="CylDist">
      <a:dk1>
        <a:srgbClr val="0B1739"/>
      </a:dk1>
      <a:lt1>
        <a:srgbClr val="FFFFFF"/>
      </a:lt1>
      <a:dk2>
        <a:srgbClr val="17264C"/>
      </a:dk2>
      <a:lt2>
        <a:srgbClr val="F8FAFC"/>
      </a:lt2>
      <a:accent1>
        <a:srgbClr val="3B82F6"/>
      </a:accent1>
      <a:accent2>
        <a:srgbClr val="F97316"/>
      </a:accent2>
      <a:accent3>
        <a:srgbClr val="10B981"/>
      </a:accent3>
      <a:accent4>
        <a:srgbClr val="FBBF24"/>
      </a:accent4>
      <a:accent5>
        <a:srgbClr val="8B5CF6"/>
      </a:accent5>
      <a:accent6>
        <a:srgbClr val="14B8A6"/>
      </a:accent6>
      <a:hlink>
        <a:srgbClr val="3B82F6"/>
      </a:hlink>
      <a:folHlink>
        <a:srgbClr val="8B5CF6"/>
      </a:folHlink>
    </a:clrScheme>
    <a:fontScheme name="CylDi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rgbClr val="FFFFFF"/>
        </a:solidFill>
        <a:solidFill>
          <a:srgbClr val="FFFFFF"/>
        </a:solidFill>
        <a:solidFill>
          <a:srgbClr val="FFFFFF"/>
        </a:solidFill>
      </a:fillStyleLst>
      <a:lnStyleLst>
        <a:ln w="9525">
          <a:solidFill>
            <a:srgbClr val="000000"/>
          </a:solidFill>
        </a:ln>
        <a:ln w="9525">
          <a:solidFill>
            <a:srgbClr val="000000"/>
          </a:solidFill>
        </a:ln>
        <a:ln w="9525">
          <a:solidFill>
            <a:srgbClr val="000000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rgbClr val="FFFFFF"/>
        </a:solidFill>
        <a:solidFill>
          <a:srgbClr val="FFFFFF"/>
        </a:solidFill>
        <a:solidFill>
          <a:srgbClr val="FFFFFF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9</Slides>
  <Company>Team CylDist</Company>
</Properties>
</file>

<file path=docProps/core.xml><?xml version="1.0" encoding="utf-8"?>
<cp:coreProperties xmlns:cp="http://schemas.openxmlformats.org/package/2006/metadata/core-properties" xmlns:dc="http://purl.org/dc/elements/1.1/">
  <dc:title>Cylinder Distribution Platform - Backend API</dc:title>
  <dc:creator>Team CylDist</dc:creator>
  <dc:subject>College Engineering Project</dc:subject>
</cp:coreProperties>
</file>
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 standalone="yes"?>
<presentation xmlns="http://schemas.openxmlformats.org/presentationml/2006/main" xmlns:r="http://schemas.openxmlformats.org/officeDocument/2006/relationships" xmlns:a="http://schemas.openxmlformats.org/drawingml/2006/main" xmlns:r="http://schemas.openxmlformats.org/officeDocument/2006/relationships" xmlns:p="http://schemas.openxmlformats.org/presentationml/2006/main"><sldSz cx="12192000" cy="6858000" /><notesSz cx="6858000" cy="12192000" /><sldIdLst><sldId id="256" r:id="rId1" /><sldId id="257" r:id="rId2" /><sldId id="258" r:id="rId3" /><sldId id="259" r:id="rId4" /><sldId id="260" r:id="rId5" /><sldId id="261" r:id="rId6" /><sldId id="262" r:id="rId7" /><sldId id="263" r:id="rId8" /><sldId id="264" r:id="rId9" /></sldIdLst><sldMasterIdLst><sldMasterId id="2147483648" r:id="rId10" /></sldMasterIdLst></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Relationship Id="rId10" Type="http://schemas.openxmlformats.org/officeDocument/2006/relationships/slideMaster" Target="slideMasters/slideMaster1.xml" /><Relationship Id="rId11" Type="http://schemas.openxmlformats.org/officeDocument/2006/relationships/theme" Target="theme/theme1.xml" 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sldLayout xmlns="http://schemas.openxmlformats.org/presentationml/2006/main" xmlns:a="http://schemas.openxmlformats.org/drawingml/2006/main" xmlns:r="http://schemas.openxmlformats.org/officeDocument/2006/relationships" xmlns:p="http://schemas.openxmlformats.org/presentationml/2006/main" type="blank" preserve="1">
  <cSld name="Blank">
    <spTree>
      <nvGrpSpPr>
        <cNvPr id="1" name=""/>
        <cNvGrpSpPr/>
        <nvPr/>
      </nvGrpSpPr>
      <grpSpPr/>
    </spTree>
  </cSld>
</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theme" Target="../theme/theme1.xml" /></Relationships>
</file>

<file path=ppt/slideMasters/slideMaster1.xml><?xml version="1.0" encoding="UTF-8" standalone="yes"?>
<sldMaster xmlns="http://schemas.openxmlformats.org/presentationml/2006/main" xmlns:a="http://schemas.openxmlformats.org/drawingml/2006/main" xmlns:r="http://schemas.openxmlformats.org/officeDocument/2006/relationships" xmlns:a="http://schemas.openxmlformats.org/drawingml/2006/main" xmlns:r="http://schemas.openxmlformats.org/officeDocument/2006/relationships" xmlns:p="http://schemas.openxmlformats.org/presentationml/2006/main"><cSld><bg><bgPr><a:solidFill><a:srgbClr val="FFFFFF" /></a:solidFill><a:effectLst /></bgPr></bg><spTree><nvGrpSpPr><cNvPr id="1" name="" /><cNvGrpSpPr /><nvPr /></nvGrpSpPr><grpSpPr /></spTree></cSld><sldLayoutIdLst><sldLayoutId id="2147483649" r:id="rId1" /></sldLayoutIdLst></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6858000" /></a:xfrm><a:prstGeom prst="rect"><a:avLst /></a:prstGeom><a:gradFill><a:gsLst><a:gs pos="0"><a:srgbClr val="1B2A4A" /></a:gs><a:gs pos="100000"><a:srgbClr val="1A2744" /></a:gs></a:gsLst><a:lin ang="5400000" scaled="1" /></a:gradFill><a:ln><a:noFill /></a:ln></spPr><txBody><a:bodyPr /><a:lstStyle /><a:p /></txBody></sp><sp><nvSpPr><cNvPr id="0" name="Rectangle" /><cNvSpPr /><nvPr /></nvSpPr><spPr><a:xfrm><a:off x="0" y="0" /><a:ext cx="12192000" cy="73152" /></a:xfrm><a:prstGeom prst="rect"><a:avLst /></a:prstGeom><a:solidFill><a:srgbClr val="E8792B" /></a:solidFill><a:ln><a:noFill /></a:ln></spPr><txBody><a:bodyPr /><a:lstStyle /><a:p /></txBody></sp><sp><nvSpPr><cNvPr id="0" name="Circle" /><cNvSpPr /><nvPr /></nvSpPr><spPr><a:xfrm><a:off x="6858000" y="-457200" /><a:ext cx="2743200" cy="2743200" /></a:xfrm><a:prstGeom prst="ellipse"><a:avLst /></a:prstGeom><a:solidFill><a:srgbClr val="2A3F6A" /></a:solidFill><a:ln><a:noFill /></a:ln></spPr><txBody><a:bodyPr anchor="ctr" /><a:lstStyle /><a:p><a:pPr algn="ctr"><a:buNone /></a:pPr><a:r><a:rPr lang="en-US" sz="1000" b="1"><a:solidFill><a:srgbClr val="FFFFFF" /></a:solidFill><a:latin typeface="Segoe UI" /><a:cs typeface="Segoe UI" /></a:rPr><a:t /></a:r></a:p></txBody></sp><sp><nvSpPr><cNvPr id="0" name="Circle" /><cNvSpPr /><nvPr /></nvSpPr><spPr><a:xfrm><a:off x="-457200" y="5029200" /><a:ext cx="1828800" cy="1828800" /></a:xfrm><a:prstGeom prst="ellipse"><a:avLst /></a:prstGeom><a:solidFill><a:srgbClr val="2A3F6A" /></a:solidFill><a:ln><a:noFill /></a:ln></spPr><txBody><a:bodyPr anchor="ctr" /><a:lstStyle /><a:p><a:pPr algn="ctr"><a:buNone /></a:pPr><a:r><a:rPr lang="en-US" sz="1000" b="1"><a:solidFill><a:srgbClr val="FFFFFF" /></a:solidFill><a:latin typeface="Segoe UI" /><a:cs typeface="Segoe UI" /></a:rPr><a:t /></a:r></a:p></txBody></sp><sp><nvSpPr><cNvPr id="0" name="Rectangle" /><cNvSpPr /><nvPr /></nvSpPr><spPr><a:xfrm><a:off x="457200" y="2377440" /><a:ext cx="73152" cy="137160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731520" y="2011680" /><a:ext cx="7315200" cy="1828800" /></a:xfrm><a:prstGeom prst="rect"><a:avLst /></a:prstGeom><a:noFill /></spPr><txBody><a:bodyPr wrap="square" rtlCol="0" /><a:lstStyle /><a:p><a:pPr algn="l"><a:buNone /></a:pPr><a:r><a:rPr lang="en-US" sz="3600" b="1"><a:solidFill><a:srgbClr val="FFFFFF" /></a:solidFill><a:latin typeface="Segoe UI Semibold" /><a:cs typeface="Segoe UI Semibold" /></a:rPr><a:t>🛢  Cylinder Distribution Platform</a:t></a:r></a:p><a:p><a:pPr algn="l"><a:buNone /></a:pPr><a:r><a:rPr lang="en-US" sz="2800" b="1"><a:solidFill><a:srgbClr val="F5A623" /></a:solidFill><a:latin typeface="Segoe UI" /><a:cs typeface="Segoe UI" /></a:rPr><a:t>Backend API</a:t></a:r></a:p></txBody></sp><sp><nvSpPr><cNvPr id="0" name="TextBox" /><cNvSpPr txBox="1" /><nvPr /></nvSpPr><spPr><a:xfrm><a:off x="731520" y="3840480" /><a:ext cx="6400800" cy="548640" /></a:xfrm><a:prstGeom prst="rect"><a:avLst /></a:prstGeom><a:noFill /></spPr><txBody><a:bodyPr wrap="square" rtlCol="0" /><a:lstStyle /><a:p><a:pPr algn="l"><a:buNone /></a:pPr><a:r><a:rPr lang="en-US" sz="1600"><a:solidFill><a:srgbClr val="B8C5D9" /></a:solidFill><a:latin typeface="Segoe UI" /><a:cs typeface="Segoe UI" /></a:rPr><a:t>Production-Grade LPG Delivery Service Platform</a:t></a:r></a:p></txBody></sp><sp><nvSpPr><cNvPr id="0" name="TextBox" /><cNvSpPr txBox="1" /><nvPr /></nvSpPr><spPr><a:xfrm><a:off x="731520" y="4480560" /><a:ext cx="5486400" cy="2286000" /></a:xfrm><a:prstGeom prst="rect"><a:avLst /></a:prstGeom><a:noFill /></spPr><txBody><a:bodyPr wrap="square" rtlCol="0" /><a:lstStyle /><a:p><a:pPr algn="l"><a:buNone /></a:pPr><a:r><a:rPr lang="en-US" sz="1600" b="1"><a:solidFill><a:srgbClr val="F5A623" /></a:solidFill><a:latin typeface="Segoe UI" /><a:cs typeface="Segoe UI" /></a:rPr><a:t>👥  Team CylDist</a:t></a:r></a:p><a:p><a:pPr algn="l"><a:buNone /></a:pPr><a:r><a:rPr lang="en-US" sz="800"><a:solidFill><a:srgbClr val="FFFFFF" /></a:solidFill><a:latin typeface="Segoe UI" /><a:cs typeface="Segoe UI" /></a:rPr><a:t /></a:r></a:p><a:p><a:pPr algn="l"><a:buNone /></a:pPr><a:r><a:rPr lang="en-US" sz="1200" b="1"><a:solidFill><a:srgbClr val="FFFFFF" /></a:solidFill><a:latin typeface="Segoe UI" /><a:cs typeface="Segoe UI" /></a:rPr><a:t>Team Members:</a:t></a:r></a:p><a:p><a:pPr algn="l"><a:buNone /></a:pPr><a:r><a:rPr lang="en-US" sz="1100"><a:solidFill><a:srgbClr val="B8C5D9" /></a:solidFill><a:latin typeface="Segoe UI" /><a:cs typeface="Segoe UI" /></a:rPr><a:t>  • Member 1 - Full Stack Developer</a:t></a:r></a:p><a:p><a:pPr algn="l"><a:buNone /></a:pPr><a:r><a:rPr lang="en-US" sz="1100"><a:solidFill><a:srgbClr val="B8C5D9" /></a:solidFill><a:latin typeface="Segoe UI" /><a:cs typeface="Segoe UI" /></a:rPr><a:t>  • Member 2 - Backend Engineer</a:t></a:r></a:p><a:p><a:pPr algn="l"><a:buNone /></a:pPr><a:r><a:rPr lang="en-US" sz="1100"><a:solidFill><a:srgbClr val="B8C5D9" /></a:solidFill><a:latin typeface="Segoe UI" /><a:cs typeface="Segoe UI" /></a:rPr><a:t>  • Member 3 - DevOps &amp; Database</a:t></a:r></a:p><a:p><a:pPr algn="l"><a:buNone /></a:pPr><a:r><a:rPr lang="en-US" sz="1100"><a:solidFill><a:srgbClr val="B8C5D9" /></a:solidFill><a:latin typeface="Segoe UI" /><a:cs typeface="Segoe UI" /></a:rPr><a:t>  • Member 4 - Frontend &amp; Testing</a:t></a:r></a:p><a:p><a:pPr algn="l"><a:buNone /></a:pPr><a:r><a:rPr lang="en-US" sz="800"><a:solidFill><a:srgbClr val="FFFFFF" /></a:solidFill><a:latin typeface="Segoe UI" /><a:cs typeface="Segoe UI" /></a:rPr><a:t /></a:r></a:p><a:p><a:pPr algn="l"><a:buNone /></a:pPr><a:r><a:rPr lang="en-US" sz="1100"><a:solidFill><a:srgbClr val="8899B3" /></a:solidFill><a:latin typeface="Segoe UI" /><a:cs typeface="Segoe UI" /></a:rPr><a:t>🏫  Department of Computer Engineering</a:t></a:r></a:p><a:p><a:pPr algn="l"><a:buNone /></a:pPr><a:r><a:rPr lang="en-US" sz="1100"><a:solidFill><a:srgbClr val="8899B3" /></a:solidFill><a:latin typeface="Segoe UI" /><a:cs typeface="Segoe UI" /></a:rPr><a:t>     [Your College Name], 2025</a:t></a:r></a:p></txBody></sp><sp><nvSpPr><cNvPr id="0" name="Rectangle" /><cNvSpPr /><nvPr /></nvSpPr><spPr><a:xfrm><a:off x="0" y="6784848" /><a:ext cx="12192000" cy="73152" /></a:xfrm><a:prstGeom prst="rect"><a:avLst /></a:prstGeom><a:solidFill><a:srgbClr val="E8792B" /></a:solidFill><a:ln><a:noFill /></a:ln></spPr><txBody><a:bodyPr /><a:lstStyle /><a:p /></txBody></sp></spTree></cSld></sld>
</file>

<file path=ppt/slides/slide2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Introduction &amp; Objectives</a:t></a:r></a:p><a:p><a:pPr algn="l"><a:buNone /></a:pPr><a:r><a:rPr lang="en-US" sz="1400"><a:solidFill><a:srgbClr val="4A5568" /></a:solidFill><a:latin typeface="Segoe UI" /><a:cs typeface="Segoe UI" /></a:rPr><a:t>Overview of the LPG Cylinder Distribution Platform</a:t></a:r></a:p></txBody></sp><sp><nvSpPr><cNvPr id="0" name="Card" /><cNvSpPr /><nvPr /></nvSpPr><spPr><a:xfrm><a:off x="365760" y="1737360" /><a:ext cx="4114800" cy="2926080" /></a:xfrm><a:prstGeom prst="roundRect"><a:avLst><a:gd name="adj" fmla="val 8000" /></a:avLst></a:prstGeom><a:solidFill><a:srgbClr val="2E4A7A" /></a:solidFill><a:ln><a:noFill /></a:ln><a:effectLst><a:outerShdw blurRad="40000" dist="23000" dir="5400000" rotWithShape="0"><a:srgbClr val="000000"><a:alpha val="35000" /></a:srgbClr></a:outerShdw></a:effectLst></spPr><txBody><a:bodyPr wrap="square" rtlCol="0" lIns="91440" tIns="91440" rIns="91440" bIns="45720" /><a:lstStyle /><a:p><a:pPr algn="l"><a:buNone /></a:pPr><a:r><a:rPr lang="en-US" sz="1600" b="1"><a:solidFill><a:srgbClr val="FFFFFF" /></a:solidFill><a:latin typeface="Segoe UI Semibold" /><a:cs typeface="Segoe UI Semibold" /></a:rPr><a:t>📋  Platform Overview</a:t></a:r></a:p><a:p><a:pPr algn="l"><a:buNone /></a:pPr><a:r><a:rPr lang="en-US" sz="1200"><a:solidFill><a:srgbClr val="FFFFFF" /></a:solidFill><a:latin typeface="Segoe UI" /><a:cs typeface="Segoe UI" /></a:rPr><a:t>  • Digital LPG cylinder booking</a:t></a:r></a:p><a:p><a:pPr algn="l"><a:buNone /></a:pPr><a:r><a:rPr lang="en-US" sz="1200"><a:solidFill><a:srgbClr val="FFFFFF" /></a:solidFill><a:latin typeface="Segoe UI" /><a:cs typeface="Segoe UI" /></a:rPr><a:t>  • &amp; delivery management system</a:t></a:r></a:p><a:p><a:pPr algn="l"><a:buNone /></a:pPr><a:r><a:rPr lang="en-US" sz="1200"><a:solidFill><a:srgbClr val="FFFFFF" /></a:solidFill><a:latin typeface="Segoe UI" /><a:cs typeface="Segoe UI" /></a:rPr><a:t>  • </a:t></a:r></a:p><a:p><a:pPr algn="l"><a:buNone /></a:pPr><a:r><a:rPr lang="en-US" sz="1200"><a:solidFill><a:srgbClr val="FFFFFF" /></a:solidFill><a:latin typeface="Segoe UI" /><a:cs typeface="Segoe UI" /></a:rPr><a:t>  • Multi-role platform: Admin,</a:t></a:r></a:p><a:p><a:pPr algn="l"><a:buNone /></a:pPr><a:r><a:rPr lang="en-US" sz="1200"><a:solidFill><a:srgbClr val="FFFFFF" /></a:solidFill><a:latin typeface="Segoe UI" /><a:cs typeface="Segoe UI" /></a:rPr><a:t>  • Customer, Delivery Agent</a:t></a:r></a:p><a:p><a:pPr algn="l"><a:buNone /></a:pPr><a:r><a:rPr lang="en-US" sz="1200"><a:solidFill><a:srgbClr val="FFFFFF" /></a:solidFill><a:latin typeface="Segoe UI" /><a:cs typeface="Segoe UI" /></a:rPr><a:t>  • </a:t></a:r></a:p><a:p><a:pPr algn="l"><a:buNone /></a:pPr><a:r><a:rPr lang="en-US" sz="1200"><a:solidFill><a:srgbClr val="FFFFFF" /></a:solidFill><a:latin typeface="Segoe UI" /><a:cs typeface="Segoe UI" /></a:rPr><a:t>  • Real-time tracking &amp; live chat</a:t></a:r></a:p><a:p><a:pPr algn="l"><a:buNone /></a:pPr><a:r><a:rPr lang="en-US" sz="1200"><a:solidFill><a:srgbClr val="FFFFFF" /></a:solidFill><a:latin typeface="Segoe UI" /><a:cs typeface="Segoe UI" /></a:rPr><a:t>  • End-to-end order lifecycle</a:t></a:r></a:p></txBody></sp><sp><nvSpPr><cNvPr id="0" name="Card" /><cNvSpPr /><nvPr /></nvSpPr><spPr><a:xfrm><a:off x="4754880" y="1737360" /><a:ext cx="4114800" cy="2926080" /></a:xfrm><a:prstGeom prst="roundRect"><a:avLst><a:gd name="adj" fmla="val 8000" /></a:avLst></a:prstGeom><a:solidFill><a:srgbClr val="1B2A4A" /></a:solidFill><a:ln><a:noFill /></a:ln><a:effectLst><a:outerShdw blurRad="40000" dist="23000" dir="5400000" rotWithShape="0"><a:srgbClr val="000000"><a:alpha val="35000" /></a:srgbClr></a:outerShdw></a:effectLst></spPr><txBody><a:bodyPr wrap="square" rtlCol="0" lIns="91440" tIns="91440" rIns="91440" bIns="45720" /><a:lstStyle /><a:p><a:pPr algn="l"><a:buNone /></a:pPr><a:r><a:rPr lang="en-US" sz="1600" b="1"><a:solidFill><a:srgbClr val="FFFFFF" /></a:solidFill><a:latin typeface="Segoe UI Semibold" /><a:cs typeface="Segoe UI Semibold" /></a:rPr><a:t>🎯  Key Objectives</a:t></a:r></a:p><a:p><a:pPr algn="l"><a:buNone /></a:pPr><a:r><a:rPr lang="en-US" sz="1200"><a:solidFill><a:srgbClr val="FFFFFF" /></a:solidFill><a:latin typeface="Segoe UI" /><a:cs typeface="Segoe UI" /></a:rPr><a:t>  • Digitize traditional LPG</a:t></a:r></a:p><a:p><a:pPr algn="l"><a:buNone /></a:pPr><a:r><a:rPr lang="en-US" sz="1200"><a:solidFill><a:srgbClr val="FFFFFF" /></a:solidFill><a:latin typeface="Segoe UI" /><a:cs typeface="Segoe UI" /></a:rPr><a:t>  • distribution workflow</a:t></a:r></a:p><a:p><a:pPr algn="l"><a:buNone /></a:pPr><a:r><a:rPr lang="en-US" sz="1200"><a:solidFill><a:srgbClr val="FFFFFF" /></a:solidFill><a:latin typeface="Segoe UI" /><a:cs typeface="Segoe UI" /></a:rPr><a:t>  • </a:t></a:r></a:p><a:p><a:pPr algn="l"><a:buNone /></a:pPr><a:r><a:rPr lang="en-US" sz="1200"><a:solidFill><a:srgbClr val="FFFFFF" /></a:solidFill><a:latin typeface="Segoe UI" /><a:cs typeface="Segoe UI" /></a:rPr><a:t>  • Provide real-time GPS tracking</a:t></a:r></a:p><a:p><a:pPr algn="l"><a:buNone /></a:pPr><a:r><a:rPr lang="en-US" sz="1200"><a:solidFill><a:srgbClr val="FFFFFF" /></a:solidFill><a:latin typeface="Segoe UI" /><a:cs typeface="Segoe UI" /></a:rPr><a:t>  • Enable emergency prioritization</a:t></a:r></a:p><a:p><a:pPr algn="l"><a:buNone /></a:pPr><a:r><a:rPr lang="en-US" sz="1200"><a:solidFill><a:srgbClr val="FFFFFF" /></a:solidFill><a:latin typeface="Segoe UI" /><a:cs typeface="Segoe UI" /></a:rPr><a:t>  • </a:t></a:r></a:p><a:p><a:pPr algn="l"><a:buNone /></a:pPr><a:r><a:rPr lang="en-US" sz="1200"><a:solidFill><a:srgbClr val="FFFFFF" /></a:solidFill><a:latin typeface="Segoe UI" /><a:cs typeface="Segoe UI" /></a:rPr><a:t>  • Secure &amp; scalable architecture</a:t></a:r></a:p><a:p><a:pPr algn="l"><a:buNone /></a:pPr><a:r><a:rPr lang="en-US" sz="1200"><a:solidFill><a:srgbClr val="FFFFFF" /></a:solidFill><a:latin typeface="Segoe UI" /><a:cs typeface="Segoe UI" /></a:rPr><a:t>  • Production-ready deployment</a:t></a:r></a:p></txBody></sp><sp><nvSpPr><cNvPr id="0" name="Rectangle" /><cNvSpPr /><nvPr /></nvSpPr><spPr><a:xfrm><a:off x="365760" y="4846320" /><a:ext cx="8503920" cy="1645920" /></a:xfrm><a:prstGeom prst="roundRect"><a:avLst><a:gd name="adj" fmla="val 5000" /></a:avLst></a:prstGeom><a:solidFill><a:srgbClr val="F0F4F8" /></a:solidFill><a:ln><a:noFill /></a:ln></spPr><txBody><a:bodyPr /><a:lstStyle /><a:p /></txBody></sp><sp><nvSpPr><cNvPr id="0" name="TextBox" /><cNvSpPr txBox="1" /><nvPr /></nvSpPr><spPr><a:xfrm><a:off x="548640" y="4937760" /><a:ext cx="8229600" cy="1554480" /></a:xfrm><a:prstGeom prst="rect"><a:avLst /></a:prstGeom><a:noFill /></spPr><txBody><a:bodyPr wrap="square" rtlCol="0" /><a:lstStyle /><a:p><a:pPr algn="l"><a:buNone /></a:pPr><a:r><a:rPr lang="en-US" sz="1400" b="1"><a:solidFill><a:srgbClr val="1B2A4A" /></a:solidFill><a:latin typeface="Segoe UI" /><a:cs typeface="Segoe UI" /></a:rPr><a:t>💡 Key Highlights</a:t></a:r></a:p><a:p><a:pPr algn="l"><a:buNone /></a:pPr><a:r><a:rPr lang="en-US" sz="600"><a:solidFill><a:srgbClr val="1A1A2E" /></a:solidFill><a:latin typeface="Segoe UI" /><a:cs typeface="Segoe UI" /></a:rPr><a:t /></a:r></a:p><a:p><a:pPr algn="l"><a:buNone /></a:pPr><a:r><a:rPr lang="en-US" sz="1100"><a:solidFill><a:srgbClr val="4A5568" /></a:solidFill><a:latin typeface="Segoe UI" /><a:cs typeface="Segoe UI" /></a:rPr><a:t>  ▶ Node.js + Express.js Backend    ▶ MongoDB + Redis Database Layer    ▶ Socket.IO Real-Time</a:t></a:r></a:p><a:p><a:pPr algn="l"><a:buNone /></a:pPr><a:r><a:rPr lang="en-US" sz="1100"><a:solidFill><a:srgbClr val="4A5568" /></a:solidFill><a:latin typeface="Segoe UI" /><a:cs typeface="Segoe UI" /></a:rPr><a:t>  ▶ Docker &amp; Kubernetes Ready        ▶ JWT Auth + RBAC Security         ▶ Swagger API Docs</a:t></a:r></a:p></txBody></sp></spTree></cSld></sld>
</file>

<file path=ppt/slides/slide3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Problem Statement &amp; Proposed Solution</a:t></a:r></a:p></txBody></sp><sp><nvSpPr><cNvPr id="0" name="Rectangle" /><cNvSpPr /><nvPr /></nvSpPr><spPr><a:xfrm><a:off x="365760" y="1737360" /><a:ext cx="4023360" cy="411480" /></a:xfrm><a:prstGeom prst="roundRect"><a:avLst><a:gd name="adj" fmla="val 3000" /></a:avLst></a:prstGeom><a:solidFill><a:srgbClr val="D32F2F" /></a:solidFill><a:ln><a:noFill /></a:ln></spPr><txBody><a:bodyPr /><a:lstStyle /><a:p /></txBody></sp><sp><nvSpPr><cNvPr id="0" name="TextBox" /><cNvSpPr txBox="1" /><nvPr /></nvSpPr><spPr><a:xfrm><a:off x="457200" y="1755648" /><a:ext cx="3931920" cy="411480" /></a:xfrm><a:prstGeom prst="rect"><a:avLst /></a:prstGeom><a:noFill /></spPr><txBody><a:bodyPr wrap="square" rtlCol="0" /><a:lstStyle /><a:p><a:pPr algn="ctr"><a:buNone /></a:pPr><a:r><a:rPr lang="en-US" sz="1300" b="1"><a:solidFill><a:srgbClr val="FFFFFF" /></a:solidFill><a:latin typeface="Segoe UI" /><a:cs typeface="Segoe UI" /></a:rPr><a:t>⚠  Problems in Traditional System</a:t></a:r></a:p></txBody></sp><sp><nvSpPr><cNvPr id="0" name="TextBox" /><cNvSpPr txBox="1" /><nvPr /></nvSpPr><spPr><a:xfrm><a:off x="457200" y="2148840" /><a:ext cx="3931920" cy="2926080" /></a:xfrm><a:prstGeom prst="rect"><a:avLst /></a:prstGeom><a:noFill /></spPr><txBody><a:bodyPr wrap="square" rtlCol="0" /><a:lstStyle /><a:p><a:pPr algn="l"><a:buNone /></a:pPr><a:r><a:rPr lang="en-US" sz="400"><a:solidFill><a:srgbClr val="1A1A2E" /></a:solidFill><a:latin typeface="Segoe UI" /><a:cs typeface="Segoe UI" /></a:rPr><a:t /></a:r></a:p><a:p><a:pPr algn="l"><a:buNone /></a:pPr><a:r><a:rPr lang="en-US" sz="1200"><a:solidFill><a:srgbClr val="B71C1C" /></a:solidFill><a:latin typeface="Segoe UI" /><a:cs typeface="Segoe UI" /></a:rPr><a:t>  ✖  Manual booking via phone/visits</a:t></a:r></a:p><a:p><a:pPr algn="l"><a:buNone /></a:pPr><a:r><a:rPr lang="en-US" sz="1200"><a:solidFill><a:srgbClr val="B71C1C" /></a:solidFill><a:latin typeface="Segoe UI" /><a:cs typeface="Segoe UI" /></a:rPr><a:t>  ✖  No real-time delivery tracking</a:t></a:r></a:p><a:p><a:pPr algn="l"><a:buNone /></a:pPr><a:r><a:rPr lang="en-US" sz="1200"><a:solidFill><a:srgbClr val="B71C1C" /></a:solidFill><a:latin typeface="Segoe UI" /><a:cs typeface="Segoe UI" /></a:rPr><a:t>  ✖  Inventory management opaque</a:t></a:r></a:p><a:p><a:pPr algn="l"><a:buNone /></a:pPr><a:r><a:rPr lang="en-US" sz="1200"><a:solidFill><a:srgbClr val="B71C1C" /></a:solidFill><a:latin typeface="Segoe UI" /><a:cs typeface="Segoe UI" /></a:rPr><a:t>  ✖  No priority during emergencies</a:t></a:r></a:p><a:p><a:pPr algn="l"><a:buNone /></a:pPr><a:r><a:rPr lang="en-US" sz="1200"><a:solidFill><a:srgbClr val="B71C1C" /></a:solidFill><a:latin typeface="Segoe UI" /><a:cs typeface="Segoe UI" /></a:rPr><a:t>  ✖  Paper-based record keeping</a:t></a:r></a:p><a:p><a:pPr algn="l"><a:buNone /></a:pPr><a:r><a:rPr lang="en-US" sz="1200"><a:solidFill><a:srgbClr val="B71C1C" /></a:solidFill><a:latin typeface="Segoe UI" /><a:cs typeface="Segoe UI" /></a:rPr><a:t>  ✖  No communication channel</a:t></a:r></a:p></txBody></sp><sp><nvSpPr><cNvPr id="0" name="Arrow" /><cNvSpPr /><nvPr /></nvSpPr><spPr><a:xfrm><a:off x="4206240" y="3474720" /><a:ext cx="640080" cy="457200" /></a:xfrm><a:prstGeom prst="rightArrow"><a:avLst /></a:prstGeom><a:solidFill><a:srgbClr val="E8792B" /></a:solidFill><a:ln><a:noFill /></a:ln></spPr><txBody><a:bodyPr /><a:lstStyle /><a:p /></txBody></sp><sp><nvSpPr><cNvPr id="0" name="Rectangle" /><cNvSpPr /><nvPr /></nvSpPr><spPr><a:xfrm><a:off x="5029200" y="1737360" /><a:ext cx="4023360" cy="411480" /></a:xfrm><a:prstGeom prst="roundRect"><a:avLst><a:gd name="adj" fmla="val 3000" /></a:avLst></a:prstGeom><a:solidFill><a:srgbClr val="1B5E20" /></a:solidFill><a:ln><a:noFill /></a:ln></spPr><txBody><a:bodyPr /><a:lstStyle /><a:p /></txBody></sp><sp><nvSpPr><cNvPr id="0" name="TextBox" /><cNvSpPr txBox="1" /><nvPr /></nvSpPr><spPr><a:xfrm><a:off x="5120640" y="1755648" /><a:ext cx="3931920" cy="411480" /></a:xfrm><a:prstGeom prst="rect"><a:avLst /></a:prstGeom><a:noFill /></spPr><txBody><a:bodyPr wrap="square" rtlCol="0" /><a:lstStyle /><a:p><a:pPr algn="ctr"><a:buNone /></a:pPr><a:r><a:rPr lang="en-US" sz="1300" b="1"><a:solidFill><a:srgbClr val="FFFFFF" /></a:solidFill><a:latin typeface="Segoe UI" /><a:cs typeface="Segoe UI" /></a:rPr><a:t>✅  Our Digital Solution</a:t></a:r></a:p></txBody></sp><sp><nvSpPr><cNvPr id="0" name="TextBox" /><cNvSpPr txBox="1" /><nvPr /></nvSpPr><spPr><a:xfrm><a:off x="5120640" y="2148840" /><a:ext cx="3931920" cy="2926080" /></a:xfrm><a:prstGeom prst="rect"><a:avLst /></a:prstGeom><a:noFill /></spPr><txBody><a:bodyPr wrap="square" rtlCol="0" /><a:lstStyle /><a:p><a:pPr algn="l"><a:buNone /></a:pPr><a:r><a:rPr lang="en-US" sz="400"><a:solidFill><a:srgbClr val="1A1A2E" /></a:solidFill><a:latin typeface="Segoe UI" /><a:cs typeface="Segoe UI" /></a:rPr><a:t /></a:r></a:p><a:p><a:pPr algn="l"><a:buNone /></a:pPr><a:r><a:rPr lang="en-US" sz="1200"><a:solidFill><a:srgbClr val="1B5E20" /></a:solidFill><a:latin typeface="Segoe UI" /><a:cs typeface="Segoe UI" /></a:rPr><a:t>  ✔  Online booking + WhatsApp</a:t></a:r></a:p><a:p><a:pPr algn="l"><a:buNone /></a:pPr><a:r><a:rPr lang="en-US" sz="1200"><a:solidFill><a:srgbClr val="1B5E20" /></a:solidFill><a:latin typeface="Segoe UI" /><a:cs typeface="Segoe UI" /></a:rPr><a:t>  ✔  Live GPS delivery tracking</a:t></a:r></a:p><a:p><a:pPr algn="l"><a:buNone /></a:pPr><a:r><a:rPr lang="en-US" sz="1200"><a:solidFill><a:srgbClr val="1B5E20" /></a:solidFill><a:latin typeface="Segoe UI" /><a:cs typeface="Segoe UI" /></a:rPr><a:t>  ✔  Automated inventory system</a:t></a:r></a:p><a:p><a:pPr algn="l"><a:buNone /></a:pPr><a:r><a:rPr lang="en-US" sz="1200"><a:solidFill><a:srgbClr val="1B5E20" /></a:solidFill><a:latin typeface="Segoe UI" /><a:cs typeface="Segoe UI" /></a:rPr><a:t>  ✔  Crisis prioritization engine</a:t></a:r></a:p><a:p><a:pPr algn="l"><a:buNone /></a:pPr><a:r><a:rPr lang="en-US" sz="1200"><a:solidFill><a:srgbClr val="1B5E20" /></a:solidFill><a:latin typeface="Segoe UI" /><a:cs typeface="Segoe UI" /></a:rPr><a:t>  ✔  Digital order management</a:t></a:r></a:p><a:p><a:pPr algn="l"><a:buNone /></a:pPr><a:r><a:rPr lang="en-US" sz="1200"><a:solidFill><a:srgbClr val="1B5E20" /></a:solidFill><a:latin typeface="Segoe UI" /><a:cs typeface="Segoe UI" /></a:rPr><a:t>  ✔  Real-time agent-customer chat</a:t></a:r></a:p></txBody></sp><sp><nvSpPr><cNvPr id="0" name="Rectangle" /><cNvSpPr /><nvPr /></nvSpPr><spPr><a:xfrm><a:off x="365760" y="5303520" /><a:ext cx="8503920" cy="1097280" /></a:xfrm><a:prstGeom prst="roundRect"><a:avLst><a:gd name="adj" fmla="val 5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5486400" /><a:ext cx="8321040" cy="731520" /></a:xfrm><a:prstGeom prst="rect"><a:avLst /></a:prstGeom><a:noFill /></spPr><txBody><a:bodyPr wrap="square" rtlCol="0" /><a:lstStyle /><a:p><a:pPr algn="ctr"><a:buNone /></a:pPr><a:r><a:rPr lang="en-US" sz="1100"><a:solidFill><a:srgbClr val="FFFFFF" /></a:solidFill><a:latin typeface="Segoe UI" /><a:cs typeface="Segoe UI" /></a:rPr><a:t>🚀  Impact: 100% digital workflow | Real-time visibility | Emergency-aware allocation | Scalable microservices</a:t></a:r></a:p></txBody></sp></spTree></cSld></sld>
</file>

<file path=ppt/slides/slide4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System Architecture &amp; Workflow</a:t></a:r></a:p><a:p><a:pPr algn="l"><a:buNone /></a:pPr><a:r><a:rPr lang="en-US" sz="1400"><a:solidFill><a:srgbClr val="4A5568" /></a:solidFill><a:latin typeface="Segoe UI" /><a:cs typeface="Segoe UI" /></a:rPr><a:t>Request Flow: User → Backend API → Database</a:t></a:r></a:p></txBody></sp><sp><nvSpPr><cNvPr id="0" name="Circle" /><cNvSpPr /><nvPr /></nvSpPr><spPr><a:xfrm><a:off x="731520" y="1828800" /><a:ext cx="1097280" cy="1097280" /></a:xfrm><a:prstGeom prst="ellipse"><a:avLst /></a:prstGeom><a:solidFill><a:srgbClr val="4A90D9" /></a:solidFill><a:ln><a:noFill /></a:ln></spPr><txBody><a:bodyPr anchor="ctr" /><a:lstStyle /><a:p><a:pPr algn="ctr"><a:buNone /></a:pPr><a:r><a:rPr lang="en-US" sz="900" b="1"><a:solidFill><a:srgbClr val="FFFFFF" /></a:solidFill><a:latin typeface="Segoe UI" /><a:cs typeface="Segoe UI" /></a:rPr><a:t>👤
Customer</a:t></a:r></a:p></txBody></sp><sp><nvSpPr><cNvPr id="0" name="Circle" /><cNvSpPr /><nvPr /></nvSpPr><spPr><a:xfrm><a:off x="2286000" y="1828800" /><a:ext cx="1097280" cy="1097280" /></a:xfrm><a:prstGeom prst="ellipse"><a:avLst /></a:prstGeom><a:solidFill><a:srgbClr val="E8792B" /></a:solidFill><a:ln><a:noFill /></a:ln></spPr><txBody><a:bodyPr anchor="ctr" /><a:lstStyle /><a:p><a:pPr algn="ctr"><a:buNone /></a:pPr><a:r><a:rPr lang="en-US" sz="900" b="1"><a:solidFill><a:srgbClr val="FFFFFF" /></a:solidFill><a:latin typeface="Segoe UI" /><a:cs typeface="Segoe UI" /></a:rPr><a:t>🛠
Admin</a:t></a:r></a:p></txBody></sp><sp><nvSpPr><cNvPr id="0" name="Circle" /><cNvSpPr /><nvPr /></nvSpPr><spPr><a:xfrm><a:off x="3840480" y="1828800" /><a:ext cx="1097280" cy="1097280" /></a:xfrm><a:prstGeom prst="ellipse"><a:avLst /></a:prstGeom><a:solidFill><a:srgbClr val="27AE60" /></a:solidFill><a:ln><a:noFill /></a:ln></spPr><txBody><a:bodyPr anchor="ctr" /><a:lstStyle /><a:p><a:pPr algn="ctr"><a:buNone /></a:pPr><a:r><a:rPr lang="en-US" sz="900" b="1"><a:solidFill><a:srgbClr val="FFFFFF" /></a:solidFill><a:latin typeface="Segoe UI" /><a:cs typeface="Segoe UI" /></a:rPr><a:t>🚚
Agent</a:t></a:r></a:p></txBody></sp><sp><nvSpPr><cNvPr id="0" name="Rectangle" /><cNvSpPr /><nvPr /></nvSpPr><spPr><a:xfrm><a:off x="2560320" y="3017520" /><a:ext cx="54864" cy="457200" /></a:xfrm><a:prstGeom prst="rect"><a:avLst /></a:prstGeom><a:solidFill><a:srgbClr val="E8792B" /></a:solidFill><a:ln><a:noFill /></a:ln></spPr><txBody><a:bodyPr /><a:lstStyle /><a:p /></txBody></sp><sp><nvSpPr><cNvPr id="0" name="Rectangle" /><cNvSpPr /><nvPr /></nvSpPr><spPr><a:xfrm><a:off x="457200" y="3566160" /><a:ext cx="4754880" cy="1188720" /></a:xfrm><a:prstGeom prst="roundRect"><a:avLst><a:gd name="adj" fmla="val 5000" /></a:avLst></a:prstGeom><a:solidFill><a:srgbClr val="1B2A4A" /></a:solidFill><a:ln><a:noFill /></a:ln></spPr><txBody><a:bodyPr /><a:lstStyle /><a:p /></txBody></sp><sp><nvSpPr><cNvPr id="0" name="TextBox" /><cNvSpPr txBox="1" /><nvPr /></nvSpPr><spPr><a:xfrm><a:off x="548640" y="3703320" /><a:ext cx="4572000" cy="1097280" /></a:xfrm><a:prstGeom prst="rect"><a:avLst /></a:prstGeom><a:noFill /></spPr><txBody><a:bodyPr wrap="square" rtlCol="0" /><a:lstStyle /><a:p><a:pPr algn="ctr"><a:buNone /></a:pPr><a:r><a:rPr lang="en-US" sz="1300" b="1"><a:solidFill><a:srgbClr val="FFFFFF" /></a:solidFill><a:latin typeface="Segoe UI" /><a:cs typeface="Segoe UI" /></a:rPr><a:t>⚙  Express.js Backend API (Node.js)</a:t></a:r></a:p><a:p><a:pPr algn="ctr"><a:buNone /></a:pPr><a:r><a:rPr lang="en-US" sz="1000"><a:solidFill><a:srgbClr val="B8C5D9" /></a:solidFill><a:latin typeface="Segoe UI" /><a:cs typeface="Segoe UI" /></a:rPr><a:t>REST API | Socket.IO | JWT Auth | RBAC | Zod Validation</a:t></a:r></a:p></txBody></sp><sp><nvSpPr><cNvPr id="0" name="Rectangle" /><cNvSpPr /><nvPr /></nvSpPr><spPr><a:xfrm><a:off x="2560320" y="4846320" /><a:ext cx="54864" cy="457200" /></a:xfrm><a:prstGeom prst="rect"><a:avLst /></a:prstGeom><a:solidFill><a:srgbClr val="E8792B" /></a:solidFill><a:ln><a:noFill /></a:ln></spPr><txBody><a:bodyPr /><a:lstStyle /><a:p /></txBody></sp><sp><nvSpPr><cNvPr id="0" name="Rectangle" /><cNvSpPr /><nvPr /></nvSpPr><spPr><a:xfrm><a:off x="457200" y="5394960" /><a:ext cx="2103120" cy="822960" /></a:xfrm><a:prstGeom prst="roundRect"><a:avLst><a:gd name="adj" fmla="val 5000" /></a:avLst></a:prstGeom><a:solidFill><a:srgbClr val="2E7D32" /></a:solidFill><a:ln><a:noFill /></a:ln></spPr><txBody><a:bodyPr /><a:lstStyle /><a:p /></txBody></sp><sp><nvSpPr><cNvPr id="0" name="TextBox" /><cNvSpPr txBox="1" /><nvPr /></nvSpPr><spPr><a:xfrm><a:off x="548640" y="5486400" /><a:ext cx="1920240" cy="73152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💾 MongoDB</a:t></a:r></a:p><a:p><a:pPr algn="ctr"><a:buNone /></a:pPr><a:r><a:rPr lang="en-US" sz="900"><a:solidFill><a:srgbClr val="C8E6C9" /></a:solidFill><a:latin typeface="Segoe UI" /><a:cs typeface="Segoe UI" /></a:rPr><a:t>Primary Database</a:t></a:r></a:p></txBody></sp><sp><nvSpPr><cNvPr id="0" name="Rectangle" /><cNvSpPr /><nvPr /></nvSpPr><spPr><a:xfrm><a:off x="2926080" y="5394960" /><a:ext cx="2103120" cy="822960" /></a:xfrm><a:prstGeom prst="roundRect"><a:avLst><a:gd name="adj" fmla="val 5000" /></a:avLst></a:prstGeom><a:solidFill><a:srgbClr val="C62828" /></a:solidFill><a:ln><a:noFill /></a:ln></spPr><txBody><a:bodyPr /><a:lstStyle /><a:p /></txBody></sp><sp><nvSpPr><cNvPr id="0" name="TextBox" /><cNvSpPr txBox="1" /><nvPr /></nvSpPr><spPr><a:xfrm><a:off x="3017520" y="5486400" /><a:ext cx="1920240" cy="73152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⚡ Redis</a:t></a:r></a:p><a:p><a:pPr algn="ctr"><a:buNone /></a:pPr><a:r><a:rPr lang="en-US" sz="900"><a:solidFill><a:srgbClr val="FFCDD2" /></a:solidFill><a:latin typeface="Segoe UI" /><a:cs typeface="Segoe UI" /></a:rPr><a:t>Cache + Real-Time</a:t></a:r></a:p></txBody></sp><sp><nvSpPr><cNvPr id="0" name="Rectangle" /><cNvSpPr /><nvPr /></nvSpPr><spPr><a:xfrm><a:off x="5669280" y="1737360" /><a:ext cx="3291840" cy="4754880" /></a:xfrm><a:prstGeom prst="roundRect"><a:avLst><a:gd name="adj" fmla="val 5000" /></a:avLst></a:prstGeom><a:solidFill><a:srgbClr val="F0F4F8" /></a:solidFill><a:ln><a:noFill /></a:ln></spPr><txBody><a:bodyPr /><a:lstStyle /><a:p /></txBody></sp><sp><nvSpPr><cNvPr id="0" name="TextBox" /><cNvSpPr txBox="1" /><nvPr /></nvSpPr><spPr><a:xfrm><a:off x="5760720" y="1828800" /><a:ext cx="3108960" cy="4572000" /></a:xfrm><a:prstGeom prst="rect"><a:avLst /></a:prstGeom><a:noFill /></spPr><txBody><a:bodyPr wrap="square" rtlCol="0" /><a:lstStyle /><a:p><a:pPr algn="ctr"><a:buNone /></a:pPr><a:r><a:rPr lang="en-US" sz="1400" b="1"><a:solidFill><a:srgbClr val="1B2A4A" /></a:solidFill><a:latin typeface="Segoe UI" /><a:cs typeface="Segoe UI" /></a:rPr><a:t>🔄 Order Lifecycle</a:t></a:r></a:p><a:p><a:pPr algn="l"><a:buNone /></a:pPr><a:r><a:rPr lang="en-US" sz="600"><a:solidFill><a:srgbClr val="1A1A2E" /></a:solidFill><a:latin typeface="Segoe UI" /><a:cs typeface="Segoe UI" /></a:rPr><a:t /></a:r></a:p><a:p><a:pPr algn="l"><a:buNone /></a:pPr><a:r><a:rPr lang="en-US" sz="1100"><a:solidFill><a:srgbClr val="4A5568" /></a:solidFill><a:latin typeface="Segoe UI" /><a:cs typeface="Segoe UI" /></a:rPr><a:t>  1️⃣  Customer places order</a:t></a:r></a:p><a:p><a:pPr algn="l"><a:buNone /></a:pPr><a:r><a:rPr lang="en-US" sz="1100"><a:solidFill><a:srgbClr val="E8792B" /></a:solidFill><a:latin typeface="Segoe UI" /><a:cs typeface="Segoe UI" /></a:rPr><a:t>       ↓</a:t></a:r></a:p><a:p><a:pPr algn="l"><a:buNone /></a:pPr><a:r><a:rPr lang="en-US" sz="1100"><a:solidFill><a:srgbClr val="4A5568" /></a:solidFill><a:latin typeface="Segoe UI" /><a:cs typeface="Segoe UI" /></a:rPr><a:t>  2️⃣  Admin assigns agent</a:t></a:r></a:p><a:p><a:pPr algn="l"><a:buNone /></a:pPr><a:r><a:rPr lang="en-US" sz="1100"><a:solidFill><a:srgbClr val="E8792B" /></a:solidFill><a:latin typeface="Segoe UI" /><a:cs typeface="Segoe UI" /></a:rPr><a:t>       ↓</a:t></a:r></a:p><a:p><a:pPr algn="l"><a:buNone /></a:pPr><a:r><a:rPr lang="en-US" sz="1100"><a:solidFill><a:srgbClr val="4A5568" /></a:solidFill><a:latin typeface="Segoe UI" /><a:cs typeface="Segoe UI" /></a:rPr><a:t>  3️⃣  Agent picks up cylinder</a:t></a:r></a:p><a:p><a:pPr algn="l"><a:buNone /></a:pPr><a:r><a:rPr lang="en-US" sz="1100"><a:solidFill><a:srgbClr val="E8792B" /></a:solidFill><a:latin typeface="Segoe UI" /><a:cs typeface="Segoe UI" /></a:rPr><a:t>       ↓</a:t></a:r></a:p><a:p><a:pPr algn="l"><a:buNone /></a:pPr><a:r><a:rPr lang="en-US" sz="1100"><a:solidFill><a:srgbClr val="4A5568" /></a:solidFill><a:latin typeface="Segoe UI" /><a:cs typeface="Segoe UI" /></a:rPr><a:t>  4️⃣  GPS tracking begins</a:t></a:r></a:p><a:p><a:pPr algn="l"><a:buNone /></a:pPr><a:r><a:rPr lang="en-US" sz="1100"><a:solidFill><a:srgbClr val="E8792B" /></a:solidFill><a:latin typeface="Segoe UI" /><a:cs typeface="Segoe UI" /></a:rPr><a:t>       ↓</a:t></a:r></a:p><a:p><a:pPr algn="l"><a:buNone /></a:pPr><a:r><a:rPr lang="en-US" sz="1100"><a:solidFill><a:srgbClr val="4A5568" /></a:solidFill><a:latin typeface="Segoe UI" /><a:cs typeface="Segoe UI" /></a:rPr><a:t>  5️⃣  Delivery + OTP verify</a:t></a:r></a:p><a:p><a:pPr algn="l"><a:buNone /></a:pPr><a:r><a:rPr lang="en-US" sz="1100"><a:solidFill><a:srgbClr val="E8792B" /></a:solidFill><a:latin typeface="Segoe UI" /><a:cs typeface="Segoe UI" /></a:rPr><a:t>       ↓</a:t></a:r></a:p><a:p><a:pPr algn="l"><a:buNone /></a:pPr><a:r><a:rPr lang="en-US" sz="1100" b="1"><a:solidFill><a:srgbClr val="1B5E20" /></a:solidFill><a:latin typeface="Segoe UI" /><a:cs typeface="Segoe UI" /></a:rPr><a:t>  ✅  Order completed!</a:t></a:r></a:p></txBody></sp></spTree></cSld></sld>
</file>

<file path=ppt/slides/slide5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Technologies Used</a:t></a:r></a:p><a:p><a:pPr algn="l"><a:buNone /></a:pPr><a:r><a:rPr lang="en-US" sz="1400"><a:solidFill><a:srgbClr val="4A5568" /></a:solidFill><a:latin typeface="Segoe UI" /><a:cs typeface="Segoe UI" /></a:rPr><a:t>Modern Tech Stack for Production-Grade Platform</a:t></a:r></a:p></txBody></sp><sp><nvSpPr><cNvPr id="0" name="Rectangle" /><cNvSpPr /><nvPr /></nvSpPr><spPr><a:xfrm><a:off x="365760" y="1920240" /><a:ext cx="2286000" cy="1371600" /></a:xfrm><a:prstGeom prst="roundRect"><a:avLst><a:gd name="adj" fmla="val 6000" /></a:avLst></a:prstGeom><a:solidFill><a:srgbClr val="4CAF50" /></a:solidFill><a:ln><a:noFill /></a:ln></spPr><txBody><a:bodyPr /><a:lstStyle /><a:p /></txBody></sp><sp><nvSpPr><cNvPr id="0" name="TextBox" /><cNvSpPr txBox="1" /><nvPr /></nvSpPr><spPr><a:xfrm><a:off x="365760" y="210312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⚙  Node.js</a:t></a:r></a:p><a:p><a:pPr algn="ctr"><a:buNone /></a:pPr><a:r><a:rPr lang="en-US" sz="1100"><a:solidFill><a:srgbClr val="E0E0E0" /></a:solidFill><a:latin typeface="Segoe UI" /><a:cs typeface="Segoe UI" /></a:rPr><a:t>Runtime</a:t></a:r></a:p></txBody></sp><sp><nvSpPr><cNvPr id="0" name="Rectangle" /><cNvSpPr /><nvPr /></nvSpPr><spPr><a:xfrm><a:off x="2834640" y="1920240" /><a:ext cx="2286000" cy="1371600" /></a:xfrm><a:prstGeom prst="roundRect"><a:avLst><a:gd name="adj" fmla="val 6000" /></a:avLst></a:prstGeom><a:solidFill><a:srgbClr val="4A90D9" /></a:solidFill><a:ln><a:noFill /></a:ln></spPr><txBody><a:bodyPr /><a:lstStyle /><a:p /></txBody></sp><sp><nvSpPr><cNvPr id="0" name="TextBox" /><cNvSpPr txBox="1" /><nvPr /></nvSpPr><spPr><a:xfrm><a:off x="2834640" y="210312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🌐  Express.js</a:t></a:r></a:p><a:p><a:pPr algn="ctr"><a:buNone /></a:pPr><a:r><a:rPr lang="en-US" sz="1100"><a:solidFill><a:srgbClr val="E0E0E0" /></a:solidFill><a:latin typeface="Segoe UI" /><a:cs typeface="Segoe UI" /></a:rPr><a:t>Framework</a:t></a:r></a:p></txBody></sp><sp><nvSpPr><cNvPr id="0" name="Rectangle" /><cNvSpPr /><nvPr /></nvSpPr><spPr><a:xfrm><a:off x="5303520" y="1920240" /><a:ext cx="2286000" cy="1371600" /></a:xfrm><a:prstGeom prst="roundRect"><a:avLst><a:gd name="adj" fmla="val 6000" /></a:avLst></a:prstGeom><a:solidFill><a:srgbClr val="388E3C" /></a:solidFill><a:ln><a:noFill /></a:ln></spPr><txBody><a:bodyPr /><a:lstStyle /><a:p /></txBody></sp><sp><nvSpPr><cNvPr id="0" name="TextBox" /><cNvSpPr txBox="1" /><nvPr /></nvSpPr><spPr><a:xfrm><a:off x="5303520" y="210312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💾  MongoDB</a:t></a:r></a:p><a:p><a:pPr algn="ctr"><a:buNone /></a:pPr><a:r><a:rPr lang="en-US" sz="1100"><a:solidFill><a:srgbClr val="E0E0E0" /></a:solidFill><a:latin typeface="Segoe UI" /><a:cs typeface="Segoe UI" /></a:rPr><a:t>Database</a:t></a:r></a:p></txBody></sp><sp><nvSpPr><cNvPr id="0" name="Rectangle" /><cNvSpPr /><nvPr /></nvSpPr><spPr><a:xfrm><a:off x="7772400" y="1920240" /><a:ext cx="2286000" cy="1371600" /></a:xfrm><a:prstGeom prst="roundRect"><a:avLst><a:gd name="adj" fmla="val 6000" /></a:avLst></a:prstGeom><a:solidFill><a:srgbClr val="D32F2F" /></a:solidFill><a:ln><a:noFill /></a:ln></spPr><txBody><a:bodyPr /><a:lstStyle /><a:p /></txBody></sp><sp><nvSpPr><cNvPr id="0" name="TextBox" /><cNvSpPr txBox="1" /><nvPr /></nvSpPr><spPr><a:xfrm><a:off x="7772400" y="210312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⚡  Redis</a:t></a:r></a:p><a:p><a:pPr algn="ctr"><a:buNone /></a:pPr><a:r><a:rPr lang="en-US" sz="1100"><a:solidFill><a:srgbClr val="E0E0E0" /></a:solidFill><a:latin typeface="Segoe UI" /><a:cs typeface="Segoe UI" /></a:rPr><a:t>Cache/RT</a:t></a:r></a:p></txBody></sp><sp><nvSpPr><cNvPr id="0" name="Rectangle" /><cNvSpPr /><nvPr /></nvSpPr><spPr><a:xfrm><a:off x="1600200" y="3566160" /><a:ext cx="2286000" cy="1371600" /></a:xfrm><a:prstGeom prst="roundRect"><a:avLst><a:gd name="adj" fmla="val 6000" /></a:avLst></a:prstGeom><a:solidFill><a:srgbClr val="212121" /></a:solidFill><a:ln><a:noFill /></a:ln></spPr><txBody><a:bodyPr /><a:lstStyle /><a:p /></txBody></sp><sp><nvSpPr><cNvPr id="0" name="TextBox" /><cNvSpPr txBox="1" /><nvPr /></nvSpPr><spPr><a:xfrm><a:off x="1600200" y="374904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🔌  Socket.IO</a:t></a:r></a:p><a:p><a:pPr algn="ctr"><a:buNone /></a:pPr><a:r><a:rPr lang="en-US" sz="1100"><a:solidFill><a:srgbClr val="E0E0E0" /></a:solidFill><a:latin typeface="Segoe UI" /><a:cs typeface="Segoe UI" /></a:rPr><a:t>WebSocket</a:t></a:r></a:p></txBody></sp><sp><nvSpPr><cNvPr id="0" name="Rectangle" /><cNvSpPr /><nvPr /></nvSpPr><spPr><a:xfrm><a:off x="4069080" y="3566160" /><a:ext cx="2286000" cy="1371600" /></a:xfrm><a:prstGeom prst="roundRect"><a:avLst><a:gd name="adj" fmla="val 6000" /></a:avLst></a:prstGeom><a:solidFill><a:srgbClr val="1976D2" /></a:solidFill><a:ln><a:noFill /></a:ln></spPr><txBody><a:bodyPr /><a:lstStyle /><a:p /></txBody></sp><sp><nvSpPr><cNvPr id="0" name="TextBox" /><cNvSpPr txBox="1" /><nvPr /></nvSpPr><spPr><a:xfrm><a:off x="4069080" y="374904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🐳  Docker</a:t></a:r></a:p><a:p><a:pPr algn="ctr"><a:buNone /></a:pPr><a:r><a:rPr lang="en-US" sz="1100"><a:solidFill><a:srgbClr val="E0E0E0" /></a:solidFill><a:latin typeface="Segoe UI" /><a:cs typeface="Segoe UI" /></a:rPr><a:t>Container</a:t></a:r></a:p></txBody></sp><sp><nvSpPr><cNvPr id="0" name="Rectangle" /><cNvSpPr /><nvPr /></nvSpPr><spPr><a:xfrm><a:off x="6537960" y="3566160" /><a:ext cx="2286000" cy="1371600" /></a:xfrm><a:prstGeom prst="roundRect"><a:avLst><a:gd name="adj" fmla="val 6000" /></a:avLst></a:prstGeom><a:solidFill><a:srgbClr val="326CE5" /></a:solidFill><a:ln><a:noFill /></a:ln></spPr><txBody><a:bodyPr /><a:lstStyle /><a:p /></txBody></sp><sp><nvSpPr><cNvPr id="0" name="TextBox" /><cNvSpPr txBox="1" /><nvPr /></nvSpPr><spPr><a:xfrm><a:off x="6537960" y="3749040" /><a:ext cx="2286000" cy="1188720" /></a:xfrm><a:prstGeom prst="rect"><a:avLst /></a:prstGeom><a:noFill /></spPr><txBody><a:bodyPr wrap="square" rtlCol="0" /><a:lstStyle /><a:p><a:pPr algn="ctr"><a:buNone /></a:pPr><a:r><a:rPr lang="en-US" sz="1500" b="1"><a:solidFill><a:srgbClr val="FFFFFF" /></a:solidFill><a:latin typeface="Segoe UI" /><a:cs typeface="Segoe UI" /></a:rPr><a:t>☸  Kubernetes</a:t></a:r></a:p><a:p><a:pPr algn="ctr"><a:buNone /></a:pPr><a:r><a:rPr lang="en-US" sz="1100"><a:solidFill><a:srgbClr val="E0E0E0" /></a:solidFill><a:latin typeface="Segoe UI" /><a:cs typeface="Segoe UI" /></a:rPr><a:t>Orchestration</a:t></a:r></a:p></txBody></sp><sp><nvSpPr><cNvPr id="0" name="Rectangle" /><cNvSpPr /><nvPr /></nvSpPr><spPr><a:xfrm><a:off x="365760" y="5212080" /><a:ext cx="8503920" cy="1188720" /></a:xfrm><a:prstGeom prst="roundRect"><a:avLst><a:gd name="adj" fmla="val 4000" /></a:avLst></a:prstGeom><a:solidFill><a:srgbClr val="F0F4F8" /></a:solidFill><a:ln><a:noFill /></a:ln></spPr><txBody><a:bodyPr /><a:lstStyle /><a:p /></txBody></sp><sp><nvSpPr><cNvPr id="0" name="TextBox" /><cNvSpPr txBox="1" /><nvPr /></nvSpPr><spPr><a:xfrm><a:off x="457200" y="5257800" /><a:ext cx="8321040" cy="1097280" /></a:xfrm><a:prstGeom prst="rect"><a:avLst /></a:prstGeom><a:noFill /></spPr><txBody><a:bodyPr wrap="square" rtlCol="0" /><a:lstStyle /><a:p><a:pPr algn="ctr"><a:buNone /></a:pPr><a:r><a:rPr lang="en-US" sz="1200" b="1"><a:solidFill><a:srgbClr val="1B2A4A" /></a:solidFill><a:latin typeface="Segoe UI" /><a:cs typeface="Segoe UI" /></a:rPr><a:t>Supporting Technologies &amp; Tools</a:t></a:r></a:p><a:p><a:pPr algn="l"><a:buNone /></a:pPr><a:r><a:rPr lang="en-US" sz="400"><a:solidFill><a:srgbClr val="1A1A2E" /></a:solidFill><a:latin typeface="Segoe UI" /><a:cs typeface="Segoe UI" /></a:rPr><a:t /></a:r></a:p><a:p><a:pPr algn="ctr"><a:buNone /></a:pPr><a:r><a:rPr lang="en-US" sz="1100"><a:solidFill><a:srgbClr val="4A5568" /></a:solidFill><a:latin typeface="Segoe UI" /><a:cs typeface="Segoe UI" /></a:rPr><a:t>JWT | bcrypt | Zod | Winston | Swagger | Helmet | CORS | Razorpay | Twilio | SendGrid | AWS S3 | Jest</a:t></a:r></a:p></txBody></sp></spTree></cSld></sld>
</file>

<file path=ppt/slides/slide6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Unique Features Implemented</a:t></a:r></a:p><a:p><a:pPr algn="l"><a:buNone /></a:pPr><a:r><a:rPr lang="en-US" sz="1400"><a:solidFill><a:srgbClr val="4A5568" /></a:solidFill><a:latin typeface="Segoe UI" /><a:cs typeface="Segoe UI" /></a:rPr><a:t>10 Key Feature Highlights</a:t></a:r></a:p></txBody></sp><sp><nvSpPr><cNvPr id="0" name="Rectangle" /><cNvSpPr /><nvPr /></nvSpPr><spPr><a:xfrm><a:off x="274320" y="1828800" /><a:ext cx="4114800" cy="731520" /></a:xfrm><a:prstGeom prst="roundRect"><a:avLst><a:gd name="adj" fmla="val 4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1965960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📱  WhatsApp Booking  —  Book via WhatsApp API</a:t></a:r></a:p></txBody></sp><sp><nvSpPr><cNvPr id="0" name="Rectangle" /><cNvSpPr /><nvPr /></nvSpPr><spPr><a:xfrm><a:off x="274320" y="2670048" /><a:ext cx="4114800" cy="731520" /></a:xfrm><a:prstGeom prst="roundRect"><a:avLst><a:gd name="adj" fmla="val 4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2807208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🛒  Product Store  —  Buy accessories with gas</a:t></a:r></a:p></txBody></sp><sp><nvSpPr><cNvPr id="0" name="Rectangle" /><cNvSpPr /><nvPr /></nvSpPr><spPr><a:xfrm><a:off x="274320" y="3511296" /><a:ext cx="4114800" cy="731520" /></a:xfrm><a:prstGeom prst="roundRect"><a:avLst><a:gd name="adj" fmla="val 4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3648456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📍  GPS Tracking  —  Real-time delivery location</a:t></a:r></a:p></txBody></sp><sp><nvSpPr><cNvPr id="0" name="Rectangle" /><cNvSpPr /><nvPr /></nvSpPr><spPr><a:xfrm><a:off x="274320" y="4352544" /><a:ext cx="4114800" cy="731520" /></a:xfrm><a:prstGeom prst="roundRect"><a:avLst><a:gd name="adj" fmla="val 4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4489704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💬  Live Chat  —  Customer-Agent messaging</a:t></a:r></a:p></txBody></sp><sp><nvSpPr><cNvPr id="0" name="Rectangle" /><cNvSpPr /><nvPr /></nvSpPr><spPr><a:xfrm><a:off x="274320" y="5193792" /><a:ext cx="4114800" cy="731520" /></a:xfrm><a:prstGeom prst="roundRect"><a:avLst><a:gd name="adj" fmla="val 4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5330952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🚨  Crisis Engine  —  Emergency prioritization</a:t></a:r></a:p></txBody></sp><sp><nvSpPr><cNvPr id="0" name="Rectangle" /><cNvSpPr /><nvPr /></nvSpPr><spPr><a:xfrm><a:off x="4663440" y="1828800" /><a:ext cx="4114800" cy="731520" /></a:xfrm><a:prstGeom prst="roundRect"><a:avLst><a:gd name="adj" fmla="val 4000" /></a:avLst></a:prstGeom><a:solidFill><a:srgbClr val="2E4A7A" /></a:solidFill><a:ln><a:noFill /></a:ln></spPr><txBody><a:bodyPr /><a:lstStyle /><a:p /></txBody></sp><sp><nvSpPr><cNvPr id="0" name="TextBox" /><cNvSpPr txBox="1" /><nvPr /></nvSpPr><spPr><a:xfrm><a:off x="4846320" y="1965960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📦  Inventory Mgmt  —  Warehouse-level tracking</a:t></a:r></a:p></txBody></sp><sp><nvSpPr><cNvPr id="0" name="Rectangle" /><cNvSpPr /><nvPr /></nvSpPr><spPr><a:xfrm><a:off x="4663440" y="2670048" /><a:ext cx="4114800" cy="731520" /></a:xfrm><a:prstGeom prst="roundRect"><a:avLst><a:gd name="adj" fmla="val 4000" /></a:avLst></a:prstGeom><a:solidFill><a:srgbClr val="2E4A7A" /></a:solidFill><a:ln><a:noFill /></a:ln></spPr><txBody><a:bodyPr /><a:lstStyle /><a:p /></txBody></sp><sp><nvSpPr><cNvPr id="0" name="TextBox" /><cNvSpPr txBox="1" /><nvPr /></nvSpPr><spPr><a:xfrm><a:off x="4846320" y="2807208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🔐  JWT + RBAC  —  Role-based security</a:t></a:r></a:p></txBody></sp><sp><nvSpPr><cNvPr id="0" name="Rectangle" /><cNvSpPr /><nvPr /></nvSpPr><spPr><a:xfrm><a:off x="4663440" y="3511296" /><a:ext cx="4114800" cy="731520" /></a:xfrm><a:prstGeom prst="roundRect"><a:avLst><a:gd name="adj" fmla="val 4000" /></a:avLst></a:prstGeom><a:solidFill><a:srgbClr val="2E4A7A" /></a:solidFill><a:ln><a:noFill /></a:ln></spPr><txBody><a:bodyPr /><a:lstStyle /><a:p /></txBody></sp><sp><nvSpPr><cNvPr id="0" name="TextBox" /><cNvSpPr txBox="1" /><nvPr /></nvSpPr><spPr><a:xfrm><a:off x="4846320" y="3648456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🔔  Notifications  —  SMS/Email/Push alerts</a:t></a:r></a:p></txBody></sp><sp><nvSpPr><cNvPr id="0" name="Rectangle" /><cNvSpPr /><nvPr /></nvSpPr><spPr><a:xfrm><a:off x="4663440" y="4352544" /><a:ext cx="4114800" cy="731520" /></a:xfrm><a:prstGeom prst="roundRect"><a:avLst><a:gd name="adj" fmla="val 4000" /></a:avLst></a:prstGeom><a:solidFill><a:srgbClr val="2E4A7A" /></a:solidFill><a:ln><a:noFill /></a:ln></spPr><txBody><a:bodyPr /><a:lstStyle /><a:p /></txBody></sp><sp><nvSpPr><cNvPr id="0" name="TextBox" /><cNvSpPr txBox="1" /><nvPr /></nvSpPr><spPr><a:xfrm><a:off x="4846320" y="4489704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📖  Swagger Docs  —  Interactive API docs</a:t></a:r></a:p></txBody></sp><sp><nvSpPr><cNvPr id="0" name="Rectangle" /><cNvSpPr /><nvPr /></nvSpPr><spPr><a:xfrm><a:off x="4663440" y="5193792" /><a:ext cx="4114800" cy="731520" /></a:xfrm><a:prstGeom prst="roundRect"><a:avLst><a:gd name="adj" fmla="val 4000" /></a:avLst></a:prstGeom><a:solidFill><a:srgbClr val="2E4A7A" /></a:solidFill><a:ln><a:noFill /></a:ln></spPr><txBody><a:bodyPr /><a:lstStyle /><a:p /></txBody></sp><sp><nvSpPr><cNvPr id="0" name="TextBox" /><cNvSpPr txBox="1" /><nvPr /></nvSpPr><spPr><a:xfrm><a:off x="4846320" y="5330952" /><a:ext cx="3840480" cy="640080" /></a:xfrm><a:prstGeom prst="rect"><a:avLst /></a:prstGeom><a:noFill /></spPr><txBody><a:bodyPr wrap="square" rtlCol="0" /><a:lstStyle /><a:p><a:pPr algn="l"><a:buNone /></a:pPr><a:r><a:rPr lang="en-US" sz="1100"><a:solidFill><a:srgbClr val="FFFFFF" /></a:solidFill><a:latin typeface="Segoe UI" /><a:cs typeface="Segoe UI" /></a:rPr><a:t>🐳  Docker + K8s  —  Container orchestration</a:t></a:r></a:p></txBody></sp><sp><nvSpPr><cNvPr id="0" name="Rectangle" /><cNvSpPr /><nvPr /></nvSpPr><spPr><a:xfrm><a:off x="274320" y="6126480" /><a:ext cx="8595360" cy="457200" /></a:xfrm><a:prstGeom prst="roundRect"><a:avLst><a:gd name="adj" fmla="val 3000" /></a:avLst></a:prstGeom><a:solidFill><a:srgbClr val="E8792B" /></a:solidFill><a:ln><a:noFill /></a:ln></spPr><txBody><a:bodyPr /><a:lstStyle /><a:p /></txBody></sp><sp><nvSpPr><cNvPr id="0" name="TextBox" /><cNvSpPr txBox="1" /><nvPr /></nvSpPr><spPr><a:xfrm><a:off x="457200" y="6144768" /><a:ext cx="8229600" cy="411480" /></a:xfrm><a:prstGeom prst="rect"><a:avLst /></a:prstGeom><a:noFill /></spPr><txBody><a:bodyPr wrap="square" rtlCol="0" /><a:lstStyle /><a:p><a:pPr algn="ctr"><a:buNone /></a:pPr><a:r><a:rPr lang="en-US" sz="1100" b="1"><a:solidFill><a:srgbClr val="FFFFFF" /></a:solidFill><a:latin typeface="Segoe UI" /><a:cs typeface="Segoe UI" /></a:rPr><a:t>⭐  All features are production-ready with comprehensive error handling &amp; logging</a:t></a:r></a:p></txBody></sp></spTree></cSld></sld>
</file>

<file path=ppt/slides/slide7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Database Design &amp; ER Diagram</a:t></a:r></a:p><a:p><a:pPr algn="l"><a:buNone /></a:pPr><a:r><a:rPr lang="en-US" sz="1400"><a:solidFill><a:srgbClr val="4A5568" /></a:solidFill><a:latin typeface="Segoe UI" /><a:cs typeface="Segoe UI" /></a:rPr><a:t>MongoDB Collections &amp; Relationships</a:t></a:r></a:p></txBody></sp><sp><nvSpPr><cNvPr id="0" name="Rectangle" /><cNvSpPr /><nvPr /></nvSpPr><spPr><a:xfrm><a:off x="457200" y="1828800" /><a:ext cx="2560320" cy="457200" /></a:xfrm><a:prstGeom prst="roundRect"><a:avLst><a:gd name="adj" fmla="val 3000" /></a:avLst></a:prstGeom><a:solidFill><a:srgbClr val="1B2A4A" /></a:solidFill><a:ln><a:noFill /></a:ln></spPr><txBody><a:bodyPr /><a:lstStyle /><a:p /></txBody></sp><sp><nvSpPr><cNvPr id="0" name="TextBox" /><cNvSpPr txBox="1" /><nvPr /></nvSpPr><spPr><a:xfrm><a:off x="457200" y="1874520" /><a:ext cx="2560320" cy="41148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📋 User</a:t></a:r></a:p></txBody></sp><sp><nvSpPr><cNvPr id="0" name="Rectangle" /><cNvSpPr /><nvPr /></nvSpPr><spPr><a:xfrm><a:off x="457200" y="2286000" /><a:ext cx="2560320" cy="1371600" /></a:xfrm><a:prstGeom prst="rect"><a:avLst /></a:prstGeom><a:solidFill><a:srgbClr val="F0F4F8" /></a:solidFill><a:ln><a:noFill /></a:ln></spPr><txBody><a:bodyPr /><a:lstStyle /><a:p /></txBody></sp><sp><nvSpPr><cNvPr id="0" name="TextBox" /><cNvSpPr txBox="1" /><nvPr /></nvSpPr><spPr><a:xfrm><a:off x="548640" y="2331720" /><a:ext cx="2377440" cy="1280160" /></a:xfrm><a:prstGeom prst="rect"><a:avLst /></a:prstGeom><a:noFill /></spPr><txBody><a:bodyPr wrap="square" rtlCol="0" /><a:lstStyle /><a:p><a:pPr algn="l"><a:buNone /></a:pPr><a:r><a:rPr lang="en-US" sz="900"><a:solidFill><a:srgbClr val="4A5568" /></a:solidFill><a:latin typeface="Segoe UI" /><a:cs typeface="Segoe UI" /></a:rPr><a:t>  _id, name, email</a:t></a:r></a:p><a:p><a:pPr algn="l"><a:buNone /></a:pPr><a:r><a:rPr lang="en-US" sz="900"><a:solidFill><a:srgbClr val="4A5568" /></a:solidFill><a:latin typeface="Segoe UI" /><a:cs typeface="Segoe UI" /></a:rPr><a:t>  role, phone, addresses</a:t></a:r></a:p><a:p><a:pPr algn="l"><a:buNone /></a:pPr><a:r><a:rPr lang="en-US" sz="900"><a:solidFill><a:srgbClr val="4A5568" /></a:solidFill><a:latin typeface="Segoe UI" /><a:cs typeface="Segoe UI" /></a:rPr><a:t>  location, isOnDuty</a:t></a:r></a:p><a:p><a:pPr algn="l"><a:buNone /></a:pPr><a:r><a:rPr lang="en-US" sz="900"><a:solidFill><a:srgbClr val="4A5568" /></a:solidFill><a:latin typeface="Segoe UI" /><a:cs typeface="Segoe UI" /></a:rPr><a:t>  walletBalance, kycStatus</a:t></a:r></a:p></txBody></sp><sp><nvSpPr><cNvPr id="0" name="Rectangle" /><cNvSpPr /><nvPr /></nvSpPr><spPr><a:xfrm><a:off x="3383280" y="1828800" /><a:ext cx="2560320" cy="457200" /></a:xfrm><a:prstGeom prst="roundRect"><a:avLst><a:gd name="adj" fmla="val 3000" /></a:avLst></a:prstGeom><a:solidFill><a:srgbClr val="E8792B" /></a:solidFill><a:ln><a:noFill /></a:ln></spPr><txBody><a:bodyPr /><a:lstStyle /><a:p /></txBody></sp><sp><nvSpPr><cNvPr id="0" name="TextBox" /><cNvSpPr txBox="1" /><nvPr /></nvSpPr><spPr><a:xfrm><a:off x="3383280" y="1874520" /><a:ext cx="2560320" cy="41148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📋 Order</a:t></a:r></a:p></txBody></sp><sp><nvSpPr><cNvPr id="0" name="Rectangle" /><cNvSpPr /><nvPr /></nvSpPr><spPr><a:xfrm><a:off x="3383280" y="2286000" /><a:ext cx="2560320" cy="1371600" /></a:xfrm><a:prstGeom prst="rect"><a:avLst /></a:prstGeom><a:solidFill><a:srgbClr val="F0F4F8" /></a:solidFill><a:ln><a:noFill /></a:ln></spPr><txBody><a:bodyPr /><a:lstStyle /><a:p /></txBody></sp><sp><nvSpPr><cNvPr id="0" name="TextBox" /><cNvSpPr txBox="1" /><nvPr /></nvSpPr><spPr><a:xfrm><a:off x="3474720" y="2331720" /><a:ext cx="2377440" cy="1280160" /></a:xfrm><a:prstGeom prst="rect"><a:avLst /></a:prstGeom><a:noFill /></spPr><txBody><a:bodyPr wrap="square" rtlCol="0" /><a:lstStyle /><a:p><a:pPr algn="l"><a:buNone /></a:pPr><a:r><a:rPr lang="en-US" sz="900"><a:solidFill><a:srgbClr val="4A5568" /></a:solidFill><a:latin typeface="Segoe UI" /><a:cs typeface="Segoe UI" /></a:rPr><a:t>  orderId, customerId</a:t></a:r></a:p><a:p><a:pPr algn="l"><a:buNone /></a:pPr><a:r><a:rPr lang="en-US" sz="900"><a:solidFill><a:srgbClr val="4A5568" /></a:solidFill><a:latin typeface="Segoe UI" /><a:cs typeface="Segoe UI" /></a:rPr><a:t>  agentId, warehouseId</a:t></a:r></a:p><a:p><a:pPr algn="l"><a:buNone /></a:pPr><a:r><a:rPr lang="en-US" sz="900"><a:solidFill><a:srgbClr val="4A5568" /></a:solidFill><a:latin typeface="Segoe UI" /><a:cs typeface="Segoe UI" /></a:rPr><a:t>  status, cylinderCount</a:t></a:r></a:p><a:p><a:pPr algn="l"><a:buNone /></a:pPr><a:r><a:rPr lang="en-US" sz="900"><a:solidFill><a:srgbClr val="4A5568" /></a:solidFill><a:latin typeface="Segoe UI" /><a:cs typeface="Segoe UI" /></a:rPr><a:t>  timeline, priority</a:t></a:r></a:p></txBody></sp><sp><nvSpPr><cNvPr id="0" name="Rectangle" /><cNvSpPr /><nvPr /></nvSpPr><spPr><a:xfrm><a:off x="6309360" y="1828800" /><a:ext cx="2560320" cy="457200" /></a:xfrm><a:prstGeom prst="roundRect"><a:avLst><a:gd name="adj" fmla="val 3000" /></a:avLst></a:prstGeom><a:solidFill><a:srgbClr val="2E7D32" /></a:solidFill><a:ln><a:noFill /></a:ln></spPr><txBody><a:bodyPr /><a:lstStyle /><a:p /></txBody></sp><sp><nvSpPr><cNvPr id="0" name="TextBox" /><cNvSpPr txBox="1" /><nvPr /></nvSpPr><spPr><a:xfrm><a:off x="6309360" y="1874520" /><a:ext cx="2560320" cy="41148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📋 Inventory</a:t></a:r></a:p></txBody></sp><sp><nvSpPr><cNvPr id="0" name="Rectangle" /><cNvSpPr /><nvPr /></nvSpPr><spPr><a:xfrm><a:off x="6309360" y="2286000" /><a:ext cx="2560320" cy="1371600" /></a:xfrm><a:prstGeom prst="rect"><a:avLst /></a:prstGeom><a:solidFill><a:srgbClr val="F0F4F8" /></a:solidFill><a:ln><a:noFill /></a:ln></spPr><txBody><a:bodyPr /><a:lstStyle /><a:p /></txBody></sp><sp><nvSpPr><cNvPr id="0" name="TextBox" /><cNvSpPr txBox="1" /><nvPr /></nvSpPr><spPr><a:xfrm><a:off x="6400800" y="2331720" /><a:ext cx="2377440" cy="1280160" /></a:xfrm><a:prstGeom prst="rect"><a:avLst /></a:prstGeom><a:noFill /></spPr><txBody><a:bodyPr wrap="square" rtlCol="0" /><a:lstStyle /><a:p><a:pPr algn="l"><a:buNone /></a:pPr><a:r><a:rPr lang="en-US" sz="900"><a:solidFill><a:srgbClr val="4A5568" /></a:solidFill><a:latin typeface="Segoe UI" /><a:cs typeface="Segoe UI" /></a:rPr><a:t>  warehouseId, name</a:t></a:r></a:p><a:p><a:pPr algn="l"><a:buNone /></a:pPr><a:r><a:rPr lang="en-US" sz="900"><a:solidFill><a:srgbClr val="4A5568" /></a:solidFill><a:latin typeface="Segoe UI" /><a:cs typeface="Segoe UI" /></a:rPr><a:t>  totalCylinders</a:t></a:r></a:p><a:p><a:pPr algn="l"><a:buNone /></a:pPr><a:r><a:rPr lang="en-US" sz="900"><a:solidFill><a:srgbClr val="4A5568" /></a:solidFill><a:latin typeface="Segoe UI" /><a:cs typeface="Segoe UI" /></a:rPr><a:t>  availableCylinders</a:t></a:r></a:p><a:p><a:pPr algn="l"><a:buNone /></a:pPr><a:r><a:rPr lang="en-US" sz="900"><a:solidFill><a:srgbClr val="4A5568" /></a:solidFill><a:latin typeface="Segoe UI" /><a:cs typeface="Segoe UI" /></a:rPr><a:t>  location, isActive</a:t></a:r></a:p></txBody></sp><sp><nvSpPr><cNvPr id="0" name="Rectangle" /><cNvSpPr /><nvPr /></nvSpPr><spPr><a:xfrm><a:off x="457200" y="4389120" /><a:ext cx="2560320" cy="457200" /></a:xfrm><a:prstGeom prst="roundRect"><a:avLst><a:gd name="adj" fmla="val 3000" /></a:avLst></a:prstGeom><a:solidFill><a:srgbClr val="6A1B9A" /></a:solidFill><a:ln><a:noFill /></a:ln></spPr><txBody><a:bodyPr /><a:lstStyle /><a:p /></txBody></sp><sp><nvSpPr><cNvPr id="0" name="TextBox" /><cNvSpPr txBox="1" /><nvPr /></nvSpPr><spPr><a:xfrm><a:off x="457200" y="4434840" /><a:ext cx="2560320" cy="41148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📋 ChatMessage</a:t></a:r></a:p></txBody></sp><sp><nvSpPr><cNvPr id="0" name="Rectangle" /><cNvSpPr /><nvPr /></nvSpPr><spPr><a:xfrm><a:off x="457200" y="4846320" /><a:ext cx="2560320" cy="1371600" /></a:xfrm><a:prstGeom prst="rect"><a:avLst /></a:prstGeom><a:solidFill><a:srgbClr val="F0F4F8" /></a:solidFill><a:ln><a:noFill /></a:ln></spPr><txBody><a:bodyPr /><a:lstStyle /><a:p /></txBody></sp><sp><nvSpPr><cNvPr id="0" name="TextBox" /><cNvSpPr txBox="1" /><nvPr /></nvSpPr><spPr><a:xfrm><a:off x="548640" y="4892040" /><a:ext cx="2377440" cy="1280160" /></a:xfrm><a:prstGeom prst="rect"><a:avLst /></a:prstGeom><a:noFill /></spPr><txBody><a:bodyPr wrap="square" rtlCol="0" /><a:lstStyle /><a:p><a:pPr algn="l"><a:buNone /></a:pPr><a:r><a:rPr lang="en-US" sz="900"><a:solidFill><a:srgbClr val="4A5568" /></a:solidFill><a:latin typeface="Segoe UI" /><a:cs typeface="Segoe UI" /></a:rPr><a:t>  messageId, chatRoomId</a:t></a:r></a:p><a:p><a:pPr algn="l"><a:buNone /></a:pPr><a:r><a:rPr lang="en-US" sz="900"><a:solidFill><a:srgbClr val="4A5568" /></a:solidFill><a:latin typeface="Segoe UI" /><a:cs typeface="Segoe UI" /></a:rPr><a:t>  senderId, senderRole</a:t></a:r></a:p><a:p><a:pPr algn="l"><a:buNone /></a:pPr><a:r><a:rPr lang="en-US" sz="900"><a:solidFill><a:srgbClr val="4A5568" /></a:solidFill><a:latin typeface="Segoe UI" /><a:cs typeface="Segoe UI" /></a:rPr><a:t>  content, type, status</a:t></a:r></a:p><a:p><a:pPr algn="l"><a:buNone /></a:pPr><a:r><a:rPr lang="en-US" sz="900"><a:solidFill><a:srgbClr val="4A5568" /></a:solidFill><a:latin typeface="Segoe UI" /><a:cs typeface="Segoe UI" /></a:rPr><a:t>  mediaUrl, readAt</a:t></a:r></a:p></txBody></sp><sp><nvSpPr><cNvPr id="0" name="Rectangle" /><cNvSpPr /><nvPr /></nvSpPr><spPr><a:xfrm><a:off x="3383280" y="4389120" /><a:ext cx="2560320" cy="457200" /></a:xfrm><a:prstGeom prst="roundRect"><a:avLst><a:gd name="adj" fmla="val 3000" /></a:avLst></a:prstGeom><a:solidFill><a:srgbClr val="C62828" /></a:solidFill><a:ln><a:noFill /></a:ln></spPr><txBody><a:bodyPr /><a:lstStyle /><a:p /></txBody></sp><sp><nvSpPr><cNvPr id="0" name="TextBox" /><cNvSpPr txBox="1" /><nvPr /></nvSpPr><spPr><a:xfrm><a:off x="3383280" y="4434840" /><a:ext cx="2560320" cy="411480" /></a:xfrm><a:prstGeom prst="rect"><a:avLst /></a:prstGeom><a:noFill /></spPr><txBody><a:bodyPr wrap="square" rtlCol="0" /><a:lstStyle /><a:p><a:pPr algn="ctr"><a:buNone /></a:pPr><a:r><a:rPr lang="en-US" sz="1200" b="1"><a:solidFill><a:srgbClr val="FFFFFF" /></a:solidFill><a:latin typeface="Segoe UI" /><a:cs typeface="Segoe UI" /></a:rPr><a:t>📋 Delivery</a:t></a:r></a:p></txBody></sp><sp><nvSpPr><cNvPr id="0" name="Rectangle" /><cNvSpPr /><nvPr /></nvSpPr><spPr><a:xfrm><a:off x="3383280" y="4846320" /><a:ext cx="2560320" cy="1371600" /></a:xfrm><a:prstGeom prst="rect"><a:avLst /></a:prstGeom><a:solidFill><a:srgbClr val="F0F4F8" /></a:solidFill><a:ln><a:noFill /></a:ln></spPr><txBody><a:bodyPr /><a:lstStyle /><a:p /></txBody></sp><sp><nvSpPr><cNvPr id="0" name="TextBox" /><cNvSpPr txBox="1" /><nvPr /></nvSpPr><spPr><a:xfrm><a:off x="3474720" y="4892040" /><a:ext cx="2377440" cy="1280160" /></a:xfrm><a:prstGeom prst="rect"><a:avLst /></a:prstGeom><a:noFill /></spPr><txBody><a:bodyPr wrap="square" rtlCol="0" /><a:lstStyle /><a:p><a:pPr algn="l"><a:buNone /></a:pPr><a:r><a:rPr lang="en-US" sz="900"><a:solidFill><a:srgbClr val="4A5568" /></a:solidFill><a:latin typeface="Segoe UI" /><a:cs typeface="Segoe UI" /></a:rPr><a:t>  orderId, agentId</a:t></a:r></a:p><a:p><a:pPr algn="l"><a:buNone /></a:pPr><a:r><a:rPr lang="en-US" sz="900"><a:solidFill><a:srgbClr val="4A5568" /></a:solidFill><a:latin typeface="Segoe UI" /><a:cs typeface="Segoe UI" /></a:rPr><a:t>  lat, lng, timestamp</a:t></a:r></a:p><a:p><a:pPr algn="l"><a:buNone /></a:pPr><a:r><a:rPr lang="en-US" sz="900"><a:solidFill><a:srgbClr val="4A5568" /></a:solidFill><a:latin typeface="Segoe UI" /><a:cs typeface="Segoe UI" /></a:rPr><a:t>  route data</a:t></a:r></a:p><a:p><a:pPr algn="l"><a:buNone /></a:pPr><a:r><a:rPr lang="en-US" sz="900"><a:solidFill><a:srgbClr val="4A5568" /></a:solidFill><a:latin typeface="Segoe UI" /><a:cs typeface="Segoe UI" /></a:rPr><a:t>  ETA tracking</a:t></a:r></a:p></txBody></sp><sp><nvSpPr><cNvPr id="0" name="TextBox" /><cNvSpPr txBox="1" /><nvPr /></nvSpPr><spPr><a:xfrm><a:off x="5943600" y="4389120" /><a:ext cx="3108960" cy="2103120" /></a:xfrm><a:prstGeom prst="rect"><a:avLst /></a:prstGeom><a:noFill /></spPr><txBody><a:bodyPr wrap="square" rtlCol="0" /><a:lstStyle /><a:p><a:pPr algn="l"><a:buNone /></a:pPr><a:r><a:rPr lang="en-US" sz="1200" b="1"><a:solidFill><a:srgbClr val="1B2A4A" /></a:solidFill><a:latin typeface="Segoe UI" /><a:cs typeface="Segoe UI" /></a:rPr><a:t>Relationships:</a:t></a:r></a:p><a:p><a:pPr algn="l"><a:buNone /></a:pPr><a:r><a:rPr lang="en-US" sz="1000"><a:solidFill><a:srgbClr val="4A5568" /></a:solidFill><a:latin typeface="Segoe UI" /><a:cs typeface="Segoe UI" /></a:rPr><a:t>  User (1) → (*) Orders [customerId]</a:t></a:r></a:p><a:p><a:pPr algn="l"><a:buNone /></a:pPr><a:r><a:rPr lang="en-US" sz="1000"><a:solidFill><a:srgbClr val="4A5568" /></a:solidFill><a:latin typeface="Segoe UI" /><a:cs typeface="Segoe UI" /></a:rPr><a:t>  User (1) → (*) Orders [agentId]</a:t></a:r></a:p><a:p><a:pPr algn="l"><a:buNone /></a:pPr><a:r><a:rPr lang="en-US" sz="1000"><a:solidFill><a:srgbClr val="4A5568" /></a:solidFill><a:latin typeface="Segoe UI" /><a:cs typeface="Segoe UI" /></a:rPr><a:t>  Order (1) → (*) ChatMessages [chatRoomId]</a:t></a:r></a:p><a:p><a:pPr algn="l"><a:buNone /></a:pPr><a:r><a:rPr lang="en-US" sz="1000"><a:solidFill><a:srgbClr val="4A5568" /></a:solidFill><a:latin typeface="Segoe UI" /><a:cs typeface="Segoe UI" /></a:rPr><a:t>  Inventory (1) → (*) Orders [warehouseId]</a:t></a:r></a:p><a:p><a:pPr algn="l"><a:buNone /></a:pPr><a:r><a:rPr lang="en-US" sz="1000"><a:solidFill><a:srgbClr val="4A5568" /></a:solidFill><a:latin typeface="Segoe UI" /><a:cs typeface="Segoe UI" /></a:rPr><a:t>  Order (1) → (1) Delivery [orderId]</a:t></a:r></a:p></txBody></sp></spTree></cSld></sld>
</file>

<file path=ppt/slides/slide8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548640" /></a:xfrm><a:prstGeom prst="rect"><a:avLst /></a:prstGeom><a:gradFill><a:gsLst><a:gs pos="0"><a:srgbClr val="1B2A4A" /></a:gs><a:gs pos="100000"><a:srgbClr val="2E4A7A" /></a:gs></a:gsLst><a:lin ang="0" scaled="1" /></a:gradFill><a:ln><a:noFill /></a:ln></spPr><txBody><a:bodyPr /><a:lstStyle /><a:p /></txBody></sp><sp><nvSpPr><cNvPr id="0" name="Rectangle" /><cNvSpPr /><nvPr /></nvSpPr><spPr><a:xfrm><a:off x="0" y="548640" /><a:ext cx="12192000" cy="45720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731520" /><a:ext cx="8229600" cy="914400" /></a:xfrm><a:prstGeom prst="rect"><a:avLst /></a:prstGeom><a:noFill /></spPr><txBody><a:bodyPr wrap="square" rtlCol="0" /><a:lstStyle /><a:p><a:pPr algn="l"><a:buNone /></a:pPr><a:r><a:rPr lang="en-US" sz="2800" b="1"><a:solidFill><a:srgbClr val="1B2A4A" /></a:solidFill><a:latin typeface="Segoe UI Semibold" /><a:cs typeface="Segoe UI Semibold" /></a:rPr><a:t>Demo &amp; Security Features</a:t></a:r></a:p><a:p><a:pPr algn="l"><a:buNone /></a:pPr><a:r><a:rPr lang="en-US" sz="1400"><a:solidFill><a:srgbClr val="4A5568" /></a:solidFill><a:latin typeface="Segoe UI" /><a:cs typeface="Segoe UI" /></a:rPr><a:t>API Documentation, Tracking &amp; Security Measures</a:t></a:r></a:p></txBody></sp><sp><nvSpPr><cNvPr id="0" name="Rectangle" /><cNvSpPr /><nvPr /></nvSpPr><spPr><a:xfrm><a:off x="274320" y="1737360" /><a:ext cx="4572000" cy="2743200" /></a:xfrm><a:prstGeom prst="roundRect"><a:avLst><a:gd name="adj" fmla="val 5000" /></a:avLst></a:prstGeom><a:solidFill><a:srgbClr val="F0F4F8" /></a:solidFill><a:ln><a:noFill /></a:ln></spPr><txBody><a:bodyPr /><a:lstStyle /><a:p /></txBody></sp><sp><nvSpPr><cNvPr id="0" name="TextBox" /><cNvSpPr txBox="1" /><nvPr /></nvSpPr><spPr><a:xfrm><a:off x="457200" y="1828800" /><a:ext cx="4297680" cy="2651760" /></a:xfrm><a:prstGeom prst="rect"><a:avLst /></a:prstGeom><a:noFill /></spPr><txBody><a:bodyPr wrap="square" rtlCol="0" /><a:lstStyle /><a:p><a:pPr algn="ctr"><a:buNone /></a:pPr><a:r><a:rPr lang="en-US" sz="1500" b="1"><a:solidFill><a:srgbClr val="1B2A4A" /></a:solidFill><a:latin typeface="Segoe UI" /><a:cs typeface="Segoe UI" /></a:rPr><a:t>📱  Live Demo Highlights</a:t></a:r></a:p><a:p><a:pPr algn="l"><a:buNone /></a:pPr><a:r><a:rPr lang="en-US" sz="600"><a:solidFill><a:srgbClr val="1A1A2E" /></a:solidFill><a:latin typeface="Segoe UI" /><a:cs typeface="Segoe UI" /></a:rPr><a:t /></a:r></a:p><a:p><a:pPr algn="l"><a:buNone /></a:pPr><a:r><a:rPr lang="en-US" sz="1200"><a:solidFill><a:srgbClr val="4A5568" /></a:solidFill><a:latin typeface="Segoe UI" /><a:cs typeface="Segoe UI" /></a:rPr><a:t>  📊  Admin Dashboard</a:t></a:r></a:p><a:p><a:pPr algn="l"><a:buNone /></a:pPr><a:r><a:rPr lang="en-US" sz="1000"><a:solidFill><a:srgbClr val="4A5568" /></a:solidFill><a:latin typeface="Segoe UI" /><a:cs typeface="Segoe UI" /></a:rPr><a:t>     • Order management &amp; analytics</a:t></a:r></a:p><a:p><a:pPr algn="l"><a:buNone /></a:pPr><a:r><a:rPr lang="en-US" sz="1000"><a:solidFill><a:srgbClr val="4A5568" /></a:solidFill><a:latin typeface="Segoe UI" /><a:cs typeface="Segoe UI" /></a:rPr><a:t>     • Agent assignment &amp; monitoring</a:t></a:r></a:p><a:p><a:pPr algn="l"><a:buNone /></a:pPr><a:r><a:rPr lang="en-US" sz="400"><a:solidFill><a:srgbClr val="1A1A2E" /></a:solidFill><a:latin typeface="Segoe UI" /><a:cs typeface="Segoe UI" /></a:rPr><a:t /></a:r></a:p><a:p><a:pPr algn="l"><a:buNone /></a:pPr><a:r><a:rPr lang="en-US" sz="1200"><a:solidFill><a:srgbClr val="4A5568" /></a:solidFill><a:latin typeface="Segoe UI" /><a:cs typeface="Segoe UI" /></a:rPr><a:t>  📖  Swagger API Documentation</a:t></a:r></a:p><a:p><a:pPr algn="l"><a:buNone /></a:pPr><a:r><a:rPr lang="en-US" sz="1000"><a:solidFill><a:srgbClr val="4A5568" /></a:solidFill><a:latin typeface="Segoe UI" /><a:cs typeface="Segoe UI" /></a:rPr><a:t>     • /api/v1/docs - Interactive testing</a:t></a:r></a:p><a:p><a:pPr algn="l"><a:buNone /></a:pPr><a:r><a:rPr lang="en-US" sz="1000"><a:solidFill><a:srgbClr val="4A5568" /></a:solidFill><a:latin typeface="Segoe UI" /><a:cs typeface="Segoe UI" /></a:rPr><a:t>     • All endpoints documented</a:t></a:r></a:p><a:p><a:pPr algn="l"><a:buNone /></a:pPr><a:r><a:rPr lang="en-US" sz="400"><a:solidFill><a:srgbClr val="1A1A2E" /></a:solidFill><a:latin typeface="Segoe UI" /><a:cs typeface="Segoe UI" /></a:rPr><a:t /></a:r></a:p><a:p><a:pPr algn="l"><a:buNone /></a:pPr><a:r><a:rPr lang="en-US" sz="1200"><a:solidFill><a:srgbClr val="4A5568" /></a:solidFill><a:latin typeface="Segoe UI" /><a:cs typeface="Segoe UI" /></a:rPr><a:t>  📍  Real-Time Delivery Tracking</a:t></a:r></a:p><a:p><a:pPr algn="l"><a:buNone /></a:pPr><a:r><a:rPr lang="en-US" sz="1000"><a:solidFill><a:srgbClr val="4A5568" /></a:solidFill><a:latin typeface="Segoe UI" /><a:cs typeface="Segoe UI" /></a:rPr><a:t>     • GPS updates every 5 seconds</a:t></a:r></a:p><a:p><a:pPr algn="l"><a:buNone /></a:pPr><a:r><a:rPr lang="en-US" sz="1000"><a:solidFill><a:srgbClr val="4A5568" /></a:solidFill><a:latin typeface="Segoe UI" /><a:cs typeface="Segoe UI" /></a:rPr><a:t>     • Socket.IO room-per-order</a:t></a:r></a:p></txBody></sp><sp><nvSpPr><cNvPr id="0" name="Rectangle" /><cNvSpPr /><nvPr /></nvSpPr><spPr><a:xfrm><a:off x="5120640" y="1737360" /><a:ext cx="3840480" cy="2743200" /></a:xfrm><a:prstGeom prst="roundRect"><a:avLst><a:gd name="adj" fmla="val 5000" /></a:avLst></a:prstGeom><a:solidFill><a:srgbClr val="1B2A4A" /></a:solidFill><a:ln><a:noFill /></a:ln></spPr><txBody><a:bodyPr /><a:lstStyle /><a:p /></txBody></sp><sp><nvSpPr><cNvPr id="0" name="TextBox" /><cNvSpPr txBox="1" /><nvPr /></nvSpPr><spPr><a:xfrm><a:off x="5212080" y="1828800" /><a:ext cx="3657600" cy="2651760" /></a:xfrm><a:prstGeom prst="rect"><a:avLst /></a:prstGeom><a:noFill /></spPr><txBody><a:bodyPr wrap="square" rtlCol="0" /><a:lstStyle /><a:p><a:pPr algn="ctr"><a:buNone /></a:pPr><a:r><a:rPr lang="en-US" sz="1500" b="1"><a:solidFill><a:srgbClr val="F5A623" /></a:solidFill><a:latin typeface="Segoe UI" /><a:cs typeface="Segoe UI" /></a:rPr><a:t>🔒  Security Architecture</a:t></a:r></a:p><a:p><a:pPr algn="l"><a:buNone /></a:pPr><a:r><a:rPr lang="en-US" sz="600"><a:solidFill><a:srgbClr val="FFFFFF" /></a:solidFill><a:latin typeface="Segoe UI" /><a:cs typeface="Segoe UI" /></a:rPr><a:t /></a:r></a:p><a:p><a:pPr algn="l"><a:buNone /></a:pPr><a:r><a:rPr lang="en-US" sz="1200" b="1"><a:solidFill><a:srgbClr val="FFFFFF" /></a:solidFill><a:latin typeface="Segoe UI" /><a:cs typeface="Segoe UI" /></a:rPr><a:t>  🔑  JWT Authentication</a:t></a:r></a:p><a:p><a:pPr algn="l"><a:buNone /></a:pPr><a:r><a:rPr lang="en-US" sz="1000"><a:solidFill><a:srgbClr val="B8C5D9" /></a:solidFill><a:latin typeface="Segoe UI" /><a:cs typeface="Segoe UI" /></a:rPr><a:t>     Access (15min) + Refresh (7d)</a:t></a:r></a:p><a:p><a:pPr algn="l"><a:buNone /></a:pPr><a:r><a:rPr lang="en-US" sz="400"><a:solidFill><a:srgbClr val="FFFFFF" /></a:solidFill><a:latin typeface="Segoe UI" /><a:cs typeface="Segoe UI" /></a:rPr><a:t /></a:r></a:p><a:p><a:pPr algn="l"><a:buNone /></a:pPr><a:r><a:rPr lang="en-US" sz="1200" b="1"><a:solidFill><a:srgbClr val="FFFFFF" /></a:solidFill><a:latin typeface="Segoe UI" /><a:cs typeface="Segoe UI" /></a:rPr><a:t>  ⏱  Rate Limiting</a:t></a:r></a:p><a:p><a:pPr algn="l"><a:buNone /></a:pPr><a:r><a:rPr lang="en-US" sz="1000"><a:solidFill><a:srgbClr val="B8C5D9" /></a:solidFill><a:latin typeface="Segoe UI" /><a:cs typeface="Segoe UI" /></a:rPr><a:t>     100 req/15min, 10/15min auth</a:t></a:r></a:p><a:p><a:pPr algn="l"><a:buNone /></a:pPr><a:r><a:rPr lang="en-US" sz="400"><a:solidFill><a:srgbClr val="FFFFFF" /></a:solidFill><a:latin typeface="Segoe UI" /><a:cs typeface="Segoe UI" /></a:rPr><a:t /></a:r></a:p><a:p><a:pPr algn="l"><a:buNone /></a:pPr><a:r><a:rPr lang="en-US" sz="1200" b="1"><a:solidFill><a:srgbClr val="FFFFFF" /></a:solidFill><a:latin typeface="Segoe UI" /><a:cs typeface="Segoe UI" /></a:rPr><a:t>  🔐  Password Encryption</a:t></a:r></a:p><a:p><a:pPr algn="l"><a:buNone /></a:pPr><a:r><a:rPr lang="en-US" sz="1000"><a:solidFill><a:srgbClr val="B8C5D9" /></a:solidFill><a:latin typeface="Segoe UI" /><a:cs typeface="Segoe UI" /></a:rPr><a:t>     bcrypt 12 rounds hashing</a:t></a:r></a:p><a:p><a:pPr algn="l"><a:buNone /></a:pPr><a:r><a:rPr lang="en-US" sz="400"><a:solidFill><a:srgbClr val="FFFFFF" /></a:solidFill><a:latin typeface="Segoe UI" /><a:cs typeface="Segoe UI" /></a:rPr><a:t /></a:r></a:p><a:p><a:pPr algn="l"><a:buNone /></a:pPr><a:r><a:rPr lang="en-US" sz="1200" b="1"><a:solidFill><a:srgbClr val="FFFFFF" /></a:solidFill><a:latin typeface="Segoe UI" /><a:cs typeface="Segoe UI" /></a:rPr><a:t>  🛡  Role-Based Access (RBAC)</a:t></a:r></a:p><a:p><a:pPr algn="l"><a:buNone /></a:pPr><a:r><a:rPr lang="en-US" sz="1000"><a:solidFill><a:srgbClr val="B8C5D9" /></a:solidFill><a:latin typeface="Segoe UI" /><a:cs typeface="Segoe UI" /></a:rPr><a:t>     Admin | Customer | Agent</a:t></a:r></a:p></txBody></sp><sp><nvSpPr><cNvPr id="0" name="Rectangle" /><cNvSpPr /><nvPr /></nvSpPr><spPr><a:xfrm><a:off x="274320" y="4754880" /><a:ext cx="8686800" cy="1737360" /></a:xfrm><a:prstGeom prst="roundRect"><a:avLst><a:gd name="adj" fmla="val 5000" /></a:avLst></a:prstGeom><a:solidFill><a:srgbClr val="1A1A2E" /></a:solidFill><a:ln><a:noFill /></a:ln></spPr><txBody><a:bodyPr /><a:lstStyle /><a:p /></txBody></sp><sp><nvSpPr><cNvPr id="0" name="TextBox" /><cNvSpPr txBox="1" /><nvPr /></nvSpPr><spPr><a:xfrm><a:off x="365760" y="4846320" /><a:ext cx="8503920" cy="1645920" /></a:xfrm><a:prstGeom prst="rect"><a:avLst /></a:prstGeom><a:noFill /></spPr><txBody><a:bodyPr wrap="square" rtlCol="0" /><a:lstStyle /><a:p><a:pPr algn="ctr"><a:buNone /></a:pPr><a:r><a:rPr lang="en-US" sz="1300" b="1"><a:solidFill><a:srgbClr val="F5A623" /></a:solidFill><a:latin typeface="Segoe UI" /><a:cs typeface="Segoe UI" /></a:rPr><a:t>🛡  Additional Security Measures</a:t></a:r></a:p><a:p><a:pPr algn="l"><a:buNone /></a:pPr><a:r><a:rPr lang="en-US" sz="400"><a:solidFill><a:srgbClr val="FFFFFF" /></a:solidFill><a:latin typeface="Segoe UI" /><a:cs typeface="Segoe UI" /></a:rPr><a:t /></a:r></a:p><a:p><a:pPr algn="ctr"><a:buNone /></a:pPr><a:r><a:rPr lang="en-US" sz="1100"><a:solidFill><a:srgbClr val="B8C5D9" /></a:solidFill><a:latin typeface="Segoe UI" /><a:cs typeface="Segoe UI" /></a:rPr><a:t>  Helmet (CSP)  |  CORS Allowlist  |  HPP Protection  |  Mongo Sanitize  |  XSS Clean  |  10kb Payload Limit</a:t></a:r></a:p><a:p><a:pPr algn="l"><a:buNone /></a:pPr><a:r><a:rPr lang="en-US" sz="400"><a:solidFill><a:srgbClr val="FFFFFF" /></a:solidFill><a:latin typeface="Segoe UI" /><a:cs typeface="Segoe UI" /></a:rPr><a:t /></a:r></a:p><a:p><a:pPr algn="ctr"><a:buNone /></a:pPr><a:r><a:rPr lang="en-US" sz="1100"><a:solidFill><a:srgbClr val="B8C5D9" /></a:solidFill><a:latin typeface="Segoe UI" /><a:cs typeface="Segoe UI" /></a:rPr><a:t>  Refresh Token Rotation  |  Reuse Detection  |  NoSQL Injection Prevention  |  Winston Logging  |  ELK-Ready</a:t></a:r></a:p></txBody></sp></spTree></cSld></sld>
</file>

<file path=ppt/slides/slide9.xml><?xml version="1.0" encoding="UTF-8" standalone="yes"?>
<sld xmlns="http://schemas.openxmlformats.org/presentationml/2006/main" xmlns:a="http://schemas.openxmlformats.org/drawingml/2006/main" xmlns:a="http://schemas.openxmlformats.org/drawingml/2006/main" xmlns:r="http://schemas.openxmlformats.org/officeDocument/2006/relationships" xmlns:p="http://schemas.openxmlformats.org/presentationml/2006/main"><cSld><spTree><nvGrpSpPr><cNvPr id="1" name="" /><cNvGrpSpPr /><nvPr /></nvGrpSpPr><grpSpPr><a:xfrm><a:off x="0" y="0" /><a:ext cx="0" cy="0" /><a:chOff x="0" y="0" /><a:chExt cx="0" cy="0" /></a:xfrm></grpSpPr><sp><nvSpPr><cNvPr id="0" name="GradRect" /><cNvSpPr /><nvPr /></nvSpPr><spPr><a:xfrm><a:off x="0" y="0" /><a:ext cx="12192000" cy="6858000" /></a:xfrm><a:prstGeom prst="rect"><a:avLst /></a:prstGeom><a:gradFill><a:gsLst><a:gs pos="0"><a:srgbClr val="1B2A4A" /></a:gs><a:gs pos="100000"><a:srgbClr val="1A2744" /></a:gs></a:gsLst><a:lin ang="5400000" scaled="1" /></a:gradFill><a:ln><a:noFill /></a:ln></spPr><txBody><a:bodyPr /><a:lstStyle /><a:p /></txBody></sp><sp><nvSpPr><cNvPr id="0" name="Rectangle" /><cNvSpPr /><nvPr /></nvSpPr><spPr><a:xfrm><a:off x="0" y="0" /><a:ext cx="12192000" cy="73152" /></a:xfrm><a:prstGeom prst="rect"><a:avLst /></a:prstGeom><a:solidFill><a:srgbClr val="E8792B" /></a:solidFill><a:ln><a:noFill /></a:ln></spPr><txBody><a:bodyPr /><a:lstStyle /><a:p /></txBody></sp><sp><nvSpPr><cNvPr id="0" name="TextBox" /><cNvSpPr txBox="1" /><nvPr /></nvSpPr><spPr><a:xfrm><a:off x="457200" y="274320" /><a:ext cx="8229600" cy="640080" /></a:xfrm><a:prstGeom prst="rect"><a:avLst /></a:prstGeom><a:noFill /></spPr><txBody><a:bodyPr wrap="square" rtlCol="0" /><a:lstStyle /><a:p><a:pPr algn="ctr"><a:buNone /></a:pPr><a:r><a:rPr lang="en-US" sz="2800" b="1"><a:solidFill><a:srgbClr val="FFFFFF" /></a:solidFill><a:latin typeface="Segoe UI Semibold" /><a:cs typeface="Segoe UI Semibold" /></a:rPr><a:t>Conclusion &amp; Future Scope</a:t></a:r></a:p></txBody></sp><sp><nvSpPr><cNvPr id="0" name="Rectangle" /><cNvSpPr /><nvPr /></nvSpPr><spPr><a:xfrm><a:off x="274320" y="1097280" /><a:ext cx="4297680" cy="3200400" /></a:xfrm><a:prstGeom prst="roundRect"><a:avLst><a:gd name="adj" fmla="val 6000" /></a:avLst></a:prstGeom><a:solidFill><a:srgbClr val="2A3F6A" /></a:solidFill><a:ln><a:noFill /></a:ln></spPr><txBody><a:bodyPr /><a:lstStyle /><a:p /></txBody></sp><sp><nvSpPr><cNvPr id="0" name="TextBox" /><cNvSpPr txBox="1" /><nvPr /></nvSpPr><spPr><a:xfrm><a:off x="365760" y="1188720" /><a:ext cx="4114800" cy="3108960" /></a:xfrm><a:prstGeom prst="rect"><a:avLst /></a:prstGeom><a:noFill /></spPr><txBody><a:bodyPr wrap="square" rtlCol="0" /><a:lstStyle /><a:p><a:pPr algn="ctr"><a:buNone /></a:pPr><a:r><a:rPr lang="en-US" sz="1500" b="1"><a:solidFill><a:srgbClr val="F5A623" /></a:solidFill><a:latin typeface="Segoe UI" /><a:cs typeface="Segoe UI" /></a:rPr><a:t>🏆  Project Achievements</a:t></a:r></a:p><a:p><a:pPr algn="l"><a:buNone /></a:pPr><a:r><a:rPr lang="en-US" sz="500"><a:solidFill><a:srgbClr val="FFFFFF" /></a:solidFill><a:latin typeface="Segoe UI" /><a:cs typeface="Segoe UI" /></a:rPr><a:t /></a:r></a:p><a:p><a:pPr algn="l"><a:buNone /></a:pPr><a:r><a:rPr lang="en-US" sz="1150"><a:solidFill><a:srgbClr val="FFFFFF" /></a:solidFill><a:latin typeface="Segoe UI" /><a:cs typeface="Segoe UI" /></a:rPr><a:t>  ✅ Production-grade REST API</a:t></a:r></a:p><a:p><a:pPr algn="l"><a:buNone /></a:pPr><a:r><a:rPr lang="en-US" sz="1150"><a:solidFill><a:srgbClr val="FFFFFF" /></a:solidFill><a:latin typeface="Segoe UI" /><a:cs typeface="Segoe UI" /></a:rPr><a:t>  ✅ Real-time GPS + Live Chat</a:t></a:r></a:p><a:p><a:pPr algn="l"><a:buNone /></a:pPr><a:r><a:rPr lang="en-US" sz="1150"><a:solidFill><a:srgbClr val="FFFFFF" /></a:solidFill><a:latin typeface="Segoe UI" /><a:cs typeface="Segoe UI" /></a:rPr><a:t>  ✅ Crisis Prioritization Engine</a:t></a:r></a:p><a:p><a:pPr algn="l"><a:buNone /></a:pPr><a:r><a:rPr lang="en-US" sz="1150"><a:solidFill><a:srgbClr val="FFFFFF" /></a:solidFill><a:latin typeface="Segoe UI" /><a:cs typeface="Segoe UI" /></a:rPr><a:t>  ✅ Complete Order Lifecycle</a:t></a:r></a:p><a:p><a:pPr algn="l"><a:buNone /></a:pPr><a:r><a:rPr lang="en-US" sz="1150"><a:solidFill><a:srgbClr val="FFFFFF" /></a:solidFill><a:latin typeface="Segoe UI" /><a:cs typeface="Segoe UI" /></a:rPr><a:t>  ✅ Docker &amp; K8s Deployment</a:t></a:r></a:p><a:p><a:pPr algn="l"><a:buNone /></a:pPr><a:r><a:rPr lang="en-US" sz="1150"><a:solidFill><a:srgbClr val="FFFFFF" /></a:solidFill><a:latin typeface="Segoe UI" /><a:cs typeface="Segoe UI" /></a:rPr><a:t>  ✅ Comprehensive Security</a:t></a:r></a:p><a:p><a:pPr algn="l"><a:buNone /></a:pPr><a:r><a:rPr lang="en-US" sz="1150"><a:solidFill><a:srgbClr val="FFFFFF" /></a:solidFill><a:latin typeface="Segoe UI" /><a:cs typeface="Segoe UI" /></a:rPr><a:t>  ✅ WhatsApp Integration</a:t></a:r></a:p><a:p><a:pPr algn="l"><a:buNone /></a:pPr><a:r><a:rPr lang="en-US" sz="1150"><a:solidFill><a:srgbClr val="FFFFFF" /></a:solidFill><a:latin typeface="Segoe UI" /><a:cs typeface="Segoe UI" /></a:rPr><a:t>  ✅ Swagger API Documentation</a:t></a:r></a:p></txBody></sp><sp><nvSpPr><cNvPr id="0" name="Rectangle" /><cNvSpPr /><nvPr /></nvSpPr><spPr><a:xfrm><a:off x="4846320" y="1097280" /><a:ext cx="4114800" cy="3200400" /></a:xfrm><a:prstGeom prst="roundRect"><a:avLst><a:gd name="adj" fmla="val 6000" /></a:avLst></a:prstGeom><a:solidFill><a:srgbClr val="2A3F6A" /></a:solidFill><a:ln><a:noFill /></a:ln></spPr><txBody><a:bodyPr /><a:lstStyle /><a:p /></txBody></sp><sp><nvSpPr><cNvPr id="0" name="TextBox" /><cNvSpPr txBox="1" /><nvPr /></nvSpPr><spPr><a:xfrm><a:off x="4937760" y="1188720" /><a:ext cx="3931920" cy="3108960" /></a:xfrm><a:prstGeom prst="rect"><a:avLst /></a:prstGeom><a:noFill /></spPr><txBody><a:bodyPr wrap="square" rtlCol="0" /><a:lstStyle /><a:p><a:pPr algn="ctr"><a:buNone /></a:pPr><a:r><a:rPr lang="en-US" sz="1500" b="1"><a:solidFill><a:srgbClr val="F5A623" /></a:solidFill><a:latin typeface="Segoe UI" /><a:cs typeface="Segoe UI" /></a:rPr><a:t>🚀  Future Enhancements</a:t></a:r></a:p><a:p><a:pPr algn="l"><a:buNone /></a:pPr><a:r><a:rPr lang="en-US" sz="500"><a:solidFill><a:srgbClr val="FFFFFF" /></a:solidFill><a:latin typeface="Segoe UI" /><a:cs typeface="Segoe UI" /></a:rPr><a:t /></a:r></a:p><a:p><a:pPr algn="l"><a:buNone /></a:pPr><a:r><a:rPr lang="en-US" sz="1150"><a:solidFill><a:srgbClr val="FFFFFF" /></a:solidFill><a:latin typeface="Segoe UI" /><a:cs typeface="Segoe UI" /></a:rPr><a:t>  🤖  AI Demand Prediction</a:t></a:r></a:p><a:p><a:pPr algn="l"><a:buNone /></a:pPr><a:r><a:rPr lang="en-US" sz="950"><a:solidFill><a:srgbClr val="8899B3" /></a:solidFill><a:latin typeface="Segoe UI" /><a:cs typeface="Segoe UI" /></a:rPr><a:t>     ML-based consumption forecast</a:t></a:r></a:p><a:p><a:pPr algn="l"><a:buNone /></a:pPr><a:r><a:rPr lang="en-US" sz="1150"><a:solidFill><a:srgbClr val="FFFFFF" /></a:solidFill><a:latin typeface="Segoe UI" /><a:cs typeface="Segoe UI" /></a:rPr><a:t>  📱  Mobile App Integration</a:t></a:r></a:p><a:p><a:pPr algn="l"><a:buNone /></a:pPr><a:r><a:rPr lang="en-US" sz="950"><a:solidFill><a:srgbClr val="8899B3" /></a:solidFill><a:latin typeface="Segoe UI" /><a:cs typeface="Segoe UI" /></a:rPr><a:t>     React Native / Flutter app</a:t></a:r></a:p><a:p><a:pPr algn="l"><a:buNone /></a:pPr><a:r><a:rPr lang="en-US" sz="1150"><a:solidFill><a:srgbClr val="FFFFFF" /></a:solidFill><a:latin typeface="Segoe UI" /><a:cs typeface="Segoe UI" /></a:rPr><a:t>  💳  Online Payment Gateway</a:t></a:r></a:p><a:p><a:pPr algn="l"><a:buNone /></a:pPr><a:r><a:rPr lang="en-US" sz="950"><a:solidFill><a:srgbClr val="8899B3" /></a:solidFill><a:latin typeface="Segoe UI" /><a:cs typeface="Segoe UI" /></a:rPr><a:t>     Razorpay/Stripe integration</a:t></a:r></a:p><a:p><a:pPr algn="l"><a:buNone /></a:pPr><a:r><a:rPr lang="en-US" sz="1150"><a:solidFill><a:srgbClr val="FFFFFF" /></a:solidFill><a:latin typeface="Segoe UI" /><a:cs typeface="Segoe UI" /></a:rPr><a:t>  🗺  Smart Route Optimization</a:t></a:r></a:p><a:p><a:pPr algn="l"><a:buNone /></a:pPr><a:r><a:rPr lang="en-US" sz="950"><a:solidFill><a:srgbClr val="8899B3" /></a:solidFill><a:latin typeface="Segoe UI" /><a:cs typeface="Segoe UI" /></a:rPr><a:t>     Google Maps route planning</a:t></a:r></a:p></txBody></sp><sp><nvSpPr><cNvPr id="0" name="Rectangle" /><cNvSpPr /><nvPr /></nvSpPr><spPr><a:xfrm><a:off x="2286000" y="4572000" /><a:ext cx="4572000" cy="1371600" /></a:xfrm><a:prstGeom prst="roundRect"><a:avLst><a:gd name="adj" fmla="val 8000" /></a:avLst></a:prstGeom><a:solidFill><a:srgbClr val="E8792B" /></a:solidFill><a:ln><a:noFill /></a:ln></spPr><txBody><a:bodyPr /><a:lstStyle /><a:p /></txBody></sp><sp><nvSpPr><cNvPr id="0" name="TextBox" /><cNvSpPr txBox="1" /><nvPr /></nvSpPr><spPr><a:xfrm><a:off x="2377440" y="4663440" /><a:ext cx="4389120" cy="1280160" /></a:xfrm><a:prstGeom prst="rect"><a:avLst /></a:prstGeom><a:noFill /></spPr><txBody><a:bodyPr wrap="square" rtlCol="0" /><a:lstStyle /><a:p><a:pPr algn="ctr"><a:buNone /></a:pPr><a:r><a:rPr lang="en-US" sz="2400" b="1"><a:solidFill><a:srgbClr val="FFFFFF" /></a:solidFill><a:latin typeface="Segoe UI Semibold" /><a:cs typeface="Segoe UI Semibold" /></a:rPr><a:t>🙏  Thank You!</a:t></a:r></a:p><a:p><a:pPr algn="ctr"><a:buNone /></a:pPr><a:r><a:rPr lang="en-US" sz="1200"><a:solidFill><a:srgbClr val="FFF3E0" /></a:solidFill><a:latin typeface="Segoe UI" /><a:cs typeface="Segoe UI" /></a:rPr><a:t>Questions &amp; Feedback Welcome</a:t></a:r></a:p></txBody></sp><sp><nvSpPr><cNvPr id="0" name="TextBox" /><cNvSpPr txBox="1" /><nvPr /></nvSpPr><spPr><a:xfrm><a:off x="457200" y="6217920" /><a:ext cx="8229600" cy="457200" /></a:xfrm><a:prstGeom prst="rect"><a:avLst /></a:prstGeom><a:noFill /></spPr><txBody><a:bodyPr wrap="square" rtlCol="0" /><a:lstStyle /><a:p><a:pPr algn="ctr"><a:buNone /></a:pPr><a:r><a:rPr lang="en-US" sz="1000"><a:solidFill><a:srgbClr val="6B7B8F" /></a:solidFill><a:latin typeface="Segoe UI" /><a:cs typeface="Segoe UI" /></a:rPr><a:t>Team CylDist  |  Department of Computer Engineering  |  2025</a:t></a:r></a:p></txBody></sp><sp><nvSpPr><cNvPr id="0" name="Rectangle" /><cNvSpPr /><nvPr /></nvSpPr><spPr><a:xfrm><a:off x="0" y="6784848" /><a:ext cx="12192000" cy="73152" /></a:xfrm><a:prstGeom prst="rect"><a:avLst /></a:prstGeom><a:solidFill><a:srgbClr val="E8792B" /></a:solidFill><a:ln><a:noFill /></a:ln></spPr><txBody><a:bodyPr /><a:lstStyle /><a:p /></txBody></sp></spTree></cSld></sld>
</file>

<file path=ppt/theme/theme1.xml><?xml version="1.0" encoding="UTF-8" standalone="yes"?>
<a:theme xmlns:a="http://schemas.openxmlformats.org/drawingml/2006/main" xmlns:a="http://schemas.openxmlformats.org/drawingml/2006/main" name="CylDist Theme"><a:themeElements><a:clrScheme name="CylDist"><a:dk1><a:srgbClr val="1B2A4A" /></a:dk1><a:lt1><a:srgbClr val="FFFFFF" /></a:lt1><a:dk2><a:srgbClr val="2E4A7A" /></a:dk2><a:lt2><a:srgbClr val="F0F4F8" /></a:lt2><a:accent1><a:srgbClr val="4A90D9" /></a:accent1><a:accent2><a:srgbClr val="E8792B" /></a:accent2><a:accent3><a:srgbClr val="27AE60" /></a:accent3><a:accent4><a:srgbClr val="F5A623" /></a:accent4><a:accent5><a:srgbClr val="6A1B9A" /></a:accent5><a:accent6><a:srgbClr val="00ACC1" /></a:accent6><a:hlink><a:srgbClr val="4A90D9" /></a:hlink><a:folHlink><a:srgbClr val="6A1B9A" /></a:folHlink></a:clrScheme><a:fontScheme name="CylDist"><a:majorFont><a:latin typeface="Segoe UI Semibold" /><a:ea typeface="" /><a:cs typeface="" /></a:majorFont><a:minorFont><a:latin typeface="Segoe UI" /><a:ea typeface="" /><a:cs typeface="" /></a:minorFont></a:fontScheme><a:fmtScheme name="Office"><a:fillStyleLst><a:solidFill><a:srgbClr val="FFFFFF" /></a:solidFill><a:solidFill><a:srgbClr val="FFFFFF" /></a:solidFill><a:solidFill><a:srgbClr val="FFFFFF" /></a:solidFill></a:fillStyleLst><a:lnStyleLst><a:ln w="9525"><a:solidFill><a:srgbClr val="000000" /></a:solidFill></a:ln><a:ln w="9525"><a:solidFill><a:srgbClr val="000000" /></a:solidFill></a:ln><a:ln w="9525"><a:solidFill><a:srgbClr val="000000" /></a:solidFill></a:ln></a:lnStyleLst><a:effectStyleLst><a:effectStyle><a:effectLst /></a:effectStyle><a:effectStyle><a:effectLst /></a:effectStyle><a:effectStyle><a:effectLst /></a:effectStyle></a:effectStyleLst><a:bgFillStyleLst><a:solidFill><a:srgbClr val="FFFFFF" /></a:solidFill><a:solidFill><a:srgbClr val="FFFFFF" /></a:solidFill><a:solidFill><a:srgbClr val="FFFFFF" /></a:solidFill></a:bgFillStyleLst></a:fmtScheme></a:themeElements></a:theme>
</file>

<file path=docProps/app.xml><?xml version="1.0" encoding="utf-8"?>
<Properties xmlns="http://schemas.openxmlformats.org/officeDocument/2006/extended-properties">
  <Application>Microsoft Office PowerPoint</Application>
  <Slides>9</Slides>
  <Company>Team CylDist</Company>
</Properties>
</file>

<file path=docProps/core.xml><?xml version="1.0" encoding="UTF-8" standalone="yes"?>
<cp:coreProperties xmlns:dc="http://purl.org/dc/elements/1.1/" xmlns:cp="http://schemas.openxmlformats.org/package/2006/metadata/core-properties" xmlns:dc="http://purl.org/dc/elements/1.1/" xmlns:dcterms="http://purl.org/dc/terms/" xmlns:xsi="http://www.w3.org/2001/XMLSchema-instance"><dc:title>Cylinder Distribution Platform - Backend API</dc:title><dc:subject>College Engineering Project Presentation</dc:subject><dc:creator>Team CylDist</dc:creator><dc:description>Production-grade LPG cylinder distribution platform backend API presentation</dc:description></cp:coreProperties>
</file>